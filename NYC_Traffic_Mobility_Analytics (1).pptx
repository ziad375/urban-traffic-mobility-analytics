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afaa62-c4e3-d626-64e1-93542d53c800}">
          <p14:sldIdLst>
            <p14:sldId id="256"/>
            <p14:sldId id="257"/>
            <p14:sldId id="258"/>
          </p14:sldIdLst>
        </p14:section>
        <p14:section name="Architecture &amp; Technologies" id="{93df4034-06d6-7f92-ad0a-071a91bf0c5c}">
          <p14:sldIdLst>
            <p14:sldId id="259"/>
            <p14:sldId id="260"/>
            <p14:sldId id="261"/>
            <p14:sldId id="262"/>
          </p14:sldIdLst>
        </p14:section>
        <p14:section name="Pipeline Deep Dive" id="{301dfbd4-9480-148c-adb5-768140909ea9}">
          <p14:sldIdLst>
            <p14:sldId id="263"/>
            <p14:sldId id="264"/>
            <p14:sldId id="265"/>
            <p14:sldId id="266"/>
            <p14:sldId id="267"/>
          </p14:sldIdLst>
        </p14:section>
        <p14:section name="Dashboard &amp; Insights" id="{8ffa1ef8-e3cc-1674-8419-b70927537353}">
          <p14:sldIdLst>
            <p14:sldId id="268"/>
            <p14:sldId id="269"/>
            <p14:sldId id="270"/>
            <p14:sldId id="271"/>
          </p14:sldIdLst>
        </p14:section>
        <p14:section name="Wrap-up" id="{8c6d5cc8-a5bf-a449-d019-d64f4df8269c}">
          <p14:sldIdLst>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Trips (M)</c:v>
                </c:pt>
              </c:strCache>
            </c:strRef>
          </c:tx>
          <c:spPr>
            <a:solidFill>
              <a:srgbClr val="22D3EE"/>
            </a:solidFill>
            <a:effectLst/>
          </c:spPr>
          <c:invertIfNegative val="0"/>
          <c:dLbls>
            <c:numFmt formatCode="0.00&quot;M&quot;"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Sheet1!$A$2:$A$11</c:f>
              <c:multiLvlStrCache>
                <c:ptCount val="10"/>
                <c:lvl>
                  <c:pt idx="0">
                    <c:v>JFK Airport</c:v>
                  </c:pt>
                  <c:pt idx="1">
                    <c:v>Upper East Side South</c:v>
                  </c:pt>
                  <c:pt idx="2">
                    <c:v>Midtown Center</c:v>
                  </c:pt>
                  <c:pt idx="3">
                    <c:v>Upper East Side North</c:v>
                  </c:pt>
                  <c:pt idx="4">
                    <c:v>Midtown East</c:v>
                  </c:pt>
                  <c:pt idx="5">
                    <c:v>Penn Station/Madison Sq West</c:v>
                  </c:pt>
                  <c:pt idx="6">
                    <c:v>Times Sq/Theatre District</c:v>
                  </c:pt>
                  <c:pt idx="7">
                    <c:v>LaGuardia Airport</c:v>
                  </c:pt>
                  <c:pt idx="8">
                    <c:v>Lincoln Square East</c:v>
                  </c:pt>
                  <c:pt idx="9">
                    <c:v>Murray Hill</c:v>
                  </c:pt>
                </c:lvl>
              </c:multiLvlStrCache>
            </c:multiLvlStrRef>
          </c:cat>
          <c:val>
            <c:numRef>
              <c:f>Sheet1!$B$2:$B$11</c:f>
              <c:numCache>
                <c:formatCode>General</c:formatCode>
                <c:ptCount val="10"/>
                <c:pt idx="0">
                  <c:v>7.59</c:v>
                </c:pt>
                <c:pt idx="1">
                  <c:v>7.31</c:v>
                </c:pt>
                <c:pt idx="2">
                  <c:v>6.85</c:v>
                </c:pt>
                <c:pt idx="3">
                  <c:v>6.38</c:v>
                </c:pt>
                <c:pt idx="4">
                  <c:v>5.28</c:v>
                </c:pt>
                <c:pt idx="5">
                  <c:v>5.25</c:v>
                </c:pt>
                <c:pt idx="6">
                  <c:v>4.96</c:v>
                </c:pt>
                <c:pt idx="7">
                  <c:v>4.9</c:v>
                </c:pt>
                <c:pt idx="8">
                  <c:v>4.86</c:v>
                </c:pt>
                <c:pt idx="9">
                  <c:v>4.38</c:v>
                </c:pt>
              </c:numCache>
            </c:numRef>
          </c:val>
        </c:ser>
        <c:dLbls>
          <c:numFmt formatCode="0.00&quot;M&quot;"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max val="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NYC Traffic &amp; Mobility Analytics, our final project in the NTI – Huawei Egyptian Talents Academy Big Data Track, under Ahmed Saeed. It is an end-to-end Big Data pipeline: raw NYC taxi data goes through HDFS, Spark, ClickHouse and Superset, with Airflow orchestrating the ETL and Docker running everything. The panel on the right is the stack we will walk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we built an end-to-end Big Data analytics pipeline for NYC taxi trip data. Data is stored and processed in a distributed way using HDFS and Spark. The processed analytical data is loaded into ClickHouse and visualized through Apache Superset. The whole environment is containerized with Docker and the ETL workflow is orchestrated by Airflow.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this? Taxi trip data is very large, and single-machine tools struggle with it. Raw trips are not ready for analysis, zones appear only as numeric IDs, and manual repeated steps make results hard to reproduce. So our objectives were: distributed storage, distributed ETL, an automated and validated workflow, fast analytical queries, and an interactive dashboard with readable zone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as layers. At the bottom is HDFS for storage. Above it is Spark for processing. Then ClickHouse as the analytical database, and Superset at the top for visualization. Data flows upward through these layers. On the right, Airflow orchestrates the ETL as five dependent tasks, and underneath everything, Docker containerizes all services. The Streamlit app on top is our interactive ML trip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technology answers two questions: what does it do, and why did we use it. Docker containerizes the whole environment, which matters because we run many distributed services and need a reproducible setup. HDFS is our distributed storage: built for large datasets with fault tolerance. Spark does the ETL, and is faster and more flexible than single-machine processing while working natively with Parquet on HDFS. Airflow automates the workflow, controls dependencies and validates infrastructure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ClickHouse is our analytical database, optimized for OLAP workloads, so aggregation queries behind the dashboard are very fast. Superset is the open-source BI platform that gives us interactive charts and filters. Python, Pandas and SQL tie it together: Python for ETL and machine learning scripts, Pandas for inspection and preparation, and SQL for aggregations, validation and ClickHouse queries. Streamlit powers our interactive trip predictor app. Kafka appears only in our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flow. Raw NYC taxi data lands in HDFS. Spark reads it, runs the ETL, and writes processed Parquet. That processed data is kept in HDFS and loaded into ClickHouse, which is our analytical storage. Superset connects to ClickHouse for the dashboard. Airflow sits above the pipeline: its tasks check HDFS and Spark, run the ETL and validate the output, shown by the dashed green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is our distributed storage layer. We organize it into three paths: /data/nyc/raw for the source data, /data/nyc/staging for intermediate output, and /data/nyc/processed for the cleaned and aggregated data. HDFS gives us distributed storage, scalability, fault tolerance and storage designed for Big Data. The illustration on the right is a simplified, conceptual view: a NameNode holds metadata, and files are split into blocks replicated across DataNodes.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is the processing engine between the raw and processed data. The ETL has six steps: read raw Parquet from HDFS, clean the data, transform columns, prepare trip-level data, generate hourly zone-level aggregations, and write the processed data back to HDFS. The main scripts are etl_clean.py and etl_clean_staging.py. Spark was the right choice because it handles large datasets in a distributed way and works directly with Parquet and HDFS.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orchestrates the ETL as a DAG defined in airflow/dags/nyc_traffic_pipeline.py. Five tasks run in order: check_hdfs, check_spark and preflight_staging validate the infrastructure before processing; run_etl executes the Spark job; validate_staging checks the output afterwards. Orchestration matters because it gives us dependency management, automation, monitoring, validation and a reproducible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ClickHouse is the analytical layer. Our main table is default.zone_hour, which stores one row per pickup zone, date and hour, with trips, average fare, average distance, average duration in minutes, average speed in mph, and total revenue. We chose ClickHouse because it is optimized for OLAP workloads, so aggregation queries are very fast and it works well as the backend for every Superset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 zone IDs are hard to interpret in a dashboard. We used the taxi_zone_lookup.csv file to map each LocationID to a readable NYC zone name. For example, instead of showing Zone 132, the dashboard shows JFK Airport. This makes the charts self-explanatory and improves business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Superset dashboard, NYC Traffic Analytics, shown with the real screenshot. It has four KPI cards: about 147 million total trips, about 4.01 billion total revenue, an average speed of about 11.23 and an average trip duration of about 16.57. Four charts: daily trips trend, trips by hour, top 10 pickup zones by trips and top 10 zones by revenue. Filters for time range, pickup hour and pickup zone make it interactive. Important: these are the results of our processed dataset, not universal NYC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dashboard tell us? JFK Airport is the top pickup zone by trips, at 7.59 million, followed by Upper East Side South at 7.31 million. Airport zones also contribute significantly to revenue, with JFK Airport leading the revenue chart. Trip volume varies strongly by hour, with the lowest volume in the early morning and the highest in the evening. The dashboard lets us compare zones by both trips and revenue, and daily trips vary over time. The chart shows the labelled values from our dashboard; we do not claim anything beyond what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main pipeline, the repository contains additional analytics and machine learning scripts. sparkml_clustering.py supports clustering and mobility pattern analysis. train_xgboost.py, train_trip_models.py and train_trip_models_no_distance.py support trip prediction experiments. These are experiments that extend the project, and we are not claiming specific model accuracy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dashboard, we built an interactive web app with Streamlit: the NYC Taxi Trip Predictor. The user chooses a pickup zone, a drop-off zone, the trip distance, passenger count, and pickup date and time, then clicks Predict Trip. The app uses XGBoost models with two targets, estimated trip duration and estimated total amount, over 265 input locations. The screenshot shows one example prediction, for demonstration only; we are not claiming model accuracy, and the app itself states that predictions are estimates based on historical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simplified structure of the repository. The airflow folder holds the DAG and its Dockerfile. The service folders and docker-compose.yml define the Big Data environment. The etl scripts and the taxi zone lookup file make up the ETL and data side. The prepare, sparkml and train scripts hold our machine learning and analytics experiments, and app.py is the Streamlit trip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pipeline came with realistic technical challenges. Running many Big Data services together and managing the containers was solved with Docker and a single compose file. Connecting Spark to HDFS, orchestrating the ETL with Airflow, and handling large Parquet data were solved through configuration, a validated DAG and distributed processing. We prepared hourly aggregations, connected ClickHouse to Superset, mapped zone IDs to names with the lookup file, and built interactive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project results. We delivered an end-to-end Big Data pipeline: distributed storage in HDFS, distributed ETL in Spark, an automated Airflow workflow, analytical storage in ClickHouse and interactive visualization in Superset. We also mapped zone IDs to names, built an interactive dashboard, and added machine learning and analytics components. The numbers at the top are the current results of our processed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work, we see four directions. Real-time: streaming with Kafka and real-time dashboards. Machine learning: more advanced models and automated retraining. Data and visualization: geographic visualization on NYC maps and additional traffic and mobility datasets. And deployment: moving the platform to the cloud. None of these are part of the current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team: Farouk Sameh, Ziad Sherif, Mostafa Ahmed and Gaber Tahoon. We completed this project in the NTI – Huawei Egyptian Talents Academy Big Data Track, under the supervision of our instructor, Ahmed Saeed. We would like to thank him for his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summarize: we built an end-to-end Big Data pipeline with HDFS, Spark, Airflow, ClickHouse and Superset, running in Docker, and delivered an interactive dashboard for NYC taxi analytics.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64808"/>
            <a:ext cx="8229600" cy="256032"/>
          </a:xfrm>
          <a:prstGeom prst="rect">
            <a:avLst/>
          </a:prstGeom>
          <a:noFill/>
          <a:ln/>
        </p:spPr>
        <p:txBody>
          <a:bodyPr wrap="square" lIns="0" tIns="0" rIns="0" bIns="0" rtlCol="0" anchor="ctr"/>
          <a:lstStyle/>
          <a:p>
            <a:pPr indent="0" marL="0">
              <a:buNone/>
            </a:pPr>
            <a:r>
              <a:rPr lang="en-US" sz="1000" dirty="0">
                <a:solidFill>
                  <a:schemeClr val="bg2"/>
                </a:solidFill>
              </a:rPr>
              <a:t>NYC Traffic &amp; Mobility Analytics  ·  NTI – Huawei Egyptian Talents Academy</a:t>
            </a:r>
            <a:endParaRPr lang="en-US" sz="1000" dirty="0"/>
          </a:p>
        </p:txBody>
      </p:sp>
      <p:sp>
        <p:nvSpPr>
          <p:cNvPr id="3" name="Text 1"/>
          <p:cNvSpPr/>
          <p:nvPr>
            <p:ph idx="101" type="title" hasCustomPrompt="1"/>
          </p:nvPr>
        </p:nvSpPr>
        <p:spPr>
          <a:xfrm>
            <a:off x="548640" y="566928"/>
            <a:ext cx="11094415"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3.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548640" y="960120"/>
            <a:ext cx="7132320" cy="274320"/>
          </a:xfrm>
          <a:prstGeom prst="rect">
            <a:avLst/>
          </a:prstGeom>
          <a:noFill/>
          <a:ln/>
        </p:spPr>
        <p:txBody>
          <a:bodyPr wrap="square" lIns="0" tIns="0" rIns="0" bIns="0" rtlCol="0" anchor="t"/>
          <a:lstStyle/>
          <a:p>
            <a:pPr indent="0" marL="0">
              <a:buNone/>
            </a:pPr>
            <a:r>
              <a:rPr lang="en-US" sz="1400" b="1" spc="300" kern="0" dirty="0">
                <a:solidFill>
                  <a:schemeClr val="accent1"/>
                </a:solidFill>
              </a:rPr>
              <a:t>BIG DATA TRACK  ·  FINAL PROJECT</a:t>
            </a:r>
            <a:endParaRPr lang="en-US" sz="1400" dirty="0"/>
          </a:p>
        </p:txBody>
      </p:sp>
      <p:sp>
        <p:nvSpPr>
          <p:cNvPr id="3" name="Text 2"/>
          <p:cNvSpPr txBox="1"/>
          <p:nvPr/>
        </p:nvSpPr>
        <p:spPr>
          <a:xfrm>
            <a:off x="548640" y="1417320"/>
            <a:ext cx="7132320" cy="2103120"/>
          </a:xfrm>
          <a:prstGeom prst="rect">
            <a:avLst/>
          </a:prstGeom>
          <a:noFill/>
          <a:ln/>
        </p:spPr>
        <p:txBody>
          <a:bodyPr wrap="square" lIns="0" tIns="0" rIns="0" bIns="0" rtlCol="0" anchor="t"/>
          <a:lstStyle/>
          <a:p>
            <a:pPr indent="0" marL="0">
              <a:buNone/>
            </a:pPr>
            <a:r>
              <a:rPr lang="en-US" sz="4800" b="1" dirty="0">
                <a:solidFill>
                  <a:schemeClr val="bg1"/>
                </a:solidFill>
              </a:rPr>
              <a:t>NYC Traffic &amp; Mobility Analytics</a:t>
            </a:r>
            <a:endParaRPr lang="en-US" sz="4800" dirty="0"/>
          </a:p>
        </p:txBody>
      </p:sp>
      <p:sp>
        <p:nvSpPr>
          <p:cNvPr id="4" name="Text 3"/>
          <p:cNvSpPr txBox="1"/>
          <p:nvPr/>
        </p:nvSpPr>
        <p:spPr>
          <a:xfrm>
            <a:off x="548640" y="3657600"/>
            <a:ext cx="6766560" cy="822960"/>
          </a:xfrm>
          <a:prstGeom prst="rect">
            <a:avLst/>
          </a:prstGeom>
          <a:noFill/>
          <a:ln/>
        </p:spPr>
        <p:txBody>
          <a:bodyPr wrap="square" lIns="0" tIns="0" rIns="0" bIns="0" rtlCol="0" anchor="t"/>
          <a:lstStyle/>
          <a:p>
            <a:pPr indent="0" marL="0">
              <a:buNone/>
            </a:pPr>
            <a:r>
              <a:rPr lang="en-US" sz="1800" dirty="0">
                <a:solidFill>
                  <a:schemeClr val="bg2"/>
                </a:solidFill>
              </a:rPr>
              <a:t>An end-to-end Big Data pipeline for NYC taxi trips: HDFS · Spark · Airflow · ClickHouse · Superset</a:t>
            </a:r>
            <a:endParaRPr lang="en-US" sz="1800" dirty="0"/>
          </a:p>
        </p:txBody>
      </p:sp>
      <p:sp>
        <p:nvSpPr>
          <p:cNvPr id="5" name="Text 4"/>
          <p:cNvSpPr txBox="1"/>
          <p:nvPr/>
        </p:nvSpPr>
        <p:spPr>
          <a:xfrm>
            <a:off x="548640" y="4892040"/>
            <a:ext cx="7132320" cy="365760"/>
          </a:xfrm>
          <a:prstGeom prst="rect">
            <a:avLst/>
          </a:prstGeom>
          <a:noFill/>
          <a:ln/>
        </p:spPr>
        <p:txBody>
          <a:bodyPr wrap="square" lIns="0" tIns="0" rIns="0" bIns="0" rtlCol="0" anchor="t"/>
          <a:lstStyle/>
          <a:p>
            <a:pPr indent="0" marL="0">
              <a:buNone/>
            </a:pPr>
            <a:r>
              <a:rPr lang="en-US" sz="2000" b="1" dirty="0">
                <a:solidFill>
                  <a:schemeClr val="bg1"/>
                </a:solidFill>
              </a:rPr>
              <a:t>NTI – Huawei Egyptian Talents Academy</a:t>
            </a:r>
            <a:endParaRPr lang="en-US" sz="2000" dirty="0"/>
          </a:p>
        </p:txBody>
      </p:sp>
      <p:sp>
        <p:nvSpPr>
          <p:cNvPr id="6" name="Text 5"/>
          <p:cNvSpPr txBox="1"/>
          <p:nvPr/>
        </p:nvSpPr>
        <p:spPr>
          <a:xfrm>
            <a:off x="548640" y="5285232"/>
            <a:ext cx="7132320" cy="320040"/>
          </a:xfrm>
          <a:prstGeom prst="rect">
            <a:avLst/>
          </a:prstGeom>
          <a:noFill/>
          <a:ln/>
        </p:spPr>
        <p:txBody>
          <a:bodyPr wrap="square" lIns="0" tIns="0" rIns="0" bIns="0" rtlCol="0" anchor="t"/>
          <a:lstStyle/>
          <a:p>
            <a:pPr indent="0" marL="0">
              <a:buNone/>
            </a:pPr>
            <a:r>
              <a:rPr lang="en-US" sz="1600" dirty="0">
                <a:solidFill>
                  <a:schemeClr val="accent1"/>
                </a:solidFill>
              </a:rPr>
              <a:t>Big Data Track</a:t>
            </a:r>
            <a:endParaRPr lang="en-US" sz="1600" dirty="0"/>
          </a:p>
        </p:txBody>
      </p:sp>
      <p:sp>
        <p:nvSpPr>
          <p:cNvPr id="7" name="Text 6"/>
          <p:cNvSpPr txBox="1"/>
          <p:nvPr/>
        </p:nvSpPr>
        <p:spPr>
          <a:xfrm>
            <a:off x="548640" y="5760720"/>
            <a:ext cx="7132320" cy="274320"/>
          </a:xfrm>
          <a:prstGeom prst="rect">
            <a:avLst/>
          </a:prstGeom>
          <a:noFill/>
          <a:ln/>
        </p:spPr>
        <p:txBody>
          <a:bodyPr wrap="square" lIns="0" tIns="0" rIns="0" bIns="0" rtlCol="0" anchor="t"/>
          <a:lstStyle/>
          <a:p>
            <a:pPr indent="0" marL="0">
              <a:buNone/>
            </a:pPr>
            <a:r>
              <a:rPr lang="en-US" sz="1400" dirty="0">
                <a:solidFill>
                  <a:schemeClr val="bg1"/>
                </a:solidFill>
              </a:rPr>
              <a:t>Farouk Sameh  ·  Ziad Sherif  ·  Mostafa Ahmed  ·  Gaber Tahoon</a:t>
            </a:r>
            <a:endParaRPr lang="en-US" sz="1400" dirty="0"/>
          </a:p>
        </p:txBody>
      </p:sp>
      <p:sp>
        <p:nvSpPr>
          <p:cNvPr id="8" name="Text 7"/>
          <p:cNvSpPr txBox="1"/>
          <p:nvPr/>
        </p:nvSpPr>
        <p:spPr>
          <a:xfrm>
            <a:off x="548640" y="6053328"/>
            <a:ext cx="7132320" cy="274320"/>
          </a:xfrm>
          <a:prstGeom prst="rect">
            <a:avLst/>
          </a:prstGeom>
          <a:noFill/>
          <a:ln/>
        </p:spPr>
        <p:txBody>
          <a:bodyPr wrap="square" lIns="0" tIns="0" rIns="0" bIns="0" rtlCol="0" anchor="t"/>
          <a:lstStyle/>
          <a:p>
            <a:pPr indent="0" marL="0">
              <a:buNone/>
            </a:pPr>
            <a:r>
              <a:rPr lang="en-US" sz="1400" dirty="0">
                <a:solidFill>
                  <a:schemeClr val="bg2"/>
                </a:solidFill>
              </a:rPr>
              <a:t>Instructor: Ahmed Saeed</a:t>
            </a:r>
            <a:endParaRPr lang="en-US" sz="1400" dirty="0"/>
          </a:p>
        </p:txBody>
      </p:sp>
      <p:sp>
        <p:nvSpPr>
          <p:cNvPr id="9" name="Card 8"/>
          <p:cNvSpPr/>
          <p:nvPr/>
        </p:nvSpPr>
        <p:spPr>
          <a:xfrm>
            <a:off x="7955280" y="731520"/>
            <a:ext cx="3685032" cy="5394960"/>
          </a:xfrm>
          <a:prstGeom prst="roundRect">
            <a:avLst>
              <a:gd name="adj" fmla="val 2978"/>
            </a:avLst>
          </a:prstGeom>
          <a:solidFill>
            <a:schemeClr val="tx2"/>
          </a:solidFill>
          <a:ln w="9525">
            <a:solidFill>
              <a:schemeClr val="accent2">
                <a:alpha val="45000"/>
              </a:schemeClr>
            </a:solidFill>
            <a:prstDash val="solid"/>
          </a:ln>
        </p:spPr>
      </p:sp>
      <p:sp>
        <p:nvSpPr>
          <p:cNvPr id="10" name="Text 9"/>
          <p:cNvSpPr txBox="1"/>
          <p:nvPr/>
        </p:nvSpPr>
        <p:spPr>
          <a:xfrm>
            <a:off x="8275320" y="100584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STACK</a:t>
            </a:r>
            <a:endParaRPr lang="en-US" sz="1200" dirty="0"/>
          </a:p>
        </p:txBody>
      </p:sp>
      <p:sp>
        <p:nvSpPr>
          <p:cNvPr id="11" name="Icon circle 10"/>
          <p:cNvSpPr/>
          <p:nvPr/>
        </p:nvSpPr>
        <p:spPr>
          <a:xfrm>
            <a:off x="8275320" y="1463040"/>
            <a:ext cx="658368" cy="658368"/>
          </a:xfrm>
          <a:prstGeom prst="ellipse">
            <a:avLst/>
          </a:prstGeom>
          <a:solidFill>
            <a:schemeClr val="accent2">
              <a:alpha val="28000"/>
            </a:schemeClr>
          </a:solidFill>
          <a:ln w="9525">
            <a:solidFill>
              <a:schemeClr val="accent1">
                <a:alpha val="55000"/>
              </a:schemeClr>
            </a:solidFill>
            <a:prstDash val="solid"/>
          </a:ln>
        </p:spPr>
      </p:sp>
      <p:pic>
        <p:nvPicPr>
          <p:cNvPr id="12" name="Icon 11" descr="Hadoop HDFS logo">    </p:cNvPr>
          <p:cNvPicPr>
            <a:picLocks noChangeAspect="1"/>
          </p:cNvPicPr>
          <p:nvPr/>
        </p:nvPicPr>
        <p:blipFill>
          <a:blip r:embed="rId1"/>
          <a:stretch>
            <a:fillRect/>
          </a:stretch>
        </p:blipFill>
        <p:spPr>
          <a:xfrm>
            <a:off x="8439912" y="1627632"/>
            <a:ext cx="329184" cy="329184"/>
          </a:xfrm>
          <a:prstGeom prst="rect">
            <a:avLst/>
          </a:prstGeom>
        </p:spPr>
      </p:pic>
      <p:sp>
        <p:nvSpPr>
          <p:cNvPr id="13" name="Text 12"/>
          <p:cNvSpPr txBox="1"/>
          <p:nvPr/>
        </p:nvSpPr>
        <p:spPr>
          <a:xfrm>
            <a:off x="9098280" y="1499616"/>
            <a:ext cx="2377440" cy="320040"/>
          </a:xfrm>
          <a:prstGeom prst="rect">
            <a:avLst/>
          </a:prstGeom>
          <a:noFill/>
          <a:ln/>
        </p:spPr>
        <p:txBody>
          <a:bodyPr wrap="square" lIns="0" tIns="0" rIns="0" bIns="0" rtlCol="0" anchor="t"/>
          <a:lstStyle/>
          <a:p>
            <a:pPr indent="0" marL="0">
              <a:buNone/>
            </a:pPr>
            <a:r>
              <a:rPr lang="en-US" sz="1800" b="1" dirty="0">
                <a:solidFill>
                  <a:schemeClr val="bg1"/>
                </a:solidFill>
              </a:rPr>
              <a:t>Hadoop HDFS</a:t>
            </a:r>
            <a:endParaRPr lang="en-US" sz="1800" dirty="0"/>
          </a:p>
        </p:txBody>
      </p:sp>
      <p:sp>
        <p:nvSpPr>
          <p:cNvPr id="14" name="Text 13"/>
          <p:cNvSpPr txBox="1"/>
          <p:nvPr/>
        </p:nvSpPr>
        <p:spPr>
          <a:xfrm>
            <a:off x="9098280" y="1810512"/>
            <a:ext cx="2377440" cy="274320"/>
          </a:xfrm>
          <a:prstGeom prst="rect">
            <a:avLst/>
          </a:prstGeom>
          <a:noFill/>
          <a:ln/>
        </p:spPr>
        <p:txBody>
          <a:bodyPr wrap="square" lIns="0" tIns="0" rIns="0" bIns="0" rtlCol="0" anchor="t"/>
          <a:lstStyle/>
          <a:p>
            <a:pPr indent="0" marL="0">
              <a:buNone/>
            </a:pPr>
            <a:r>
              <a:rPr lang="en-US" sz="1400" dirty="0">
                <a:solidFill>
                  <a:schemeClr val="bg2"/>
                </a:solidFill>
              </a:rPr>
              <a:t>Distributed storage</a:t>
            </a:r>
            <a:endParaRPr lang="en-US" sz="1400" dirty="0"/>
          </a:p>
        </p:txBody>
      </p:sp>
      <p:sp>
        <p:nvSpPr>
          <p:cNvPr id="15" name="Icon circle 14"/>
          <p:cNvSpPr/>
          <p:nvPr/>
        </p:nvSpPr>
        <p:spPr>
          <a:xfrm>
            <a:off x="8275320" y="2359152"/>
            <a:ext cx="658368" cy="658368"/>
          </a:xfrm>
          <a:prstGeom prst="ellipse">
            <a:avLst/>
          </a:prstGeom>
          <a:solidFill>
            <a:schemeClr val="accent2">
              <a:alpha val="28000"/>
            </a:schemeClr>
          </a:solidFill>
          <a:ln w="9525">
            <a:solidFill>
              <a:schemeClr val="accent1">
                <a:alpha val="55000"/>
              </a:schemeClr>
            </a:solidFill>
            <a:prstDash val="solid"/>
          </a:ln>
        </p:spPr>
      </p:sp>
      <p:pic>
        <p:nvPicPr>
          <p:cNvPr id="16" name="Icon 15" descr="Apache Spark logo">    </p:cNvPr>
          <p:cNvPicPr>
            <a:picLocks noChangeAspect="1"/>
          </p:cNvPicPr>
          <p:nvPr/>
        </p:nvPicPr>
        <p:blipFill>
          <a:blip r:embed="rId2"/>
          <a:stretch>
            <a:fillRect/>
          </a:stretch>
        </p:blipFill>
        <p:spPr>
          <a:xfrm>
            <a:off x="8439912" y="2523744"/>
            <a:ext cx="329184" cy="329184"/>
          </a:xfrm>
          <a:prstGeom prst="rect">
            <a:avLst/>
          </a:prstGeom>
        </p:spPr>
      </p:pic>
      <p:sp>
        <p:nvSpPr>
          <p:cNvPr id="17" name="Text 16"/>
          <p:cNvSpPr txBox="1"/>
          <p:nvPr/>
        </p:nvSpPr>
        <p:spPr>
          <a:xfrm>
            <a:off x="9098280" y="2395728"/>
            <a:ext cx="2377440" cy="320040"/>
          </a:xfrm>
          <a:prstGeom prst="rect">
            <a:avLst/>
          </a:prstGeom>
          <a:noFill/>
          <a:ln/>
        </p:spPr>
        <p:txBody>
          <a:bodyPr wrap="square" lIns="0" tIns="0" rIns="0" bIns="0" rtlCol="0" anchor="t"/>
          <a:lstStyle/>
          <a:p>
            <a:pPr indent="0" marL="0">
              <a:buNone/>
            </a:pPr>
            <a:r>
              <a:rPr lang="en-US" sz="1800" b="1" dirty="0">
                <a:solidFill>
                  <a:schemeClr val="bg1"/>
                </a:solidFill>
              </a:rPr>
              <a:t>Apache Spark</a:t>
            </a:r>
            <a:endParaRPr lang="en-US" sz="1800" dirty="0"/>
          </a:p>
        </p:txBody>
      </p:sp>
      <p:sp>
        <p:nvSpPr>
          <p:cNvPr id="18" name="Text 17"/>
          <p:cNvSpPr txBox="1"/>
          <p:nvPr/>
        </p:nvSpPr>
        <p:spPr>
          <a:xfrm>
            <a:off x="9098280" y="2706624"/>
            <a:ext cx="2377440" cy="274320"/>
          </a:xfrm>
          <a:prstGeom prst="rect">
            <a:avLst/>
          </a:prstGeom>
          <a:noFill/>
          <a:ln/>
        </p:spPr>
        <p:txBody>
          <a:bodyPr wrap="square" lIns="0" tIns="0" rIns="0" bIns="0" rtlCol="0" anchor="t"/>
          <a:lstStyle/>
          <a:p>
            <a:pPr indent="0" marL="0">
              <a:buNone/>
            </a:pPr>
            <a:r>
              <a:rPr lang="en-US" sz="1400" dirty="0">
                <a:solidFill>
                  <a:schemeClr val="bg2"/>
                </a:solidFill>
              </a:rPr>
              <a:t>Distributed ETL</a:t>
            </a:r>
            <a:endParaRPr lang="en-US" sz="1400" dirty="0"/>
          </a:p>
        </p:txBody>
      </p:sp>
      <p:sp>
        <p:nvSpPr>
          <p:cNvPr id="19" name="Icon circle 18"/>
          <p:cNvSpPr/>
          <p:nvPr/>
        </p:nvSpPr>
        <p:spPr>
          <a:xfrm>
            <a:off x="8275320" y="3255264"/>
            <a:ext cx="658368" cy="658368"/>
          </a:xfrm>
          <a:prstGeom prst="ellipse">
            <a:avLst/>
          </a:prstGeom>
          <a:solidFill>
            <a:schemeClr val="accent2">
              <a:alpha val="28000"/>
            </a:schemeClr>
          </a:solidFill>
          <a:ln w="9525">
            <a:solidFill>
              <a:schemeClr val="accent1">
                <a:alpha val="55000"/>
              </a:schemeClr>
            </a:solidFill>
            <a:prstDash val="solid"/>
          </a:ln>
        </p:spPr>
      </p:sp>
      <p:pic>
        <p:nvPicPr>
          <p:cNvPr id="20" name="Icon 19" descr="Apache Airflow logo">    </p:cNvPr>
          <p:cNvPicPr>
            <a:picLocks noChangeAspect="1"/>
          </p:cNvPicPr>
          <p:nvPr/>
        </p:nvPicPr>
        <p:blipFill>
          <a:blip r:embed="rId3"/>
          <a:stretch>
            <a:fillRect/>
          </a:stretch>
        </p:blipFill>
        <p:spPr>
          <a:xfrm>
            <a:off x="8439912" y="3419856"/>
            <a:ext cx="329184" cy="329184"/>
          </a:xfrm>
          <a:prstGeom prst="rect">
            <a:avLst/>
          </a:prstGeom>
        </p:spPr>
      </p:pic>
      <p:sp>
        <p:nvSpPr>
          <p:cNvPr id="21" name="Text 20"/>
          <p:cNvSpPr txBox="1"/>
          <p:nvPr/>
        </p:nvSpPr>
        <p:spPr>
          <a:xfrm>
            <a:off x="9098280" y="3291840"/>
            <a:ext cx="2377440" cy="320040"/>
          </a:xfrm>
          <a:prstGeom prst="rect">
            <a:avLst/>
          </a:prstGeom>
          <a:noFill/>
          <a:ln/>
        </p:spPr>
        <p:txBody>
          <a:bodyPr wrap="square" lIns="0" tIns="0" rIns="0" bIns="0" rtlCol="0" anchor="t"/>
          <a:lstStyle/>
          <a:p>
            <a:pPr indent="0" marL="0">
              <a:buNone/>
            </a:pPr>
            <a:r>
              <a:rPr lang="en-US" sz="1800" b="1" dirty="0">
                <a:solidFill>
                  <a:schemeClr val="bg1"/>
                </a:solidFill>
              </a:rPr>
              <a:t>Apache Airflow</a:t>
            </a:r>
            <a:endParaRPr lang="en-US" sz="1800" dirty="0"/>
          </a:p>
        </p:txBody>
      </p:sp>
      <p:sp>
        <p:nvSpPr>
          <p:cNvPr id="22" name="Text 21"/>
          <p:cNvSpPr txBox="1"/>
          <p:nvPr/>
        </p:nvSpPr>
        <p:spPr>
          <a:xfrm>
            <a:off x="9098280" y="3602736"/>
            <a:ext cx="2377440" cy="274320"/>
          </a:xfrm>
          <a:prstGeom prst="rect">
            <a:avLst/>
          </a:prstGeom>
          <a:noFill/>
          <a:ln/>
        </p:spPr>
        <p:txBody>
          <a:bodyPr wrap="square" lIns="0" tIns="0" rIns="0" bIns="0" rtlCol="0" anchor="t"/>
          <a:lstStyle/>
          <a:p>
            <a:pPr indent="0" marL="0">
              <a:buNone/>
            </a:pPr>
            <a:r>
              <a:rPr lang="en-US" sz="1400" dirty="0">
                <a:solidFill>
                  <a:schemeClr val="bg2"/>
                </a:solidFill>
              </a:rPr>
              <a:t>Orchestration</a:t>
            </a:r>
            <a:endParaRPr lang="en-US" sz="1400" dirty="0"/>
          </a:p>
        </p:txBody>
      </p:sp>
      <p:sp>
        <p:nvSpPr>
          <p:cNvPr id="23" name="Icon circle 22"/>
          <p:cNvSpPr/>
          <p:nvPr/>
        </p:nvSpPr>
        <p:spPr>
          <a:xfrm>
            <a:off x="8275320" y="4151376"/>
            <a:ext cx="658368" cy="658368"/>
          </a:xfrm>
          <a:prstGeom prst="ellipse">
            <a:avLst/>
          </a:prstGeom>
          <a:solidFill>
            <a:schemeClr val="accent2">
              <a:alpha val="28000"/>
            </a:schemeClr>
          </a:solidFill>
          <a:ln w="9525">
            <a:solidFill>
              <a:schemeClr val="accent1">
                <a:alpha val="55000"/>
              </a:schemeClr>
            </a:solidFill>
            <a:prstDash val="solid"/>
          </a:ln>
        </p:spPr>
      </p:sp>
      <p:pic>
        <p:nvPicPr>
          <p:cNvPr id="24" name="Icon 23" descr="ClickHouse logo">    </p:cNvPr>
          <p:cNvPicPr>
            <a:picLocks noChangeAspect="1"/>
          </p:cNvPicPr>
          <p:nvPr/>
        </p:nvPicPr>
        <p:blipFill>
          <a:blip r:embed="rId4"/>
          <a:stretch>
            <a:fillRect/>
          </a:stretch>
        </p:blipFill>
        <p:spPr>
          <a:xfrm>
            <a:off x="8439912" y="4315968"/>
            <a:ext cx="329184" cy="329184"/>
          </a:xfrm>
          <a:prstGeom prst="rect">
            <a:avLst/>
          </a:prstGeom>
        </p:spPr>
      </p:pic>
      <p:sp>
        <p:nvSpPr>
          <p:cNvPr id="25" name="Text 24"/>
          <p:cNvSpPr txBox="1"/>
          <p:nvPr/>
        </p:nvSpPr>
        <p:spPr>
          <a:xfrm>
            <a:off x="9098280" y="4187952"/>
            <a:ext cx="2377440" cy="320040"/>
          </a:xfrm>
          <a:prstGeom prst="rect">
            <a:avLst/>
          </a:prstGeom>
          <a:noFill/>
          <a:ln/>
        </p:spPr>
        <p:txBody>
          <a:bodyPr wrap="square" lIns="0" tIns="0" rIns="0" bIns="0" rtlCol="0" anchor="t"/>
          <a:lstStyle/>
          <a:p>
            <a:pPr indent="0" marL="0">
              <a:buNone/>
            </a:pPr>
            <a:r>
              <a:rPr lang="en-US" sz="1800" b="1" dirty="0">
                <a:solidFill>
                  <a:schemeClr val="bg1"/>
                </a:solidFill>
              </a:rPr>
              <a:t>ClickHouse</a:t>
            </a:r>
            <a:endParaRPr lang="en-US" sz="1800" dirty="0"/>
          </a:p>
        </p:txBody>
      </p:sp>
      <p:sp>
        <p:nvSpPr>
          <p:cNvPr id="26" name="Text 25"/>
          <p:cNvSpPr txBox="1"/>
          <p:nvPr/>
        </p:nvSpPr>
        <p:spPr>
          <a:xfrm>
            <a:off x="9098280" y="4498848"/>
            <a:ext cx="2377440" cy="274320"/>
          </a:xfrm>
          <a:prstGeom prst="rect">
            <a:avLst/>
          </a:prstGeom>
          <a:noFill/>
          <a:ln/>
        </p:spPr>
        <p:txBody>
          <a:bodyPr wrap="square" lIns="0" tIns="0" rIns="0" bIns="0" rtlCol="0" anchor="t"/>
          <a:lstStyle/>
          <a:p>
            <a:pPr indent="0" marL="0">
              <a:buNone/>
            </a:pPr>
            <a:r>
              <a:rPr lang="en-US" sz="1400" dirty="0">
                <a:solidFill>
                  <a:schemeClr val="bg2"/>
                </a:solidFill>
              </a:rPr>
              <a:t>Analytical database</a:t>
            </a:r>
            <a:endParaRPr lang="en-US" sz="1400" dirty="0"/>
          </a:p>
        </p:txBody>
      </p:sp>
      <p:sp>
        <p:nvSpPr>
          <p:cNvPr id="27" name="Icon circle 26"/>
          <p:cNvSpPr/>
          <p:nvPr/>
        </p:nvSpPr>
        <p:spPr>
          <a:xfrm>
            <a:off x="8275320" y="5047488"/>
            <a:ext cx="658368" cy="658368"/>
          </a:xfrm>
          <a:prstGeom prst="ellipse">
            <a:avLst/>
          </a:prstGeom>
          <a:solidFill>
            <a:schemeClr val="accent2">
              <a:alpha val="28000"/>
            </a:schemeClr>
          </a:solidFill>
          <a:ln w="9525">
            <a:solidFill>
              <a:schemeClr val="accent1">
                <a:alpha val="55000"/>
              </a:schemeClr>
            </a:solidFill>
            <a:prstDash val="solid"/>
          </a:ln>
        </p:spPr>
      </p:sp>
      <p:pic>
        <p:nvPicPr>
          <p:cNvPr id="28" name="Icon 27" descr="Apache Superset logo">    </p:cNvPr>
          <p:cNvPicPr>
            <a:picLocks noChangeAspect="1"/>
          </p:cNvPicPr>
          <p:nvPr/>
        </p:nvPicPr>
        <p:blipFill>
          <a:blip r:embed="rId5"/>
          <a:stretch>
            <a:fillRect/>
          </a:stretch>
        </p:blipFill>
        <p:spPr>
          <a:xfrm>
            <a:off x="8439912" y="5212080"/>
            <a:ext cx="329184" cy="329184"/>
          </a:xfrm>
          <a:prstGeom prst="rect">
            <a:avLst/>
          </a:prstGeom>
        </p:spPr>
      </p:pic>
      <p:sp>
        <p:nvSpPr>
          <p:cNvPr id="29" name="Text 28"/>
          <p:cNvSpPr txBox="1"/>
          <p:nvPr/>
        </p:nvSpPr>
        <p:spPr>
          <a:xfrm>
            <a:off x="9098280" y="5084064"/>
            <a:ext cx="2377440" cy="320040"/>
          </a:xfrm>
          <a:prstGeom prst="rect">
            <a:avLst/>
          </a:prstGeom>
          <a:noFill/>
          <a:ln/>
        </p:spPr>
        <p:txBody>
          <a:bodyPr wrap="square" lIns="0" tIns="0" rIns="0" bIns="0" rtlCol="0" anchor="t"/>
          <a:lstStyle/>
          <a:p>
            <a:pPr indent="0" marL="0">
              <a:buNone/>
            </a:pPr>
            <a:r>
              <a:rPr lang="en-US" sz="1800" b="1" dirty="0">
                <a:solidFill>
                  <a:schemeClr val="bg1"/>
                </a:solidFill>
              </a:rPr>
              <a:t>Apache Superset</a:t>
            </a:r>
            <a:endParaRPr lang="en-US" sz="1800" dirty="0"/>
          </a:p>
        </p:txBody>
      </p:sp>
      <p:sp>
        <p:nvSpPr>
          <p:cNvPr id="30" name="Text 29"/>
          <p:cNvSpPr txBox="1"/>
          <p:nvPr/>
        </p:nvSpPr>
        <p:spPr>
          <a:xfrm>
            <a:off x="9098280" y="5394960"/>
            <a:ext cx="2377440" cy="274320"/>
          </a:xfrm>
          <a:prstGeom prst="rect">
            <a:avLst/>
          </a:prstGeom>
          <a:noFill/>
          <a:ln/>
        </p:spPr>
        <p:txBody>
          <a:bodyPr wrap="square" lIns="0" tIns="0" rIns="0" bIns="0" rtlCol="0" anchor="t"/>
          <a:lstStyle/>
          <a:p>
            <a:pPr indent="0" marL="0">
              <a:buNone/>
            </a:pPr>
            <a:r>
              <a:rPr lang="en-US" sz="1400" dirty="0">
                <a:solidFill>
                  <a:schemeClr val="bg2"/>
                </a:solidFill>
              </a:rPr>
              <a:t>Dashboard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PROJECT</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Project Overview</a:t>
            </a:r>
            <a:endParaRPr lang="en-US" sz="3600" dirty="0"/>
          </a:p>
        </p:txBody>
      </p:sp>
      <p:sp>
        <p:nvSpPr>
          <p:cNvPr id="4" name="Text 31"/>
          <p:cNvSpPr txBox="1"/>
          <p:nvPr/>
        </p:nvSpPr>
        <p:spPr>
          <a:xfrm>
            <a:off x="548640" y="1600200"/>
            <a:ext cx="4937760" cy="1371600"/>
          </a:xfrm>
          <a:prstGeom prst="rect">
            <a:avLst/>
          </a:prstGeom>
          <a:noFill/>
          <a:ln/>
        </p:spPr>
        <p:txBody>
          <a:bodyPr wrap="square" lIns="0" tIns="0" rIns="0" bIns="0" rtlCol="0" anchor="t"/>
          <a:lstStyle/>
          <a:p>
            <a:pPr indent="0" marL="0">
              <a:buNone/>
            </a:pPr>
            <a:r>
              <a:rPr lang="en-US" sz="2400" b="1" dirty="0">
                <a:solidFill>
                  <a:schemeClr val="bg1"/>
                </a:solidFill>
              </a:rPr>
              <a:t>An end-to-end Big Data analytics pipeline for NYC taxi trip data.</a:t>
            </a:r>
            <a:endParaRPr lang="en-US" sz="2400" dirty="0"/>
          </a:p>
        </p:txBody>
      </p:sp>
      <p:sp>
        <p:nvSpPr>
          <p:cNvPr id="5" name="Text 32"/>
          <p:cNvSpPr txBox="1"/>
          <p:nvPr/>
        </p:nvSpPr>
        <p:spPr>
          <a:xfrm>
            <a:off x="548640" y="3063240"/>
            <a:ext cx="4937760" cy="2103120"/>
          </a:xfrm>
          <a:prstGeom prst="rect">
            <a:avLst/>
          </a:prstGeom>
          <a:noFill/>
          <a:ln/>
        </p:spPr>
        <p:txBody>
          <a:bodyPr wrap="square" lIns="0" tIns="0" rIns="0" bIns="0" rtlCol="0" anchor="t"/>
          <a:lstStyle/>
          <a:p>
            <a:pPr indent="0" marL="0">
              <a:buNone/>
            </a:pPr>
            <a:r>
              <a:rPr lang="en-US" sz="1600" dirty="0">
                <a:solidFill>
                  <a:schemeClr val="bg2"/>
                </a:solidFill>
              </a:rPr>
              <a:t>The system processes large-scale trip data with distributed storage and distributed processing, stores the processed analytical data in ClickHouse, and visualizes the results through Apache Superset.</a:t>
            </a:r>
            <a:endParaRPr lang="en-US" sz="1600" dirty="0"/>
          </a:p>
        </p:txBody>
      </p:sp>
      <p:sp>
        <p:nvSpPr>
          <p:cNvPr id="6" name="Card 33"/>
          <p:cNvSpPr/>
          <p:nvPr/>
        </p:nvSpPr>
        <p:spPr>
          <a:xfrm>
            <a:off x="5943600" y="1508760"/>
            <a:ext cx="5696712" cy="1097280"/>
          </a:xfrm>
          <a:prstGeom prst="roundRect">
            <a:avLst>
              <a:gd name="adj" fmla="val 10000"/>
            </a:avLst>
          </a:prstGeom>
          <a:solidFill>
            <a:schemeClr val="tx2"/>
          </a:solidFill>
          <a:ln w="9525">
            <a:solidFill>
              <a:schemeClr val="accent2">
                <a:alpha val="45000"/>
              </a:schemeClr>
            </a:solidFill>
            <a:prstDash val="solid"/>
          </a:ln>
        </p:spPr>
      </p:sp>
      <p:sp>
        <p:nvSpPr>
          <p:cNvPr id="7" name="Icon circle 34"/>
          <p:cNvSpPr/>
          <p:nvPr/>
        </p:nvSpPr>
        <p:spPr>
          <a:xfrm>
            <a:off x="6217920" y="1709928"/>
            <a:ext cx="694944" cy="694944"/>
          </a:xfrm>
          <a:prstGeom prst="ellipse">
            <a:avLst/>
          </a:prstGeom>
          <a:solidFill>
            <a:schemeClr val="accent2">
              <a:alpha val="28000"/>
            </a:schemeClr>
          </a:solidFill>
          <a:ln w="9525">
            <a:solidFill>
              <a:schemeClr val="accent1">
                <a:alpha val="55000"/>
              </a:schemeClr>
            </a:solidFill>
            <a:prstDash val="solid"/>
          </a:ln>
        </p:spPr>
      </p:sp>
      <p:pic>
        <p:nvPicPr>
          <p:cNvPr id="8" name="Icon 35" descr="Distributed storage">    </p:cNvPr>
          <p:cNvPicPr>
            <a:picLocks noChangeAspect="1"/>
          </p:cNvPicPr>
          <p:nvPr/>
        </p:nvPicPr>
        <p:blipFill>
          <a:blip r:embed="rId1"/>
          <a:stretch>
            <a:fillRect/>
          </a:stretch>
        </p:blipFill>
        <p:spPr>
          <a:xfrm>
            <a:off x="6391656" y="1883664"/>
            <a:ext cx="347472" cy="347472"/>
          </a:xfrm>
          <a:prstGeom prst="rect">
            <a:avLst/>
          </a:prstGeom>
        </p:spPr>
      </p:pic>
      <p:sp>
        <p:nvSpPr>
          <p:cNvPr id="9" name="Text 36"/>
          <p:cNvSpPr txBox="1"/>
          <p:nvPr/>
        </p:nvSpPr>
        <p:spPr>
          <a:xfrm>
            <a:off x="7132320" y="1709928"/>
            <a:ext cx="4297680" cy="320040"/>
          </a:xfrm>
          <a:prstGeom prst="rect">
            <a:avLst/>
          </a:prstGeom>
          <a:noFill/>
          <a:ln/>
        </p:spPr>
        <p:txBody>
          <a:bodyPr wrap="square" lIns="0" tIns="0" rIns="0" bIns="0" rtlCol="0" anchor="t"/>
          <a:lstStyle/>
          <a:p>
            <a:pPr indent="0" marL="0">
              <a:buNone/>
            </a:pPr>
            <a:r>
              <a:rPr lang="en-US" sz="1800" b="1" dirty="0">
                <a:solidFill>
                  <a:schemeClr val="bg1"/>
                </a:solidFill>
              </a:rPr>
              <a:t>Distributed storage</a:t>
            </a:r>
            <a:endParaRPr lang="en-US" sz="1800" dirty="0"/>
          </a:p>
        </p:txBody>
      </p:sp>
      <p:sp>
        <p:nvSpPr>
          <p:cNvPr id="10" name="Text 37"/>
          <p:cNvSpPr txBox="1"/>
          <p:nvPr/>
        </p:nvSpPr>
        <p:spPr>
          <a:xfrm>
            <a:off x="7132320" y="2057400"/>
            <a:ext cx="4297680" cy="457200"/>
          </a:xfrm>
          <a:prstGeom prst="rect">
            <a:avLst/>
          </a:prstGeom>
          <a:noFill/>
          <a:ln/>
        </p:spPr>
        <p:txBody>
          <a:bodyPr wrap="square" lIns="0" tIns="0" rIns="0" bIns="0" rtlCol="0" anchor="t"/>
          <a:lstStyle/>
          <a:p>
            <a:pPr indent="0" marL="0">
              <a:buNone/>
            </a:pPr>
            <a:r>
              <a:rPr lang="en-US" sz="1400" dirty="0">
                <a:solidFill>
                  <a:schemeClr val="bg2"/>
                </a:solidFill>
              </a:rPr>
              <a:t>HDFS holds raw, staging and processed data</a:t>
            </a:r>
            <a:endParaRPr lang="en-US" sz="1400" dirty="0"/>
          </a:p>
        </p:txBody>
      </p:sp>
      <p:sp>
        <p:nvSpPr>
          <p:cNvPr id="11" name="Card 38"/>
          <p:cNvSpPr/>
          <p:nvPr/>
        </p:nvSpPr>
        <p:spPr>
          <a:xfrm>
            <a:off x="5943600" y="2788920"/>
            <a:ext cx="5696712" cy="1097280"/>
          </a:xfrm>
          <a:prstGeom prst="roundRect">
            <a:avLst>
              <a:gd name="adj" fmla="val 10000"/>
            </a:avLst>
          </a:prstGeom>
          <a:solidFill>
            <a:schemeClr val="tx2"/>
          </a:solidFill>
          <a:ln w="9525">
            <a:solidFill>
              <a:schemeClr val="accent2">
                <a:alpha val="45000"/>
              </a:schemeClr>
            </a:solidFill>
            <a:prstDash val="solid"/>
          </a:ln>
        </p:spPr>
      </p:sp>
      <p:sp>
        <p:nvSpPr>
          <p:cNvPr id="12" name="Icon circle 39"/>
          <p:cNvSpPr/>
          <p:nvPr/>
        </p:nvSpPr>
        <p:spPr>
          <a:xfrm>
            <a:off x="6217920" y="2990088"/>
            <a:ext cx="694944" cy="694944"/>
          </a:xfrm>
          <a:prstGeom prst="ellipse">
            <a:avLst/>
          </a:prstGeom>
          <a:solidFill>
            <a:schemeClr val="accent2">
              <a:alpha val="28000"/>
            </a:schemeClr>
          </a:solidFill>
          <a:ln w="9525">
            <a:solidFill>
              <a:schemeClr val="accent1">
                <a:alpha val="55000"/>
              </a:schemeClr>
            </a:solidFill>
            <a:prstDash val="solid"/>
          </a:ln>
        </p:spPr>
      </p:sp>
      <p:pic>
        <p:nvPicPr>
          <p:cNvPr id="13" name="Icon 40" descr="Distributed processing">    </p:cNvPr>
          <p:cNvPicPr>
            <a:picLocks noChangeAspect="1"/>
          </p:cNvPicPr>
          <p:nvPr/>
        </p:nvPicPr>
        <p:blipFill>
          <a:blip r:embed="rId2"/>
          <a:stretch>
            <a:fillRect/>
          </a:stretch>
        </p:blipFill>
        <p:spPr>
          <a:xfrm>
            <a:off x="6391656" y="3163824"/>
            <a:ext cx="347472" cy="347472"/>
          </a:xfrm>
          <a:prstGeom prst="rect">
            <a:avLst/>
          </a:prstGeom>
        </p:spPr>
      </p:pic>
      <p:sp>
        <p:nvSpPr>
          <p:cNvPr id="14" name="Text 41"/>
          <p:cNvSpPr txBox="1"/>
          <p:nvPr/>
        </p:nvSpPr>
        <p:spPr>
          <a:xfrm>
            <a:off x="7132320" y="2990088"/>
            <a:ext cx="4297680" cy="320040"/>
          </a:xfrm>
          <a:prstGeom prst="rect">
            <a:avLst/>
          </a:prstGeom>
          <a:noFill/>
          <a:ln/>
        </p:spPr>
        <p:txBody>
          <a:bodyPr wrap="square" lIns="0" tIns="0" rIns="0" bIns="0" rtlCol="0" anchor="t"/>
          <a:lstStyle/>
          <a:p>
            <a:pPr indent="0" marL="0">
              <a:buNone/>
            </a:pPr>
            <a:r>
              <a:rPr lang="en-US" sz="1800" b="1" dirty="0">
                <a:solidFill>
                  <a:schemeClr val="bg1"/>
                </a:solidFill>
              </a:rPr>
              <a:t>Distributed processing</a:t>
            </a:r>
            <a:endParaRPr lang="en-US" sz="1800" dirty="0"/>
          </a:p>
        </p:txBody>
      </p:sp>
      <p:sp>
        <p:nvSpPr>
          <p:cNvPr id="15" name="Text 42"/>
          <p:cNvSpPr txBox="1"/>
          <p:nvPr/>
        </p:nvSpPr>
        <p:spPr>
          <a:xfrm>
            <a:off x="7132320" y="3337560"/>
            <a:ext cx="4297680" cy="457200"/>
          </a:xfrm>
          <a:prstGeom prst="rect">
            <a:avLst/>
          </a:prstGeom>
          <a:noFill/>
          <a:ln/>
        </p:spPr>
        <p:txBody>
          <a:bodyPr wrap="square" lIns="0" tIns="0" rIns="0" bIns="0" rtlCol="0" anchor="t"/>
          <a:lstStyle/>
          <a:p>
            <a:pPr indent="0" marL="0">
              <a:buNone/>
            </a:pPr>
            <a:r>
              <a:rPr lang="en-US" sz="1400" dirty="0">
                <a:solidFill>
                  <a:schemeClr val="bg2"/>
                </a:solidFill>
              </a:rPr>
              <a:t>Spark ETL cleans, transforms and aggregates the trips</a:t>
            </a:r>
            <a:endParaRPr lang="en-US" sz="1400" dirty="0"/>
          </a:p>
        </p:txBody>
      </p:sp>
      <p:sp>
        <p:nvSpPr>
          <p:cNvPr id="16" name="Card 43"/>
          <p:cNvSpPr/>
          <p:nvPr/>
        </p:nvSpPr>
        <p:spPr>
          <a:xfrm>
            <a:off x="5943600" y="4069080"/>
            <a:ext cx="5696712" cy="1097280"/>
          </a:xfrm>
          <a:prstGeom prst="roundRect">
            <a:avLst>
              <a:gd name="adj" fmla="val 10000"/>
            </a:avLst>
          </a:prstGeom>
          <a:solidFill>
            <a:schemeClr val="tx2"/>
          </a:solidFill>
          <a:ln w="9525">
            <a:solidFill>
              <a:schemeClr val="accent2">
                <a:alpha val="45000"/>
              </a:schemeClr>
            </a:solidFill>
            <a:prstDash val="solid"/>
          </a:ln>
        </p:spPr>
      </p:sp>
      <p:sp>
        <p:nvSpPr>
          <p:cNvPr id="17" name="Icon circle 44"/>
          <p:cNvSpPr/>
          <p:nvPr/>
        </p:nvSpPr>
        <p:spPr>
          <a:xfrm>
            <a:off x="6217920" y="4270248"/>
            <a:ext cx="694944" cy="694944"/>
          </a:xfrm>
          <a:prstGeom prst="ellipse">
            <a:avLst/>
          </a:prstGeom>
          <a:solidFill>
            <a:schemeClr val="accent2">
              <a:alpha val="28000"/>
            </a:schemeClr>
          </a:solidFill>
          <a:ln w="9525">
            <a:solidFill>
              <a:schemeClr val="accent1">
                <a:alpha val="55000"/>
              </a:schemeClr>
            </a:solidFill>
            <a:prstDash val="solid"/>
          </a:ln>
        </p:spPr>
      </p:sp>
      <p:pic>
        <p:nvPicPr>
          <p:cNvPr id="18" name="Icon 45" descr="Analytics &amp; visualization">    </p:cNvPr>
          <p:cNvPicPr>
            <a:picLocks noChangeAspect="1"/>
          </p:cNvPicPr>
          <p:nvPr/>
        </p:nvPicPr>
        <p:blipFill>
          <a:blip r:embed="rId3"/>
          <a:stretch>
            <a:fillRect/>
          </a:stretch>
        </p:blipFill>
        <p:spPr>
          <a:xfrm>
            <a:off x="6391656" y="4443984"/>
            <a:ext cx="347472" cy="347472"/>
          </a:xfrm>
          <a:prstGeom prst="rect">
            <a:avLst/>
          </a:prstGeom>
        </p:spPr>
      </p:pic>
      <p:sp>
        <p:nvSpPr>
          <p:cNvPr id="19" name="Text 46"/>
          <p:cNvSpPr txBox="1"/>
          <p:nvPr/>
        </p:nvSpPr>
        <p:spPr>
          <a:xfrm>
            <a:off x="7132320" y="4270248"/>
            <a:ext cx="4297680" cy="320040"/>
          </a:xfrm>
          <a:prstGeom prst="rect">
            <a:avLst/>
          </a:prstGeom>
          <a:noFill/>
          <a:ln/>
        </p:spPr>
        <p:txBody>
          <a:bodyPr wrap="square" lIns="0" tIns="0" rIns="0" bIns="0" rtlCol="0" anchor="t"/>
          <a:lstStyle/>
          <a:p>
            <a:pPr indent="0" marL="0">
              <a:buNone/>
            </a:pPr>
            <a:r>
              <a:rPr lang="en-US" sz="1800" b="1" dirty="0">
                <a:solidFill>
                  <a:schemeClr val="bg1"/>
                </a:solidFill>
              </a:rPr>
              <a:t>Analytics &amp; visualization</a:t>
            </a:r>
            <a:endParaRPr lang="en-US" sz="1800" dirty="0"/>
          </a:p>
        </p:txBody>
      </p:sp>
      <p:sp>
        <p:nvSpPr>
          <p:cNvPr id="20" name="Text 47"/>
          <p:cNvSpPr txBox="1"/>
          <p:nvPr/>
        </p:nvSpPr>
        <p:spPr>
          <a:xfrm>
            <a:off x="7132320" y="4617720"/>
            <a:ext cx="4297680" cy="457200"/>
          </a:xfrm>
          <a:prstGeom prst="rect">
            <a:avLst/>
          </a:prstGeom>
          <a:noFill/>
          <a:ln/>
        </p:spPr>
        <p:txBody>
          <a:bodyPr wrap="square" lIns="0" tIns="0" rIns="0" bIns="0" rtlCol="0" anchor="t"/>
          <a:lstStyle/>
          <a:p>
            <a:pPr indent="0" marL="0">
              <a:buNone/>
            </a:pPr>
            <a:r>
              <a:rPr lang="en-US" sz="1400" dirty="0">
                <a:solidFill>
                  <a:schemeClr val="bg2"/>
                </a:solidFill>
              </a:rPr>
              <a:t>ClickHouse serves queries to the Superset dashboard</a:t>
            </a:r>
            <a:endParaRPr lang="en-US" sz="1400" dirty="0"/>
          </a:p>
        </p:txBody>
      </p:sp>
      <p:sp>
        <p:nvSpPr>
          <p:cNvPr id="21" name="Card 48"/>
          <p:cNvSpPr/>
          <p:nvPr/>
        </p:nvSpPr>
        <p:spPr>
          <a:xfrm>
            <a:off x="548640" y="5486400"/>
            <a:ext cx="11094415" cy="731520"/>
          </a:xfrm>
          <a:prstGeom prst="roundRect">
            <a:avLst>
              <a:gd name="adj" fmla="val 15000"/>
            </a:avLst>
          </a:prstGeom>
          <a:solidFill>
            <a:schemeClr val="accent2">
              <a:alpha val="15000"/>
            </a:schemeClr>
          </a:solidFill>
          <a:ln w="9525">
            <a:solidFill>
              <a:schemeClr val="accent2">
                <a:alpha val="45000"/>
              </a:schemeClr>
            </a:solidFill>
            <a:prstDash val="solid"/>
          </a:ln>
        </p:spPr>
      </p:sp>
      <p:sp>
        <p:nvSpPr>
          <p:cNvPr id="22" name="Icon circle 49"/>
          <p:cNvSpPr/>
          <p:nvPr/>
        </p:nvSpPr>
        <p:spPr>
          <a:xfrm>
            <a:off x="777240" y="5559552"/>
            <a:ext cx="585216" cy="585216"/>
          </a:xfrm>
          <a:prstGeom prst="ellipse">
            <a:avLst/>
          </a:prstGeom>
          <a:solidFill>
            <a:schemeClr val="accent2">
              <a:alpha val="28000"/>
            </a:schemeClr>
          </a:solidFill>
          <a:ln w="9525">
            <a:solidFill>
              <a:schemeClr val="accent1">
                <a:alpha val="55000"/>
              </a:schemeClr>
            </a:solidFill>
            <a:prstDash val="solid"/>
          </a:ln>
        </p:spPr>
      </p:sp>
      <p:pic>
        <p:nvPicPr>
          <p:cNvPr id="23" name="Icon 50" descr="Docker">    </p:cNvPr>
          <p:cNvPicPr>
            <a:picLocks noChangeAspect="1"/>
          </p:cNvPicPr>
          <p:nvPr/>
        </p:nvPicPr>
        <p:blipFill>
          <a:blip r:embed="rId4"/>
          <a:stretch>
            <a:fillRect/>
          </a:stretch>
        </p:blipFill>
        <p:spPr>
          <a:xfrm>
            <a:off x="923544" y="5705856"/>
            <a:ext cx="292608" cy="292608"/>
          </a:xfrm>
          <a:prstGeom prst="rect">
            <a:avLst/>
          </a:prstGeom>
        </p:spPr>
      </p:pic>
      <p:sp>
        <p:nvSpPr>
          <p:cNvPr id="24" name="Icon circle 51"/>
          <p:cNvSpPr/>
          <p:nvPr/>
        </p:nvSpPr>
        <p:spPr>
          <a:xfrm>
            <a:off x="1508760" y="5559552"/>
            <a:ext cx="585216" cy="585216"/>
          </a:xfrm>
          <a:prstGeom prst="ellipse">
            <a:avLst/>
          </a:prstGeom>
          <a:solidFill>
            <a:schemeClr val="accent2">
              <a:alpha val="28000"/>
            </a:schemeClr>
          </a:solidFill>
          <a:ln w="9525">
            <a:solidFill>
              <a:schemeClr val="accent1">
                <a:alpha val="55000"/>
              </a:schemeClr>
            </a:solidFill>
            <a:prstDash val="solid"/>
          </a:ln>
        </p:spPr>
      </p:sp>
      <p:pic>
        <p:nvPicPr>
          <p:cNvPr id="25" name="Icon 52" descr="Airflow">    </p:cNvPr>
          <p:cNvPicPr>
            <a:picLocks noChangeAspect="1"/>
          </p:cNvPicPr>
          <p:nvPr/>
        </p:nvPicPr>
        <p:blipFill>
          <a:blip r:embed="rId5"/>
          <a:stretch>
            <a:fillRect/>
          </a:stretch>
        </p:blipFill>
        <p:spPr>
          <a:xfrm>
            <a:off x="1655064" y="5705856"/>
            <a:ext cx="292608" cy="292608"/>
          </a:xfrm>
          <a:prstGeom prst="rect">
            <a:avLst/>
          </a:prstGeom>
        </p:spPr>
      </p:pic>
      <p:sp>
        <p:nvSpPr>
          <p:cNvPr id="26" name="Text 53"/>
          <p:cNvSpPr txBox="1"/>
          <p:nvPr/>
        </p:nvSpPr>
        <p:spPr>
          <a:xfrm>
            <a:off x="2331720" y="5641848"/>
            <a:ext cx="8686800" cy="411480"/>
          </a:xfrm>
          <a:prstGeom prst="rect">
            <a:avLst/>
          </a:prstGeom>
          <a:noFill/>
          <a:ln/>
        </p:spPr>
        <p:txBody>
          <a:bodyPr wrap="square" lIns="0" tIns="0" rIns="0" bIns="0" rtlCol="0" anchor="ctr"/>
          <a:lstStyle/>
          <a:p>
            <a:pPr indent="0" marL="0">
              <a:buNone/>
            </a:pPr>
            <a:r>
              <a:rPr lang="en-US" sz="1800" b="1" dirty="0">
                <a:solidFill>
                  <a:schemeClr val="bg1"/>
                </a:solidFill>
              </a:rPr>
              <a:t>Containerized with Docker  ·  Orchestrated by Apache Airflow</a:t>
            </a:r>
            <a:endParaRPr lang="en-US" sz="18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4"/>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WHY WE BUILT IT</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Problem &amp; Objectives</a:t>
            </a:r>
            <a:endParaRPr lang="en-US" sz="3600" dirty="0"/>
          </a:p>
        </p:txBody>
      </p:sp>
      <p:sp>
        <p:nvSpPr>
          <p:cNvPr id="4" name="Card 55"/>
          <p:cNvSpPr/>
          <p:nvPr/>
        </p:nvSpPr>
        <p:spPr>
          <a:xfrm>
            <a:off x="548640" y="1508760"/>
            <a:ext cx="5394960" cy="4754880"/>
          </a:xfrm>
          <a:prstGeom prst="roundRect">
            <a:avLst>
              <a:gd name="adj" fmla="val 2308"/>
            </a:avLst>
          </a:prstGeom>
          <a:solidFill>
            <a:schemeClr val="tx2"/>
          </a:solidFill>
          <a:ln w="9525">
            <a:solidFill>
              <a:schemeClr val="accent2">
                <a:alpha val="45000"/>
              </a:schemeClr>
            </a:solidFill>
            <a:prstDash val="solid"/>
          </a:ln>
        </p:spPr>
      </p:sp>
      <p:sp>
        <p:nvSpPr>
          <p:cNvPr id="5" name="Card 56"/>
          <p:cNvSpPr/>
          <p:nvPr/>
        </p:nvSpPr>
        <p:spPr>
          <a:xfrm>
            <a:off x="6245352" y="1508760"/>
            <a:ext cx="5394960" cy="4754880"/>
          </a:xfrm>
          <a:prstGeom prst="roundRect">
            <a:avLst>
              <a:gd name="adj" fmla="val 2308"/>
            </a:avLst>
          </a:prstGeom>
          <a:solidFill>
            <a:schemeClr val="tx2"/>
          </a:solidFill>
          <a:ln w="9525">
            <a:solidFill>
              <a:schemeClr val="accent2">
                <a:alpha val="45000"/>
              </a:schemeClr>
            </a:solidFill>
            <a:prstDash val="solid"/>
          </a:ln>
        </p:spPr>
      </p:sp>
      <p:sp>
        <p:nvSpPr>
          <p:cNvPr id="6" name="Text 57"/>
          <p:cNvSpPr txBox="1"/>
          <p:nvPr/>
        </p:nvSpPr>
        <p:spPr>
          <a:xfrm>
            <a:off x="868680" y="173736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7" name="Text 58"/>
          <p:cNvSpPr txBox="1"/>
          <p:nvPr/>
        </p:nvSpPr>
        <p:spPr>
          <a:xfrm>
            <a:off x="6565392" y="173736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OUR OBJECTIVES</a:t>
            </a:r>
            <a:endParaRPr lang="en-US" sz="1200" dirty="0"/>
          </a:p>
        </p:txBody>
      </p:sp>
      <p:sp>
        <p:nvSpPr>
          <p:cNvPr id="8" name="Icon circle 59"/>
          <p:cNvSpPr/>
          <p:nvPr/>
        </p:nvSpPr>
        <p:spPr>
          <a:xfrm>
            <a:off x="868680" y="2194560"/>
            <a:ext cx="603504" cy="603504"/>
          </a:xfrm>
          <a:prstGeom prst="ellipse">
            <a:avLst/>
          </a:prstGeom>
          <a:solidFill>
            <a:schemeClr val="accent2">
              <a:alpha val="28000"/>
            </a:schemeClr>
          </a:solidFill>
          <a:ln w="9525">
            <a:solidFill>
              <a:schemeClr val="accent1">
                <a:alpha val="55000"/>
              </a:schemeClr>
            </a:solidFill>
            <a:prstDash val="solid"/>
          </a:ln>
        </p:spPr>
      </p:sp>
      <p:pic>
        <p:nvPicPr>
          <p:cNvPr id="9" name="Icon 60" descr="problem icon">    </p:cNvPr>
          <p:cNvPicPr>
            <a:picLocks noChangeAspect="1"/>
          </p:cNvPicPr>
          <p:nvPr/>
        </p:nvPicPr>
        <p:blipFill>
          <a:blip r:embed="rId1"/>
          <a:stretch>
            <a:fillRect/>
          </a:stretch>
        </p:blipFill>
        <p:spPr>
          <a:xfrm>
            <a:off x="1019556" y="2345436"/>
            <a:ext cx="301752" cy="301752"/>
          </a:xfrm>
          <a:prstGeom prst="rect">
            <a:avLst/>
          </a:prstGeom>
        </p:spPr>
      </p:pic>
      <p:sp>
        <p:nvSpPr>
          <p:cNvPr id="10" name="Text 61"/>
          <p:cNvSpPr txBox="1"/>
          <p:nvPr/>
        </p:nvSpPr>
        <p:spPr>
          <a:xfrm>
            <a:off x="1691640" y="2212848"/>
            <a:ext cx="3977640" cy="640080"/>
          </a:xfrm>
          <a:prstGeom prst="rect">
            <a:avLst/>
          </a:prstGeom>
          <a:noFill/>
          <a:ln/>
        </p:spPr>
        <p:txBody>
          <a:bodyPr wrap="square" lIns="0" tIns="0" rIns="0" bIns="0" rtlCol="0" anchor="ctr"/>
          <a:lstStyle/>
          <a:p>
            <a:pPr indent="0" marL="0">
              <a:buNone/>
            </a:pPr>
            <a:r>
              <a:rPr lang="en-US" sz="1600" dirty="0">
                <a:solidFill>
                  <a:schemeClr val="bg1"/>
                </a:solidFill>
              </a:rPr>
              <a:t>Taxi trip data is massive, and single-machine tools struggle to process it</a:t>
            </a:r>
            <a:endParaRPr lang="en-US" sz="1600" dirty="0"/>
          </a:p>
        </p:txBody>
      </p:sp>
      <p:sp>
        <p:nvSpPr>
          <p:cNvPr id="11" name="Icon circle 62"/>
          <p:cNvSpPr/>
          <p:nvPr/>
        </p:nvSpPr>
        <p:spPr>
          <a:xfrm>
            <a:off x="868680" y="3182112"/>
            <a:ext cx="603504" cy="603504"/>
          </a:xfrm>
          <a:prstGeom prst="ellipse">
            <a:avLst/>
          </a:prstGeom>
          <a:solidFill>
            <a:schemeClr val="accent2">
              <a:alpha val="28000"/>
            </a:schemeClr>
          </a:solidFill>
          <a:ln w="9525">
            <a:solidFill>
              <a:schemeClr val="accent1">
                <a:alpha val="55000"/>
              </a:schemeClr>
            </a:solidFill>
            <a:prstDash val="solid"/>
          </a:ln>
        </p:spPr>
      </p:sp>
      <p:pic>
        <p:nvPicPr>
          <p:cNvPr id="12" name="Icon 63" descr="problem icon">    </p:cNvPr>
          <p:cNvPicPr>
            <a:picLocks noChangeAspect="1"/>
          </p:cNvPicPr>
          <p:nvPr/>
        </p:nvPicPr>
        <p:blipFill>
          <a:blip r:embed="rId2"/>
          <a:stretch>
            <a:fillRect/>
          </a:stretch>
        </p:blipFill>
        <p:spPr>
          <a:xfrm>
            <a:off x="1019556" y="3332988"/>
            <a:ext cx="301752" cy="301752"/>
          </a:xfrm>
          <a:prstGeom prst="rect">
            <a:avLst/>
          </a:prstGeom>
        </p:spPr>
      </p:pic>
      <p:sp>
        <p:nvSpPr>
          <p:cNvPr id="13" name="Text 64"/>
          <p:cNvSpPr txBox="1"/>
          <p:nvPr/>
        </p:nvSpPr>
        <p:spPr>
          <a:xfrm>
            <a:off x="1691640" y="3200400"/>
            <a:ext cx="3977640" cy="640080"/>
          </a:xfrm>
          <a:prstGeom prst="rect">
            <a:avLst/>
          </a:prstGeom>
          <a:noFill/>
          <a:ln/>
        </p:spPr>
        <p:txBody>
          <a:bodyPr wrap="square" lIns="0" tIns="0" rIns="0" bIns="0" rtlCol="0" anchor="ctr"/>
          <a:lstStyle/>
          <a:p>
            <a:pPr indent="0" marL="0">
              <a:buNone/>
            </a:pPr>
            <a:r>
              <a:rPr lang="en-US" sz="1600" dirty="0">
                <a:solidFill>
                  <a:schemeClr val="bg1"/>
                </a:solidFill>
              </a:rPr>
              <a:t>Raw trips are not ready for analysis until cleaned and aggregated</a:t>
            </a:r>
            <a:endParaRPr lang="en-US" sz="1600" dirty="0"/>
          </a:p>
        </p:txBody>
      </p:sp>
      <p:sp>
        <p:nvSpPr>
          <p:cNvPr id="14" name="Icon circle 65"/>
          <p:cNvSpPr/>
          <p:nvPr/>
        </p:nvSpPr>
        <p:spPr>
          <a:xfrm>
            <a:off x="868680" y="4169664"/>
            <a:ext cx="603504" cy="603504"/>
          </a:xfrm>
          <a:prstGeom prst="ellipse">
            <a:avLst/>
          </a:prstGeom>
          <a:solidFill>
            <a:schemeClr val="accent2">
              <a:alpha val="28000"/>
            </a:schemeClr>
          </a:solidFill>
          <a:ln w="9525">
            <a:solidFill>
              <a:schemeClr val="accent1">
                <a:alpha val="55000"/>
              </a:schemeClr>
            </a:solidFill>
            <a:prstDash val="solid"/>
          </a:ln>
        </p:spPr>
      </p:sp>
      <p:pic>
        <p:nvPicPr>
          <p:cNvPr id="15" name="Icon 66" descr="problem icon">    </p:cNvPr>
          <p:cNvPicPr>
            <a:picLocks noChangeAspect="1"/>
          </p:cNvPicPr>
          <p:nvPr/>
        </p:nvPicPr>
        <p:blipFill>
          <a:blip r:embed="rId3"/>
          <a:stretch>
            <a:fillRect/>
          </a:stretch>
        </p:blipFill>
        <p:spPr>
          <a:xfrm>
            <a:off x="1019556" y="4320540"/>
            <a:ext cx="301752" cy="301752"/>
          </a:xfrm>
          <a:prstGeom prst="rect">
            <a:avLst/>
          </a:prstGeom>
        </p:spPr>
      </p:pic>
      <p:sp>
        <p:nvSpPr>
          <p:cNvPr id="16" name="Text 67"/>
          <p:cNvSpPr txBox="1"/>
          <p:nvPr/>
        </p:nvSpPr>
        <p:spPr>
          <a:xfrm>
            <a:off x="1691640" y="4187952"/>
            <a:ext cx="3977640" cy="640080"/>
          </a:xfrm>
          <a:prstGeom prst="rect">
            <a:avLst/>
          </a:prstGeom>
          <a:noFill/>
          <a:ln/>
        </p:spPr>
        <p:txBody>
          <a:bodyPr wrap="square" lIns="0" tIns="0" rIns="0" bIns="0" rtlCol="0" anchor="ctr"/>
          <a:lstStyle/>
          <a:p>
            <a:pPr indent="0" marL="0">
              <a:buNone/>
            </a:pPr>
            <a:r>
              <a:rPr lang="en-US" sz="1600" dirty="0">
                <a:solidFill>
                  <a:schemeClr val="bg1"/>
                </a:solidFill>
              </a:rPr>
              <a:t>Zones appear as numeric IDs that are hard to interpret</a:t>
            </a:r>
            <a:endParaRPr lang="en-US" sz="1600" dirty="0"/>
          </a:p>
        </p:txBody>
      </p:sp>
      <p:sp>
        <p:nvSpPr>
          <p:cNvPr id="17" name="Icon circle 68"/>
          <p:cNvSpPr/>
          <p:nvPr/>
        </p:nvSpPr>
        <p:spPr>
          <a:xfrm>
            <a:off x="868680" y="5157216"/>
            <a:ext cx="603504" cy="603504"/>
          </a:xfrm>
          <a:prstGeom prst="ellipse">
            <a:avLst/>
          </a:prstGeom>
          <a:solidFill>
            <a:schemeClr val="accent2">
              <a:alpha val="28000"/>
            </a:schemeClr>
          </a:solidFill>
          <a:ln w="9525">
            <a:solidFill>
              <a:schemeClr val="accent1">
                <a:alpha val="55000"/>
              </a:schemeClr>
            </a:solidFill>
            <a:prstDash val="solid"/>
          </a:ln>
        </p:spPr>
      </p:sp>
      <p:pic>
        <p:nvPicPr>
          <p:cNvPr id="18" name="Icon 69" descr="problem icon">    </p:cNvPr>
          <p:cNvPicPr>
            <a:picLocks noChangeAspect="1"/>
          </p:cNvPicPr>
          <p:nvPr/>
        </p:nvPicPr>
        <p:blipFill>
          <a:blip r:embed="rId4"/>
          <a:stretch>
            <a:fillRect/>
          </a:stretch>
        </p:blipFill>
        <p:spPr>
          <a:xfrm>
            <a:off x="1019556" y="5308092"/>
            <a:ext cx="301752" cy="301752"/>
          </a:xfrm>
          <a:prstGeom prst="rect">
            <a:avLst/>
          </a:prstGeom>
        </p:spPr>
      </p:pic>
      <p:sp>
        <p:nvSpPr>
          <p:cNvPr id="19" name="Text 70"/>
          <p:cNvSpPr txBox="1"/>
          <p:nvPr/>
        </p:nvSpPr>
        <p:spPr>
          <a:xfrm>
            <a:off x="1691640" y="5175504"/>
            <a:ext cx="3977640" cy="640080"/>
          </a:xfrm>
          <a:prstGeom prst="rect">
            <a:avLst/>
          </a:prstGeom>
          <a:noFill/>
          <a:ln/>
        </p:spPr>
        <p:txBody>
          <a:bodyPr wrap="square" lIns="0" tIns="0" rIns="0" bIns="0" rtlCol="0" anchor="ctr"/>
          <a:lstStyle/>
          <a:p>
            <a:pPr indent="0" marL="0">
              <a:buNone/>
            </a:pPr>
            <a:r>
              <a:rPr lang="en-US" sz="1600" dirty="0">
                <a:solidFill>
                  <a:schemeClr val="bg1"/>
                </a:solidFill>
              </a:rPr>
              <a:t>Manual, repeated steps make results hard to reproduce</a:t>
            </a:r>
            <a:endParaRPr lang="en-US" sz="1600" dirty="0"/>
          </a:p>
        </p:txBody>
      </p:sp>
      <p:sp>
        <p:nvSpPr>
          <p:cNvPr id="20" name="Number badge 71"/>
          <p:cNvSpPr/>
          <p:nvPr/>
        </p:nvSpPr>
        <p:spPr>
          <a:xfrm>
            <a:off x="6565392" y="2240280"/>
            <a:ext cx="502920" cy="502920"/>
          </a:xfrm>
          <a:prstGeom prst="ellipse">
            <a:avLst/>
          </a:prstGeom>
          <a:solidFill>
            <a:schemeClr val="accent1"/>
          </a:solidFill>
          <a:ln w="6350">
            <a:solidFill>
              <a:schemeClr val="accent1"/>
            </a:solidFill>
            <a:prstDash val="solid"/>
          </a:ln>
        </p:spPr>
      </p:sp>
      <p:sp>
        <p:nvSpPr>
          <p:cNvPr id="21" name="Text 72"/>
          <p:cNvSpPr txBox="1"/>
          <p:nvPr/>
        </p:nvSpPr>
        <p:spPr>
          <a:xfrm>
            <a:off x="6565392" y="22402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2" name="Text 73"/>
          <p:cNvSpPr txBox="1"/>
          <p:nvPr/>
        </p:nvSpPr>
        <p:spPr>
          <a:xfrm>
            <a:off x="7296912" y="2194560"/>
            <a:ext cx="4069080" cy="603504"/>
          </a:xfrm>
          <a:prstGeom prst="rect">
            <a:avLst/>
          </a:prstGeom>
          <a:noFill/>
          <a:ln/>
        </p:spPr>
        <p:txBody>
          <a:bodyPr wrap="square" lIns="0" tIns="0" rIns="0" bIns="0" rtlCol="0" anchor="ctr"/>
          <a:lstStyle/>
          <a:p>
            <a:pPr indent="0" marL="0">
              <a:buNone/>
            </a:pPr>
            <a:r>
              <a:rPr lang="en-US" sz="1600" dirty="0">
                <a:solidFill>
                  <a:schemeClr val="bg1"/>
                </a:solidFill>
              </a:rPr>
              <a:t>Store raw and processed data in distributed storage (HDFS)</a:t>
            </a:r>
            <a:endParaRPr lang="en-US" sz="1600" dirty="0"/>
          </a:p>
        </p:txBody>
      </p:sp>
      <p:sp>
        <p:nvSpPr>
          <p:cNvPr id="23" name="Number badge 74"/>
          <p:cNvSpPr/>
          <p:nvPr/>
        </p:nvSpPr>
        <p:spPr>
          <a:xfrm>
            <a:off x="6565392" y="3026664"/>
            <a:ext cx="502920" cy="502920"/>
          </a:xfrm>
          <a:prstGeom prst="ellipse">
            <a:avLst/>
          </a:prstGeom>
          <a:solidFill>
            <a:schemeClr val="accent1"/>
          </a:solidFill>
          <a:ln w="6350">
            <a:solidFill>
              <a:schemeClr val="accent1"/>
            </a:solidFill>
            <a:prstDash val="solid"/>
          </a:ln>
        </p:spPr>
      </p:sp>
      <p:sp>
        <p:nvSpPr>
          <p:cNvPr id="24" name="Text 75"/>
          <p:cNvSpPr txBox="1"/>
          <p:nvPr/>
        </p:nvSpPr>
        <p:spPr>
          <a:xfrm>
            <a:off x="6565392" y="3026664"/>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5" name="Text 76"/>
          <p:cNvSpPr txBox="1"/>
          <p:nvPr/>
        </p:nvSpPr>
        <p:spPr>
          <a:xfrm>
            <a:off x="7296912" y="2980944"/>
            <a:ext cx="4069080" cy="603504"/>
          </a:xfrm>
          <a:prstGeom prst="rect">
            <a:avLst/>
          </a:prstGeom>
          <a:noFill/>
          <a:ln/>
        </p:spPr>
        <p:txBody>
          <a:bodyPr wrap="square" lIns="0" tIns="0" rIns="0" bIns="0" rtlCol="0" anchor="ctr"/>
          <a:lstStyle/>
          <a:p>
            <a:pPr indent="0" marL="0">
              <a:buNone/>
            </a:pPr>
            <a:r>
              <a:rPr lang="en-US" sz="1600" dirty="0">
                <a:solidFill>
                  <a:schemeClr val="bg1"/>
                </a:solidFill>
              </a:rPr>
              <a:t>Clean, transform and aggregate with distributed ETL (Spark)</a:t>
            </a:r>
            <a:endParaRPr lang="en-US" sz="1600" dirty="0"/>
          </a:p>
        </p:txBody>
      </p:sp>
      <p:sp>
        <p:nvSpPr>
          <p:cNvPr id="26" name="Number badge 77"/>
          <p:cNvSpPr/>
          <p:nvPr/>
        </p:nvSpPr>
        <p:spPr>
          <a:xfrm>
            <a:off x="6565392" y="3813048"/>
            <a:ext cx="502920" cy="502920"/>
          </a:xfrm>
          <a:prstGeom prst="ellipse">
            <a:avLst/>
          </a:prstGeom>
          <a:solidFill>
            <a:schemeClr val="accent1"/>
          </a:solidFill>
          <a:ln w="6350">
            <a:solidFill>
              <a:schemeClr val="accent1"/>
            </a:solidFill>
            <a:prstDash val="solid"/>
          </a:ln>
        </p:spPr>
      </p:sp>
      <p:sp>
        <p:nvSpPr>
          <p:cNvPr id="27" name="Text 78"/>
          <p:cNvSpPr txBox="1"/>
          <p:nvPr/>
        </p:nvSpPr>
        <p:spPr>
          <a:xfrm>
            <a:off x="6565392" y="381304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8" name="Text 79"/>
          <p:cNvSpPr txBox="1"/>
          <p:nvPr/>
        </p:nvSpPr>
        <p:spPr>
          <a:xfrm>
            <a:off x="7296912" y="3767328"/>
            <a:ext cx="4069080" cy="603504"/>
          </a:xfrm>
          <a:prstGeom prst="rect">
            <a:avLst/>
          </a:prstGeom>
          <a:noFill/>
          <a:ln/>
        </p:spPr>
        <p:txBody>
          <a:bodyPr wrap="square" lIns="0" tIns="0" rIns="0" bIns="0" rtlCol="0" anchor="ctr"/>
          <a:lstStyle/>
          <a:p>
            <a:pPr indent="0" marL="0">
              <a:buNone/>
            </a:pPr>
            <a:r>
              <a:rPr lang="en-US" sz="1600" dirty="0">
                <a:solidFill>
                  <a:schemeClr val="bg1"/>
                </a:solidFill>
              </a:rPr>
              <a:t>Automate and validate the workflow (Airflow)</a:t>
            </a:r>
            <a:endParaRPr lang="en-US" sz="1600" dirty="0"/>
          </a:p>
        </p:txBody>
      </p:sp>
      <p:sp>
        <p:nvSpPr>
          <p:cNvPr id="29" name="Number badge 80"/>
          <p:cNvSpPr/>
          <p:nvPr/>
        </p:nvSpPr>
        <p:spPr>
          <a:xfrm>
            <a:off x="6565392" y="4599432"/>
            <a:ext cx="502920" cy="502920"/>
          </a:xfrm>
          <a:prstGeom prst="ellipse">
            <a:avLst/>
          </a:prstGeom>
          <a:solidFill>
            <a:schemeClr val="accent1"/>
          </a:solidFill>
          <a:ln w="6350">
            <a:solidFill>
              <a:schemeClr val="accent1"/>
            </a:solidFill>
            <a:prstDash val="solid"/>
          </a:ln>
        </p:spPr>
      </p:sp>
      <p:sp>
        <p:nvSpPr>
          <p:cNvPr id="30" name="Text 81"/>
          <p:cNvSpPr txBox="1"/>
          <p:nvPr/>
        </p:nvSpPr>
        <p:spPr>
          <a:xfrm>
            <a:off x="6565392" y="459943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31" name="Text 82"/>
          <p:cNvSpPr txBox="1"/>
          <p:nvPr/>
        </p:nvSpPr>
        <p:spPr>
          <a:xfrm>
            <a:off x="7296912" y="4553712"/>
            <a:ext cx="4069080" cy="603504"/>
          </a:xfrm>
          <a:prstGeom prst="rect">
            <a:avLst/>
          </a:prstGeom>
          <a:noFill/>
          <a:ln/>
        </p:spPr>
        <p:txBody>
          <a:bodyPr wrap="square" lIns="0" tIns="0" rIns="0" bIns="0" rtlCol="0" anchor="ctr"/>
          <a:lstStyle/>
          <a:p>
            <a:pPr indent="0" marL="0">
              <a:buNone/>
            </a:pPr>
            <a:r>
              <a:rPr lang="en-US" sz="1600" dirty="0">
                <a:solidFill>
                  <a:schemeClr val="bg1"/>
                </a:solidFill>
              </a:rPr>
              <a:t>Serve fast analytical queries (ClickHouse)</a:t>
            </a:r>
            <a:endParaRPr lang="en-US" sz="1600" dirty="0"/>
          </a:p>
        </p:txBody>
      </p:sp>
      <p:sp>
        <p:nvSpPr>
          <p:cNvPr id="32" name="Number badge 83"/>
          <p:cNvSpPr/>
          <p:nvPr/>
        </p:nvSpPr>
        <p:spPr>
          <a:xfrm>
            <a:off x="6565392" y="5385816"/>
            <a:ext cx="502920" cy="502920"/>
          </a:xfrm>
          <a:prstGeom prst="ellipse">
            <a:avLst/>
          </a:prstGeom>
          <a:solidFill>
            <a:schemeClr val="accent1"/>
          </a:solidFill>
          <a:ln w="6350">
            <a:solidFill>
              <a:schemeClr val="accent1"/>
            </a:solidFill>
            <a:prstDash val="solid"/>
          </a:ln>
        </p:spPr>
      </p:sp>
      <p:sp>
        <p:nvSpPr>
          <p:cNvPr id="33" name="Text 84"/>
          <p:cNvSpPr txBox="1"/>
          <p:nvPr/>
        </p:nvSpPr>
        <p:spPr>
          <a:xfrm>
            <a:off x="6565392" y="5385816"/>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4" name="Text 85"/>
          <p:cNvSpPr txBox="1"/>
          <p:nvPr/>
        </p:nvSpPr>
        <p:spPr>
          <a:xfrm>
            <a:off x="7296912" y="5340096"/>
            <a:ext cx="4069080" cy="603504"/>
          </a:xfrm>
          <a:prstGeom prst="rect">
            <a:avLst/>
          </a:prstGeom>
          <a:noFill/>
          <a:ln/>
        </p:spPr>
        <p:txBody>
          <a:bodyPr wrap="square" lIns="0" tIns="0" rIns="0" bIns="0" rtlCol="0" anchor="ctr"/>
          <a:lstStyle/>
          <a:p>
            <a:pPr indent="0" marL="0">
              <a:buNone/>
            </a:pPr>
            <a:r>
              <a:rPr lang="en-US" sz="1600" dirty="0">
                <a:solidFill>
                  <a:schemeClr val="bg1"/>
                </a:solidFill>
              </a:rPr>
              <a:t>Deliver an interactive, readable dashboard (Superset)</a:t>
            </a:r>
            <a:endParaRPr lang="en-US" sz="16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86"/>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ARCHITECTURE</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Overall Architecture</a:t>
            </a:r>
            <a:endParaRPr lang="en-US" sz="3600" dirty="0"/>
          </a:p>
        </p:txBody>
      </p:sp>
      <p:sp>
        <p:nvSpPr>
          <p:cNvPr id="4" name="Card 87"/>
          <p:cNvSpPr/>
          <p:nvPr/>
        </p:nvSpPr>
        <p:spPr>
          <a:xfrm>
            <a:off x="548640" y="1508760"/>
            <a:ext cx="8321040" cy="731520"/>
          </a:xfrm>
          <a:prstGeom prst="roundRect">
            <a:avLst>
              <a:gd name="adj" fmla="val 15000"/>
            </a:avLst>
          </a:prstGeom>
          <a:solidFill>
            <a:schemeClr val="tx2"/>
          </a:solidFill>
          <a:ln w="9525">
            <a:solidFill>
              <a:schemeClr val="accent2">
                <a:alpha val="45000"/>
              </a:schemeClr>
            </a:solidFill>
            <a:prstDash val="solid"/>
          </a:ln>
        </p:spPr>
      </p:sp>
      <p:sp>
        <p:nvSpPr>
          <p:cNvPr id="5" name="Text 88"/>
          <p:cNvSpPr txBox="1"/>
          <p:nvPr/>
        </p:nvSpPr>
        <p:spPr>
          <a:xfrm>
            <a:off x="777240" y="1737360"/>
            <a:ext cx="15544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ML APP</a:t>
            </a:r>
            <a:endParaRPr lang="en-US" sz="1100" dirty="0"/>
          </a:p>
        </p:txBody>
      </p:sp>
      <p:sp>
        <p:nvSpPr>
          <p:cNvPr id="6" name="Icon circle 89"/>
          <p:cNvSpPr/>
          <p:nvPr/>
        </p:nvSpPr>
        <p:spPr>
          <a:xfrm>
            <a:off x="2331720" y="1600200"/>
            <a:ext cx="548640" cy="548640"/>
          </a:xfrm>
          <a:prstGeom prst="ellipse">
            <a:avLst/>
          </a:prstGeom>
          <a:solidFill>
            <a:schemeClr val="accent2">
              <a:alpha val="28000"/>
            </a:schemeClr>
          </a:solidFill>
          <a:ln w="9525">
            <a:solidFill>
              <a:schemeClr val="accent1">
                <a:alpha val="55000"/>
              </a:schemeClr>
            </a:solidFill>
            <a:prstDash val="solid"/>
          </a:ln>
        </p:spPr>
      </p:sp>
      <p:pic>
        <p:nvPicPr>
          <p:cNvPr id="7" name="Icon 90" descr="Streamlit">    </p:cNvPr>
          <p:cNvPicPr>
            <a:picLocks noChangeAspect="1"/>
          </p:cNvPicPr>
          <p:nvPr/>
        </p:nvPicPr>
        <p:blipFill>
          <a:blip r:embed="rId1"/>
          <a:stretch>
            <a:fillRect/>
          </a:stretch>
        </p:blipFill>
        <p:spPr>
          <a:xfrm>
            <a:off x="2468880" y="1737360"/>
            <a:ext cx="274320" cy="274320"/>
          </a:xfrm>
          <a:prstGeom prst="rect">
            <a:avLst/>
          </a:prstGeom>
        </p:spPr>
      </p:pic>
      <p:sp>
        <p:nvSpPr>
          <p:cNvPr id="8" name="Text 91"/>
          <p:cNvSpPr txBox="1"/>
          <p:nvPr/>
        </p:nvSpPr>
        <p:spPr>
          <a:xfrm>
            <a:off x="3108960" y="1691640"/>
            <a:ext cx="2103120" cy="365760"/>
          </a:xfrm>
          <a:prstGeom prst="rect">
            <a:avLst/>
          </a:prstGeom>
          <a:noFill/>
          <a:ln/>
        </p:spPr>
        <p:txBody>
          <a:bodyPr wrap="square" lIns="0" tIns="0" rIns="0" bIns="0" rtlCol="0" anchor="t"/>
          <a:lstStyle/>
          <a:p>
            <a:pPr indent="0" marL="0">
              <a:buNone/>
            </a:pPr>
            <a:r>
              <a:rPr lang="en-US" sz="1800" b="1" dirty="0">
                <a:solidFill>
                  <a:schemeClr val="bg1"/>
                </a:solidFill>
              </a:rPr>
              <a:t>Streamlit</a:t>
            </a:r>
            <a:endParaRPr lang="en-US" sz="1800" dirty="0"/>
          </a:p>
        </p:txBody>
      </p:sp>
      <p:sp>
        <p:nvSpPr>
          <p:cNvPr id="9" name="Text 92"/>
          <p:cNvSpPr txBox="1"/>
          <p:nvPr/>
        </p:nvSpPr>
        <p:spPr>
          <a:xfrm>
            <a:off x="5212080" y="1581912"/>
            <a:ext cx="3474720" cy="585216"/>
          </a:xfrm>
          <a:prstGeom prst="rect">
            <a:avLst/>
          </a:prstGeom>
          <a:noFill/>
          <a:ln/>
        </p:spPr>
        <p:txBody>
          <a:bodyPr wrap="square" lIns="0" tIns="0" rIns="0" bIns="0" rtlCol="0" anchor="ctr"/>
          <a:lstStyle/>
          <a:p>
            <a:pPr indent="0" marL="0">
              <a:buNone/>
            </a:pPr>
            <a:r>
              <a:rPr lang="en-US" sz="1400" dirty="0">
                <a:solidFill>
                  <a:schemeClr val="bg2"/>
                </a:solidFill>
              </a:rPr>
              <a:t>Interactive trip duration and fare predictor</a:t>
            </a:r>
            <a:endParaRPr lang="en-US" sz="1400" dirty="0"/>
          </a:p>
        </p:txBody>
      </p:sp>
      <p:sp>
        <p:nvSpPr>
          <p:cNvPr id="10" name="Card 93"/>
          <p:cNvSpPr/>
          <p:nvPr/>
        </p:nvSpPr>
        <p:spPr>
          <a:xfrm>
            <a:off x="548640" y="2331720"/>
            <a:ext cx="8321040" cy="731520"/>
          </a:xfrm>
          <a:prstGeom prst="roundRect">
            <a:avLst>
              <a:gd name="adj" fmla="val 15000"/>
            </a:avLst>
          </a:prstGeom>
          <a:solidFill>
            <a:schemeClr val="tx2"/>
          </a:solidFill>
          <a:ln w="9525">
            <a:solidFill>
              <a:schemeClr val="accent2">
                <a:alpha val="45000"/>
              </a:schemeClr>
            </a:solidFill>
            <a:prstDash val="solid"/>
          </a:ln>
        </p:spPr>
      </p:sp>
      <p:sp>
        <p:nvSpPr>
          <p:cNvPr id="11" name="Text 94"/>
          <p:cNvSpPr txBox="1"/>
          <p:nvPr/>
        </p:nvSpPr>
        <p:spPr>
          <a:xfrm>
            <a:off x="777240" y="2560320"/>
            <a:ext cx="15544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VISUALIZATION</a:t>
            </a:r>
            <a:endParaRPr lang="en-US" sz="1100" dirty="0"/>
          </a:p>
        </p:txBody>
      </p:sp>
      <p:sp>
        <p:nvSpPr>
          <p:cNvPr id="12" name="Icon circle 95"/>
          <p:cNvSpPr/>
          <p:nvPr/>
        </p:nvSpPr>
        <p:spPr>
          <a:xfrm>
            <a:off x="2331720" y="2423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13" name="Icon 96" descr="Apache Superset">    </p:cNvPr>
          <p:cNvPicPr>
            <a:picLocks noChangeAspect="1"/>
          </p:cNvPicPr>
          <p:nvPr/>
        </p:nvPicPr>
        <p:blipFill>
          <a:blip r:embed="rId2"/>
          <a:stretch>
            <a:fillRect/>
          </a:stretch>
        </p:blipFill>
        <p:spPr>
          <a:xfrm>
            <a:off x="2468880" y="2560320"/>
            <a:ext cx="274320" cy="274320"/>
          </a:xfrm>
          <a:prstGeom prst="rect">
            <a:avLst/>
          </a:prstGeom>
        </p:spPr>
      </p:pic>
      <p:sp>
        <p:nvSpPr>
          <p:cNvPr id="14" name="Text 97"/>
          <p:cNvSpPr txBox="1"/>
          <p:nvPr/>
        </p:nvSpPr>
        <p:spPr>
          <a:xfrm>
            <a:off x="3108960" y="2514600"/>
            <a:ext cx="2103120" cy="365760"/>
          </a:xfrm>
          <a:prstGeom prst="rect">
            <a:avLst/>
          </a:prstGeom>
          <a:noFill/>
          <a:ln/>
        </p:spPr>
        <p:txBody>
          <a:bodyPr wrap="square" lIns="0" tIns="0" rIns="0" bIns="0" rtlCol="0" anchor="t"/>
          <a:lstStyle/>
          <a:p>
            <a:pPr indent="0" marL="0">
              <a:buNone/>
            </a:pPr>
            <a:r>
              <a:rPr lang="en-US" sz="1800" b="1" dirty="0">
                <a:solidFill>
                  <a:schemeClr val="bg1"/>
                </a:solidFill>
              </a:rPr>
              <a:t>Apache Superset</a:t>
            </a:r>
            <a:endParaRPr lang="en-US" sz="1800" dirty="0"/>
          </a:p>
        </p:txBody>
      </p:sp>
      <p:sp>
        <p:nvSpPr>
          <p:cNvPr id="15" name="Text 98"/>
          <p:cNvSpPr txBox="1"/>
          <p:nvPr/>
        </p:nvSpPr>
        <p:spPr>
          <a:xfrm>
            <a:off x="5212080" y="2404872"/>
            <a:ext cx="3474720" cy="585216"/>
          </a:xfrm>
          <a:prstGeom prst="rect">
            <a:avLst/>
          </a:prstGeom>
          <a:noFill/>
          <a:ln/>
        </p:spPr>
        <p:txBody>
          <a:bodyPr wrap="square" lIns="0" tIns="0" rIns="0" bIns="0" rtlCol="0" anchor="ctr"/>
          <a:lstStyle/>
          <a:p>
            <a:pPr indent="0" marL="0">
              <a:buNone/>
            </a:pPr>
            <a:r>
              <a:rPr lang="en-US" sz="1400" dirty="0">
                <a:solidFill>
                  <a:schemeClr val="bg2"/>
                </a:solidFill>
              </a:rPr>
              <a:t>Interactive dashboard with KPIs, charts and filters</a:t>
            </a:r>
            <a:endParaRPr lang="en-US" sz="1400" dirty="0"/>
          </a:p>
        </p:txBody>
      </p:sp>
      <p:sp>
        <p:nvSpPr>
          <p:cNvPr id="16" name="Card 99"/>
          <p:cNvSpPr/>
          <p:nvPr/>
        </p:nvSpPr>
        <p:spPr>
          <a:xfrm>
            <a:off x="548640" y="3154680"/>
            <a:ext cx="8321040" cy="731520"/>
          </a:xfrm>
          <a:prstGeom prst="roundRect">
            <a:avLst>
              <a:gd name="adj" fmla="val 15000"/>
            </a:avLst>
          </a:prstGeom>
          <a:solidFill>
            <a:schemeClr val="tx2"/>
          </a:solidFill>
          <a:ln w="9525">
            <a:solidFill>
              <a:schemeClr val="accent2">
                <a:alpha val="45000"/>
              </a:schemeClr>
            </a:solidFill>
            <a:prstDash val="solid"/>
          </a:ln>
        </p:spPr>
      </p:sp>
      <p:sp>
        <p:nvSpPr>
          <p:cNvPr id="17" name="Text 100"/>
          <p:cNvSpPr txBox="1"/>
          <p:nvPr/>
        </p:nvSpPr>
        <p:spPr>
          <a:xfrm>
            <a:off x="777240" y="3383280"/>
            <a:ext cx="15544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ANALYTICAL DB</a:t>
            </a:r>
            <a:endParaRPr lang="en-US" sz="1100" dirty="0"/>
          </a:p>
        </p:txBody>
      </p:sp>
      <p:sp>
        <p:nvSpPr>
          <p:cNvPr id="18" name="Icon circle 101"/>
          <p:cNvSpPr/>
          <p:nvPr/>
        </p:nvSpPr>
        <p:spPr>
          <a:xfrm>
            <a:off x="2331720" y="3246120"/>
            <a:ext cx="548640" cy="548640"/>
          </a:xfrm>
          <a:prstGeom prst="ellipse">
            <a:avLst/>
          </a:prstGeom>
          <a:solidFill>
            <a:schemeClr val="accent2">
              <a:alpha val="28000"/>
            </a:schemeClr>
          </a:solidFill>
          <a:ln w="9525">
            <a:solidFill>
              <a:schemeClr val="accent1">
                <a:alpha val="55000"/>
              </a:schemeClr>
            </a:solidFill>
            <a:prstDash val="solid"/>
          </a:ln>
        </p:spPr>
      </p:sp>
      <p:pic>
        <p:nvPicPr>
          <p:cNvPr id="19" name="Icon 102" descr="ClickHouse">    </p:cNvPr>
          <p:cNvPicPr>
            <a:picLocks noChangeAspect="1"/>
          </p:cNvPicPr>
          <p:nvPr/>
        </p:nvPicPr>
        <p:blipFill>
          <a:blip r:embed="rId3"/>
          <a:stretch>
            <a:fillRect/>
          </a:stretch>
        </p:blipFill>
        <p:spPr>
          <a:xfrm>
            <a:off x="2468880" y="3383280"/>
            <a:ext cx="274320" cy="274320"/>
          </a:xfrm>
          <a:prstGeom prst="rect">
            <a:avLst/>
          </a:prstGeom>
        </p:spPr>
      </p:pic>
      <p:sp>
        <p:nvSpPr>
          <p:cNvPr id="20" name="Text 103"/>
          <p:cNvSpPr txBox="1"/>
          <p:nvPr/>
        </p:nvSpPr>
        <p:spPr>
          <a:xfrm>
            <a:off x="3108960" y="3337560"/>
            <a:ext cx="2103120" cy="365760"/>
          </a:xfrm>
          <a:prstGeom prst="rect">
            <a:avLst/>
          </a:prstGeom>
          <a:noFill/>
          <a:ln/>
        </p:spPr>
        <p:txBody>
          <a:bodyPr wrap="square" lIns="0" tIns="0" rIns="0" bIns="0" rtlCol="0" anchor="t"/>
          <a:lstStyle/>
          <a:p>
            <a:pPr indent="0" marL="0">
              <a:buNone/>
            </a:pPr>
            <a:r>
              <a:rPr lang="en-US" sz="1800" b="1" dirty="0">
                <a:solidFill>
                  <a:schemeClr val="bg1"/>
                </a:solidFill>
              </a:rPr>
              <a:t>ClickHouse</a:t>
            </a:r>
            <a:endParaRPr lang="en-US" sz="1800" dirty="0"/>
          </a:p>
        </p:txBody>
      </p:sp>
      <p:sp>
        <p:nvSpPr>
          <p:cNvPr id="21" name="Text 104"/>
          <p:cNvSpPr txBox="1"/>
          <p:nvPr/>
        </p:nvSpPr>
        <p:spPr>
          <a:xfrm>
            <a:off x="5212080" y="3227832"/>
            <a:ext cx="3474720" cy="585216"/>
          </a:xfrm>
          <a:prstGeom prst="rect">
            <a:avLst/>
          </a:prstGeom>
          <a:noFill/>
          <a:ln/>
        </p:spPr>
        <p:txBody>
          <a:bodyPr wrap="square" lIns="0" tIns="0" rIns="0" bIns="0" rtlCol="0" anchor="ctr"/>
          <a:lstStyle/>
          <a:p>
            <a:pPr indent="0" marL="0">
              <a:buNone/>
            </a:pPr>
            <a:r>
              <a:rPr lang="en-US" sz="1400" dirty="0">
                <a:solidFill>
                  <a:schemeClr val="bg2"/>
                </a:solidFill>
              </a:rPr>
              <a:t>default.zone_hour for fast OLAP queries</a:t>
            </a:r>
            <a:endParaRPr lang="en-US" sz="1400" dirty="0"/>
          </a:p>
        </p:txBody>
      </p:sp>
      <p:sp>
        <p:nvSpPr>
          <p:cNvPr id="22" name="Card 105"/>
          <p:cNvSpPr/>
          <p:nvPr/>
        </p:nvSpPr>
        <p:spPr>
          <a:xfrm>
            <a:off x="548640" y="3977640"/>
            <a:ext cx="8321040" cy="731520"/>
          </a:xfrm>
          <a:prstGeom prst="roundRect">
            <a:avLst>
              <a:gd name="adj" fmla="val 15000"/>
            </a:avLst>
          </a:prstGeom>
          <a:solidFill>
            <a:schemeClr val="tx2"/>
          </a:solidFill>
          <a:ln w="9525">
            <a:solidFill>
              <a:schemeClr val="accent2">
                <a:alpha val="45000"/>
              </a:schemeClr>
            </a:solidFill>
            <a:prstDash val="solid"/>
          </a:ln>
        </p:spPr>
      </p:sp>
      <p:sp>
        <p:nvSpPr>
          <p:cNvPr id="23" name="Text 106"/>
          <p:cNvSpPr txBox="1"/>
          <p:nvPr/>
        </p:nvSpPr>
        <p:spPr>
          <a:xfrm>
            <a:off x="777240" y="4206240"/>
            <a:ext cx="15544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PROCESSING</a:t>
            </a:r>
            <a:endParaRPr lang="en-US" sz="1100" dirty="0"/>
          </a:p>
        </p:txBody>
      </p:sp>
      <p:sp>
        <p:nvSpPr>
          <p:cNvPr id="24" name="Icon circle 107"/>
          <p:cNvSpPr/>
          <p:nvPr/>
        </p:nvSpPr>
        <p:spPr>
          <a:xfrm>
            <a:off x="2331720" y="4069080"/>
            <a:ext cx="548640" cy="548640"/>
          </a:xfrm>
          <a:prstGeom prst="ellipse">
            <a:avLst/>
          </a:prstGeom>
          <a:solidFill>
            <a:schemeClr val="accent2">
              <a:alpha val="28000"/>
            </a:schemeClr>
          </a:solidFill>
          <a:ln w="9525">
            <a:solidFill>
              <a:schemeClr val="accent1">
                <a:alpha val="55000"/>
              </a:schemeClr>
            </a:solidFill>
            <a:prstDash val="solid"/>
          </a:ln>
        </p:spPr>
      </p:sp>
      <p:pic>
        <p:nvPicPr>
          <p:cNvPr id="25" name="Icon 108" descr="Apache Spark">    </p:cNvPr>
          <p:cNvPicPr>
            <a:picLocks noChangeAspect="1"/>
          </p:cNvPicPr>
          <p:nvPr/>
        </p:nvPicPr>
        <p:blipFill>
          <a:blip r:embed="rId4"/>
          <a:stretch>
            <a:fillRect/>
          </a:stretch>
        </p:blipFill>
        <p:spPr>
          <a:xfrm>
            <a:off x="2468880" y="4206240"/>
            <a:ext cx="274320" cy="274320"/>
          </a:xfrm>
          <a:prstGeom prst="rect">
            <a:avLst/>
          </a:prstGeom>
        </p:spPr>
      </p:pic>
      <p:sp>
        <p:nvSpPr>
          <p:cNvPr id="26" name="Text 109"/>
          <p:cNvSpPr txBox="1"/>
          <p:nvPr/>
        </p:nvSpPr>
        <p:spPr>
          <a:xfrm>
            <a:off x="3108960" y="4160520"/>
            <a:ext cx="2103120" cy="365760"/>
          </a:xfrm>
          <a:prstGeom prst="rect">
            <a:avLst/>
          </a:prstGeom>
          <a:noFill/>
          <a:ln/>
        </p:spPr>
        <p:txBody>
          <a:bodyPr wrap="square" lIns="0" tIns="0" rIns="0" bIns="0" rtlCol="0" anchor="t"/>
          <a:lstStyle/>
          <a:p>
            <a:pPr indent="0" marL="0">
              <a:buNone/>
            </a:pPr>
            <a:r>
              <a:rPr lang="en-US" sz="1800" b="1" dirty="0">
                <a:solidFill>
                  <a:schemeClr val="bg1"/>
                </a:solidFill>
              </a:rPr>
              <a:t>Apache Spark</a:t>
            </a:r>
            <a:endParaRPr lang="en-US" sz="1800" dirty="0"/>
          </a:p>
        </p:txBody>
      </p:sp>
      <p:sp>
        <p:nvSpPr>
          <p:cNvPr id="27" name="Text 110"/>
          <p:cNvSpPr txBox="1"/>
          <p:nvPr/>
        </p:nvSpPr>
        <p:spPr>
          <a:xfrm>
            <a:off x="5212080" y="4050792"/>
            <a:ext cx="3474720" cy="585216"/>
          </a:xfrm>
          <a:prstGeom prst="rect">
            <a:avLst/>
          </a:prstGeom>
          <a:noFill/>
          <a:ln/>
        </p:spPr>
        <p:txBody>
          <a:bodyPr wrap="square" lIns="0" tIns="0" rIns="0" bIns="0" rtlCol="0" anchor="ctr"/>
          <a:lstStyle/>
          <a:p>
            <a:pPr indent="0" marL="0">
              <a:buNone/>
            </a:pPr>
            <a:r>
              <a:rPr lang="en-US" sz="1400" dirty="0">
                <a:solidFill>
                  <a:schemeClr val="bg2"/>
                </a:solidFill>
              </a:rPr>
              <a:t>Distributed ETL: clean, transform, aggregate</a:t>
            </a:r>
            <a:endParaRPr lang="en-US" sz="1400" dirty="0"/>
          </a:p>
        </p:txBody>
      </p:sp>
      <p:sp>
        <p:nvSpPr>
          <p:cNvPr id="28" name="Card 111"/>
          <p:cNvSpPr/>
          <p:nvPr/>
        </p:nvSpPr>
        <p:spPr>
          <a:xfrm>
            <a:off x="548640" y="4800600"/>
            <a:ext cx="8321040" cy="731520"/>
          </a:xfrm>
          <a:prstGeom prst="roundRect">
            <a:avLst>
              <a:gd name="adj" fmla="val 15000"/>
            </a:avLst>
          </a:prstGeom>
          <a:solidFill>
            <a:schemeClr val="tx2"/>
          </a:solidFill>
          <a:ln w="9525">
            <a:solidFill>
              <a:schemeClr val="accent2">
                <a:alpha val="45000"/>
              </a:schemeClr>
            </a:solidFill>
            <a:prstDash val="solid"/>
          </a:ln>
        </p:spPr>
      </p:sp>
      <p:sp>
        <p:nvSpPr>
          <p:cNvPr id="29" name="Text 112"/>
          <p:cNvSpPr txBox="1"/>
          <p:nvPr/>
        </p:nvSpPr>
        <p:spPr>
          <a:xfrm>
            <a:off x="777240" y="5029200"/>
            <a:ext cx="15544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STORAGE</a:t>
            </a:r>
            <a:endParaRPr lang="en-US" sz="1100" dirty="0"/>
          </a:p>
        </p:txBody>
      </p:sp>
      <p:sp>
        <p:nvSpPr>
          <p:cNvPr id="30" name="Icon circle 113"/>
          <p:cNvSpPr/>
          <p:nvPr/>
        </p:nvSpPr>
        <p:spPr>
          <a:xfrm>
            <a:off x="2331720" y="4892040"/>
            <a:ext cx="548640" cy="548640"/>
          </a:xfrm>
          <a:prstGeom prst="ellipse">
            <a:avLst/>
          </a:prstGeom>
          <a:solidFill>
            <a:schemeClr val="accent2">
              <a:alpha val="28000"/>
            </a:schemeClr>
          </a:solidFill>
          <a:ln w="9525">
            <a:solidFill>
              <a:schemeClr val="accent1">
                <a:alpha val="55000"/>
              </a:schemeClr>
            </a:solidFill>
            <a:prstDash val="solid"/>
          </a:ln>
        </p:spPr>
      </p:sp>
      <p:pic>
        <p:nvPicPr>
          <p:cNvPr id="31" name="Icon 114" descr="Hadoop HDFS">    </p:cNvPr>
          <p:cNvPicPr>
            <a:picLocks noChangeAspect="1"/>
          </p:cNvPicPr>
          <p:nvPr/>
        </p:nvPicPr>
        <p:blipFill>
          <a:blip r:embed="rId5"/>
          <a:stretch>
            <a:fillRect/>
          </a:stretch>
        </p:blipFill>
        <p:spPr>
          <a:xfrm>
            <a:off x="2468880" y="5029200"/>
            <a:ext cx="274320" cy="274320"/>
          </a:xfrm>
          <a:prstGeom prst="rect">
            <a:avLst/>
          </a:prstGeom>
        </p:spPr>
      </p:pic>
      <p:sp>
        <p:nvSpPr>
          <p:cNvPr id="32" name="Text 115"/>
          <p:cNvSpPr txBox="1"/>
          <p:nvPr/>
        </p:nvSpPr>
        <p:spPr>
          <a:xfrm>
            <a:off x="3108960" y="4983480"/>
            <a:ext cx="2103120" cy="365760"/>
          </a:xfrm>
          <a:prstGeom prst="rect">
            <a:avLst/>
          </a:prstGeom>
          <a:noFill/>
          <a:ln/>
        </p:spPr>
        <p:txBody>
          <a:bodyPr wrap="square" lIns="0" tIns="0" rIns="0" bIns="0" rtlCol="0" anchor="t"/>
          <a:lstStyle/>
          <a:p>
            <a:pPr indent="0" marL="0">
              <a:buNone/>
            </a:pPr>
            <a:r>
              <a:rPr lang="en-US" sz="1800" b="1" dirty="0">
                <a:solidFill>
                  <a:schemeClr val="bg1"/>
                </a:solidFill>
              </a:rPr>
              <a:t>Hadoop HDFS</a:t>
            </a:r>
            <a:endParaRPr lang="en-US" sz="1800" dirty="0"/>
          </a:p>
        </p:txBody>
      </p:sp>
      <p:sp>
        <p:nvSpPr>
          <p:cNvPr id="33" name="Text 116"/>
          <p:cNvSpPr txBox="1"/>
          <p:nvPr/>
        </p:nvSpPr>
        <p:spPr>
          <a:xfrm>
            <a:off x="5212080" y="4873752"/>
            <a:ext cx="3474720" cy="585216"/>
          </a:xfrm>
          <a:prstGeom prst="rect">
            <a:avLst/>
          </a:prstGeom>
          <a:noFill/>
          <a:ln/>
        </p:spPr>
        <p:txBody>
          <a:bodyPr wrap="square" lIns="0" tIns="0" rIns="0" bIns="0" rtlCol="0" anchor="ctr"/>
          <a:lstStyle/>
          <a:p>
            <a:pPr indent="0" marL="0">
              <a:buNone/>
            </a:pPr>
            <a:r>
              <a:rPr lang="en-US" sz="1400" dirty="0">
                <a:solidFill>
                  <a:schemeClr val="bg2"/>
                </a:solidFill>
              </a:rPr>
              <a:t>Raw, staging and processed data in /data/nyc</a:t>
            </a:r>
            <a:endParaRPr lang="en-US" sz="1400" dirty="0"/>
          </a:p>
        </p:txBody>
      </p:sp>
      <p:sp>
        <p:nvSpPr>
          <p:cNvPr id="34" name="Card 117"/>
          <p:cNvSpPr/>
          <p:nvPr/>
        </p:nvSpPr>
        <p:spPr>
          <a:xfrm>
            <a:off x="9079992" y="1508760"/>
            <a:ext cx="2560320" cy="4023360"/>
          </a:xfrm>
          <a:prstGeom prst="roundRect">
            <a:avLst>
              <a:gd name="adj" fmla="val 4286"/>
            </a:avLst>
          </a:prstGeom>
          <a:solidFill>
            <a:schemeClr val="tx2"/>
          </a:solidFill>
          <a:ln w="9525">
            <a:solidFill>
              <a:schemeClr val="accent1">
                <a:alpha val="80000"/>
              </a:schemeClr>
            </a:solidFill>
            <a:prstDash val="solid"/>
          </a:ln>
        </p:spPr>
      </p:sp>
      <p:sp>
        <p:nvSpPr>
          <p:cNvPr id="35" name="Icon circle 118"/>
          <p:cNvSpPr/>
          <p:nvPr/>
        </p:nvSpPr>
        <p:spPr>
          <a:xfrm>
            <a:off x="9326880" y="1737360"/>
            <a:ext cx="640080" cy="640080"/>
          </a:xfrm>
          <a:prstGeom prst="ellipse">
            <a:avLst/>
          </a:prstGeom>
          <a:solidFill>
            <a:schemeClr val="accent2">
              <a:alpha val="28000"/>
            </a:schemeClr>
          </a:solidFill>
          <a:ln w="9525">
            <a:solidFill>
              <a:schemeClr val="accent1">
                <a:alpha val="55000"/>
              </a:schemeClr>
            </a:solidFill>
            <a:prstDash val="solid"/>
          </a:ln>
        </p:spPr>
      </p:sp>
      <p:pic>
        <p:nvPicPr>
          <p:cNvPr id="36" name="Icon 119" descr="Apache Airflow">    </p:cNvPr>
          <p:cNvPicPr>
            <a:picLocks noChangeAspect="1"/>
          </p:cNvPicPr>
          <p:nvPr/>
        </p:nvPicPr>
        <p:blipFill>
          <a:blip r:embed="rId6"/>
          <a:stretch>
            <a:fillRect/>
          </a:stretch>
        </p:blipFill>
        <p:spPr>
          <a:xfrm>
            <a:off x="9486900" y="1897380"/>
            <a:ext cx="320040" cy="320040"/>
          </a:xfrm>
          <a:prstGeom prst="rect">
            <a:avLst/>
          </a:prstGeom>
        </p:spPr>
      </p:pic>
      <p:sp>
        <p:nvSpPr>
          <p:cNvPr id="37" name="Text 120"/>
          <p:cNvSpPr txBox="1"/>
          <p:nvPr/>
        </p:nvSpPr>
        <p:spPr>
          <a:xfrm>
            <a:off x="10058400" y="1755648"/>
            <a:ext cx="1554480" cy="320040"/>
          </a:xfrm>
          <a:prstGeom prst="rect">
            <a:avLst/>
          </a:prstGeom>
          <a:noFill/>
          <a:ln/>
        </p:spPr>
        <p:txBody>
          <a:bodyPr wrap="square" lIns="0" tIns="0" rIns="0" bIns="0" rtlCol="0" anchor="t"/>
          <a:lstStyle/>
          <a:p>
            <a:pPr indent="0" marL="0">
              <a:buNone/>
            </a:pPr>
            <a:r>
              <a:rPr lang="en-US" sz="1600" b="1" dirty="0">
                <a:solidFill>
                  <a:schemeClr val="bg1"/>
                </a:solidFill>
              </a:rPr>
              <a:t>Apache Airflow</a:t>
            </a:r>
            <a:endParaRPr lang="en-US" sz="1600" dirty="0"/>
          </a:p>
        </p:txBody>
      </p:sp>
      <p:sp>
        <p:nvSpPr>
          <p:cNvPr id="38" name="Text 121"/>
          <p:cNvSpPr txBox="1"/>
          <p:nvPr/>
        </p:nvSpPr>
        <p:spPr>
          <a:xfrm>
            <a:off x="10058400" y="2084832"/>
            <a:ext cx="1554480" cy="274320"/>
          </a:xfrm>
          <a:prstGeom prst="rect">
            <a:avLst/>
          </a:prstGeom>
          <a:noFill/>
          <a:ln/>
        </p:spPr>
        <p:txBody>
          <a:bodyPr wrap="square" lIns="0" tIns="0" rIns="0" bIns="0" rtlCol="0" anchor="t"/>
          <a:lstStyle/>
          <a:p>
            <a:pPr indent="0" marL="0">
              <a:buNone/>
            </a:pPr>
            <a:r>
              <a:rPr lang="en-US" sz="1400" dirty="0">
                <a:solidFill>
                  <a:schemeClr val="accent1"/>
                </a:solidFill>
              </a:rPr>
              <a:t>Orchestration</a:t>
            </a:r>
            <a:endParaRPr lang="en-US" sz="1400" dirty="0"/>
          </a:p>
        </p:txBody>
      </p:sp>
      <p:sp>
        <p:nvSpPr>
          <p:cNvPr id="39" name="Card 122"/>
          <p:cNvSpPr/>
          <p:nvPr/>
        </p:nvSpPr>
        <p:spPr>
          <a:xfrm>
            <a:off x="9308592" y="2743200"/>
            <a:ext cx="2103120" cy="402336"/>
          </a:xfrm>
          <a:prstGeom prst="roundRect">
            <a:avLst>
              <a:gd name="adj" fmla="val 18182"/>
            </a:avLst>
          </a:prstGeom>
          <a:solidFill>
            <a:schemeClr val="tx1"/>
          </a:solidFill>
          <a:ln w="9525">
            <a:solidFill>
              <a:schemeClr val="accent4">
                <a:alpha val="70000"/>
              </a:schemeClr>
            </a:solidFill>
            <a:prstDash val="solid"/>
          </a:ln>
        </p:spPr>
      </p:sp>
      <p:sp>
        <p:nvSpPr>
          <p:cNvPr id="40" name="Text 123"/>
          <p:cNvSpPr txBox="1"/>
          <p:nvPr/>
        </p:nvSpPr>
        <p:spPr>
          <a:xfrm>
            <a:off x="9308592" y="2743200"/>
            <a:ext cx="2103120" cy="402336"/>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check_hdfs</a:t>
            </a:r>
            <a:endParaRPr lang="en-US" sz="1300" dirty="0"/>
          </a:p>
        </p:txBody>
      </p:sp>
      <p:sp>
        <p:nvSpPr>
          <p:cNvPr id="41" name="Card 124"/>
          <p:cNvSpPr/>
          <p:nvPr/>
        </p:nvSpPr>
        <p:spPr>
          <a:xfrm>
            <a:off x="9308592" y="3273552"/>
            <a:ext cx="2103120" cy="402336"/>
          </a:xfrm>
          <a:prstGeom prst="roundRect">
            <a:avLst>
              <a:gd name="adj" fmla="val 18182"/>
            </a:avLst>
          </a:prstGeom>
          <a:solidFill>
            <a:schemeClr val="tx1"/>
          </a:solidFill>
          <a:ln w="9525">
            <a:solidFill>
              <a:schemeClr val="accent4">
                <a:alpha val="70000"/>
              </a:schemeClr>
            </a:solidFill>
            <a:prstDash val="solid"/>
          </a:ln>
        </p:spPr>
      </p:sp>
      <p:sp>
        <p:nvSpPr>
          <p:cNvPr id="42" name="Text 125"/>
          <p:cNvSpPr txBox="1"/>
          <p:nvPr/>
        </p:nvSpPr>
        <p:spPr>
          <a:xfrm>
            <a:off x="9308592" y="3273552"/>
            <a:ext cx="2103120" cy="402336"/>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check_spark</a:t>
            </a:r>
            <a:endParaRPr lang="en-US" sz="1300" dirty="0"/>
          </a:p>
        </p:txBody>
      </p:sp>
      <p:sp>
        <p:nvSpPr>
          <p:cNvPr id="43" name="Card 126"/>
          <p:cNvSpPr/>
          <p:nvPr/>
        </p:nvSpPr>
        <p:spPr>
          <a:xfrm>
            <a:off x="9308592" y="3803904"/>
            <a:ext cx="2103120" cy="402336"/>
          </a:xfrm>
          <a:prstGeom prst="roundRect">
            <a:avLst>
              <a:gd name="adj" fmla="val 18182"/>
            </a:avLst>
          </a:prstGeom>
          <a:solidFill>
            <a:schemeClr val="tx1"/>
          </a:solidFill>
          <a:ln w="9525">
            <a:solidFill>
              <a:schemeClr val="accent4">
                <a:alpha val="70000"/>
              </a:schemeClr>
            </a:solidFill>
            <a:prstDash val="solid"/>
          </a:ln>
        </p:spPr>
      </p:sp>
      <p:sp>
        <p:nvSpPr>
          <p:cNvPr id="44" name="Text 127"/>
          <p:cNvSpPr txBox="1"/>
          <p:nvPr/>
        </p:nvSpPr>
        <p:spPr>
          <a:xfrm>
            <a:off x="9308592" y="3803904"/>
            <a:ext cx="2103120" cy="402336"/>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preflight_staging</a:t>
            </a:r>
            <a:endParaRPr lang="en-US" sz="1300" dirty="0"/>
          </a:p>
        </p:txBody>
      </p:sp>
      <p:sp>
        <p:nvSpPr>
          <p:cNvPr id="45" name="Card 128"/>
          <p:cNvSpPr/>
          <p:nvPr/>
        </p:nvSpPr>
        <p:spPr>
          <a:xfrm>
            <a:off x="9308592" y="4334256"/>
            <a:ext cx="2103120" cy="402336"/>
          </a:xfrm>
          <a:prstGeom prst="roundRect">
            <a:avLst>
              <a:gd name="adj" fmla="val 18182"/>
            </a:avLst>
          </a:prstGeom>
          <a:solidFill>
            <a:schemeClr val="tx1"/>
          </a:solidFill>
          <a:ln w="9525">
            <a:solidFill>
              <a:schemeClr val="accent4">
                <a:alpha val="70000"/>
              </a:schemeClr>
            </a:solidFill>
            <a:prstDash val="solid"/>
          </a:ln>
        </p:spPr>
      </p:sp>
      <p:sp>
        <p:nvSpPr>
          <p:cNvPr id="46" name="Text 129"/>
          <p:cNvSpPr txBox="1"/>
          <p:nvPr/>
        </p:nvSpPr>
        <p:spPr>
          <a:xfrm>
            <a:off x="9308592" y="4334256"/>
            <a:ext cx="2103120" cy="402336"/>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run_etl</a:t>
            </a:r>
            <a:endParaRPr lang="en-US" sz="1300" dirty="0"/>
          </a:p>
        </p:txBody>
      </p:sp>
      <p:sp>
        <p:nvSpPr>
          <p:cNvPr id="47" name="Card 130"/>
          <p:cNvSpPr/>
          <p:nvPr/>
        </p:nvSpPr>
        <p:spPr>
          <a:xfrm>
            <a:off x="9308592" y="4864608"/>
            <a:ext cx="2103120" cy="402336"/>
          </a:xfrm>
          <a:prstGeom prst="roundRect">
            <a:avLst>
              <a:gd name="adj" fmla="val 18182"/>
            </a:avLst>
          </a:prstGeom>
          <a:solidFill>
            <a:schemeClr val="tx1"/>
          </a:solidFill>
          <a:ln w="9525">
            <a:solidFill>
              <a:schemeClr val="accent4">
                <a:alpha val="70000"/>
              </a:schemeClr>
            </a:solidFill>
            <a:prstDash val="solid"/>
          </a:ln>
        </p:spPr>
      </p:sp>
      <p:sp>
        <p:nvSpPr>
          <p:cNvPr id="48" name="Text 131"/>
          <p:cNvSpPr txBox="1"/>
          <p:nvPr/>
        </p:nvSpPr>
        <p:spPr>
          <a:xfrm>
            <a:off x="9308592" y="4864608"/>
            <a:ext cx="2103120" cy="402336"/>
          </a:xfrm>
          <a:prstGeom prst="rect">
            <a:avLst/>
          </a:prstGeom>
          <a:noFill/>
          <a:ln/>
        </p:spPr>
        <p:txBody>
          <a:bodyPr wrap="square" lIns="0" tIns="0" rIns="0" bIns="0" rtlCol="0" anchor="ctr"/>
          <a:lstStyle/>
          <a:p>
            <a:pPr algn="ctr" indent="0" marL="0">
              <a:buNone/>
            </a:pPr>
            <a:r>
              <a:rPr lang="en-US" sz="1300" dirty="0">
                <a:solidFill>
                  <a:schemeClr val="bg1"/>
                </a:solidFill>
                <a:latin typeface="Courier New" pitchFamily="34" charset="0"/>
                <a:ea typeface="Courier New" pitchFamily="34" charset="-122"/>
                <a:cs typeface="Courier New" pitchFamily="34" charset="-120"/>
              </a:rPr>
              <a:t>validate_staging</a:t>
            </a:r>
            <a:endParaRPr lang="en-US" sz="1300" dirty="0"/>
          </a:p>
        </p:txBody>
      </p:sp>
      <p:sp>
        <p:nvSpPr>
          <p:cNvPr id="49" name="Card 132"/>
          <p:cNvSpPr/>
          <p:nvPr/>
        </p:nvSpPr>
        <p:spPr>
          <a:xfrm>
            <a:off x="548640" y="5687568"/>
            <a:ext cx="11094415" cy="621792"/>
          </a:xfrm>
          <a:prstGeom prst="roundRect">
            <a:avLst>
              <a:gd name="adj" fmla="val 17647"/>
            </a:avLst>
          </a:prstGeom>
          <a:solidFill>
            <a:schemeClr val="accent2">
              <a:alpha val="15000"/>
            </a:schemeClr>
          </a:solidFill>
          <a:ln w="9525">
            <a:solidFill>
              <a:schemeClr val="accent2">
                <a:alpha val="45000"/>
              </a:schemeClr>
            </a:solidFill>
            <a:prstDash val="solid"/>
          </a:ln>
        </p:spPr>
      </p:sp>
      <p:sp>
        <p:nvSpPr>
          <p:cNvPr id="50" name="Icon circle 133"/>
          <p:cNvSpPr/>
          <p:nvPr/>
        </p:nvSpPr>
        <p:spPr>
          <a:xfrm>
            <a:off x="777240" y="5705856"/>
            <a:ext cx="585216" cy="585216"/>
          </a:xfrm>
          <a:prstGeom prst="ellipse">
            <a:avLst/>
          </a:prstGeom>
          <a:solidFill>
            <a:schemeClr val="accent2">
              <a:alpha val="28000"/>
            </a:schemeClr>
          </a:solidFill>
          <a:ln w="9525">
            <a:solidFill>
              <a:schemeClr val="accent1">
                <a:alpha val="55000"/>
              </a:schemeClr>
            </a:solidFill>
            <a:prstDash val="solid"/>
          </a:ln>
        </p:spPr>
      </p:sp>
      <p:pic>
        <p:nvPicPr>
          <p:cNvPr id="51" name="Icon 134" descr="Docker">    </p:cNvPr>
          <p:cNvPicPr>
            <a:picLocks noChangeAspect="1"/>
          </p:cNvPicPr>
          <p:nvPr/>
        </p:nvPicPr>
        <p:blipFill>
          <a:blip r:embed="rId7"/>
          <a:stretch>
            <a:fillRect/>
          </a:stretch>
        </p:blipFill>
        <p:spPr>
          <a:xfrm>
            <a:off x="923544" y="5852160"/>
            <a:ext cx="292608" cy="292608"/>
          </a:xfrm>
          <a:prstGeom prst="rect">
            <a:avLst/>
          </a:prstGeom>
        </p:spPr>
      </p:pic>
      <p:sp>
        <p:nvSpPr>
          <p:cNvPr id="52" name="Text 135"/>
          <p:cNvSpPr txBox="1"/>
          <p:nvPr/>
        </p:nvSpPr>
        <p:spPr>
          <a:xfrm>
            <a:off x="1554480" y="5705856"/>
            <a:ext cx="1371600" cy="585216"/>
          </a:xfrm>
          <a:prstGeom prst="rect">
            <a:avLst/>
          </a:prstGeom>
          <a:noFill/>
          <a:ln/>
        </p:spPr>
        <p:txBody>
          <a:bodyPr wrap="square" lIns="0" tIns="0" rIns="0" bIns="0" rtlCol="0" anchor="ctr"/>
          <a:lstStyle/>
          <a:p>
            <a:pPr indent="0" marL="0">
              <a:buNone/>
            </a:pPr>
            <a:r>
              <a:rPr lang="en-US" sz="1800" b="1" dirty="0">
                <a:solidFill>
                  <a:schemeClr val="bg1"/>
                </a:solidFill>
              </a:rPr>
              <a:t>Docker</a:t>
            </a:r>
            <a:endParaRPr lang="en-US" sz="1800" dirty="0"/>
          </a:p>
        </p:txBody>
      </p:sp>
      <p:sp>
        <p:nvSpPr>
          <p:cNvPr id="53" name="Text 136"/>
          <p:cNvSpPr txBox="1"/>
          <p:nvPr/>
        </p:nvSpPr>
        <p:spPr>
          <a:xfrm>
            <a:off x="2926080" y="5705856"/>
            <a:ext cx="8503920" cy="585216"/>
          </a:xfrm>
          <a:prstGeom prst="rect">
            <a:avLst/>
          </a:prstGeom>
          <a:noFill/>
          <a:ln/>
        </p:spPr>
        <p:txBody>
          <a:bodyPr wrap="square" lIns="0" tIns="0" rIns="0" bIns="0" rtlCol="0" anchor="ctr"/>
          <a:lstStyle/>
          <a:p>
            <a:pPr indent="0" marL="0">
              <a:buNone/>
            </a:pPr>
            <a:r>
              <a:rPr lang="en-US" sz="1600" dirty="0">
                <a:solidFill>
                  <a:schemeClr val="bg2"/>
                </a:solidFill>
              </a:rPr>
              <a:t>Every service runs as a container: consistent, isolated and reproducible</a:t>
            </a:r>
            <a:endParaRPr lang="en-US" sz="16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37"/>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TECHNOLOGIES</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Technologies Used (1/2)</a:t>
            </a:r>
            <a:endParaRPr lang="en-US" sz="3600" dirty="0"/>
          </a:p>
        </p:txBody>
      </p:sp>
      <p:sp>
        <p:nvSpPr>
          <p:cNvPr id="4" name="Text 138"/>
          <p:cNvSpPr txBox="1"/>
          <p:nvPr/>
        </p:nvSpPr>
        <p:spPr>
          <a:xfrm>
            <a:off x="1691640" y="1508760"/>
            <a:ext cx="2286000" cy="274320"/>
          </a:xfrm>
          <a:prstGeom prst="rect">
            <a:avLst/>
          </a:prstGeom>
          <a:noFill/>
          <a:ln/>
        </p:spPr>
        <p:txBody>
          <a:bodyPr wrap="square" lIns="0" tIns="0" rIns="0" bIns="0" rtlCol="0" anchor="t"/>
          <a:lstStyle/>
          <a:p>
            <a:pPr indent="0" marL="0">
              <a:buNone/>
            </a:pPr>
            <a:r>
              <a:rPr lang="en-US" sz="1100" b="1" spc="200" kern="0" dirty="0">
                <a:solidFill>
                  <a:schemeClr val="bg2"/>
                </a:solidFill>
              </a:rPr>
              <a:t>TECHNOLOGY</a:t>
            </a:r>
            <a:endParaRPr lang="en-US" sz="1100" dirty="0"/>
          </a:p>
        </p:txBody>
      </p:sp>
      <p:sp>
        <p:nvSpPr>
          <p:cNvPr id="5" name="Text 139"/>
          <p:cNvSpPr txBox="1"/>
          <p:nvPr/>
        </p:nvSpPr>
        <p:spPr>
          <a:xfrm>
            <a:off x="4206240" y="1508760"/>
            <a:ext cx="3657600" cy="274320"/>
          </a:xfrm>
          <a:prstGeom prst="rect">
            <a:avLst/>
          </a:prstGeom>
          <a:noFill/>
          <a:ln/>
        </p:spPr>
        <p:txBody>
          <a:bodyPr wrap="square" lIns="0" tIns="0" rIns="0" bIns="0" rtlCol="0" anchor="t"/>
          <a:lstStyle/>
          <a:p>
            <a:pPr indent="0" marL="0">
              <a:buNone/>
            </a:pPr>
            <a:r>
              <a:rPr lang="en-US" sz="1100" b="1" spc="200" kern="0" dirty="0">
                <a:solidFill>
                  <a:schemeClr val="bg2"/>
                </a:solidFill>
              </a:rPr>
              <a:t>WHAT DOES IT DO?</a:t>
            </a:r>
            <a:endParaRPr lang="en-US" sz="1100" dirty="0"/>
          </a:p>
        </p:txBody>
      </p:sp>
      <p:sp>
        <p:nvSpPr>
          <p:cNvPr id="6" name="Text 140"/>
          <p:cNvSpPr txBox="1"/>
          <p:nvPr/>
        </p:nvSpPr>
        <p:spPr>
          <a:xfrm>
            <a:off x="8138160" y="1508760"/>
            <a:ext cx="3383280" cy="274320"/>
          </a:xfrm>
          <a:prstGeom prst="rect">
            <a:avLst/>
          </a:prstGeom>
          <a:noFill/>
          <a:ln/>
        </p:spPr>
        <p:txBody>
          <a:bodyPr wrap="square" lIns="0" tIns="0" rIns="0" bIns="0" rtlCol="0" anchor="t"/>
          <a:lstStyle/>
          <a:p>
            <a:pPr indent="0" marL="0">
              <a:buNone/>
            </a:pPr>
            <a:r>
              <a:rPr lang="en-US" sz="1100" b="1" spc="200" kern="0" dirty="0">
                <a:solidFill>
                  <a:schemeClr val="bg2"/>
                </a:solidFill>
              </a:rPr>
              <a:t>WHY DID WE USE IT?</a:t>
            </a:r>
            <a:endParaRPr lang="en-US" sz="1100" dirty="0"/>
          </a:p>
        </p:txBody>
      </p:sp>
      <p:sp>
        <p:nvSpPr>
          <p:cNvPr id="7" name="Card 141"/>
          <p:cNvSpPr/>
          <p:nvPr/>
        </p:nvSpPr>
        <p:spPr>
          <a:xfrm>
            <a:off x="548640" y="187452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8" name="Icon circle 142"/>
          <p:cNvSpPr/>
          <p:nvPr/>
        </p:nvSpPr>
        <p:spPr>
          <a:xfrm>
            <a:off x="777240" y="2011680"/>
            <a:ext cx="713232" cy="713232"/>
          </a:xfrm>
          <a:prstGeom prst="ellipse">
            <a:avLst/>
          </a:prstGeom>
          <a:solidFill>
            <a:schemeClr val="accent2">
              <a:alpha val="28000"/>
            </a:schemeClr>
          </a:solidFill>
          <a:ln w="9525">
            <a:solidFill>
              <a:schemeClr val="accent1">
                <a:alpha val="55000"/>
              </a:schemeClr>
            </a:solidFill>
            <a:prstDash val="solid"/>
          </a:ln>
        </p:spPr>
      </p:sp>
      <p:pic>
        <p:nvPicPr>
          <p:cNvPr id="9" name="Icon 143" descr="Docker">    </p:cNvPr>
          <p:cNvPicPr>
            <a:picLocks noChangeAspect="1"/>
          </p:cNvPicPr>
          <p:nvPr/>
        </p:nvPicPr>
        <p:blipFill>
          <a:blip r:embed="rId1"/>
          <a:stretch>
            <a:fillRect/>
          </a:stretch>
        </p:blipFill>
        <p:spPr>
          <a:xfrm>
            <a:off x="955548" y="2189988"/>
            <a:ext cx="356616" cy="356616"/>
          </a:xfrm>
          <a:prstGeom prst="rect">
            <a:avLst/>
          </a:prstGeom>
        </p:spPr>
      </p:pic>
      <p:sp>
        <p:nvSpPr>
          <p:cNvPr id="10" name="Text 144"/>
          <p:cNvSpPr txBox="1"/>
          <p:nvPr/>
        </p:nvSpPr>
        <p:spPr>
          <a:xfrm>
            <a:off x="1691640" y="2002536"/>
            <a:ext cx="2377440" cy="365760"/>
          </a:xfrm>
          <a:prstGeom prst="rect">
            <a:avLst/>
          </a:prstGeom>
          <a:noFill/>
          <a:ln/>
        </p:spPr>
        <p:txBody>
          <a:bodyPr wrap="square" lIns="0" tIns="0" rIns="0" bIns="0" rtlCol="0" anchor="t"/>
          <a:lstStyle/>
          <a:p>
            <a:pPr indent="0" marL="0">
              <a:buNone/>
            </a:pPr>
            <a:r>
              <a:rPr lang="en-US" sz="2000" b="1" dirty="0">
                <a:solidFill>
                  <a:schemeClr val="bg1"/>
                </a:solidFill>
              </a:rPr>
              <a:t>Docker</a:t>
            </a:r>
            <a:endParaRPr lang="en-US" sz="2000" dirty="0"/>
          </a:p>
        </p:txBody>
      </p:sp>
      <p:sp>
        <p:nvSpPr>
          <p:cNvPr id="11" name="Text 145"/>
          <p:cNvSpPr txBox="1"/>
          <p:nvPr/>
        </p:nvSpPr>
        <p:spPr>
          <a:xfrm>
            <a:off x="1691640" y="238658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Containerization</a:t>
            </a:r>
            <a:endParaRPr lang="en-US" sz="1400" dirty="0"/>
          </a:p>
        </p:txBody>
      </p:sp>
      <p:sp>
        <p:nvSpPr>
          <p:cNvPr id="12" name="Text 146"/>
          <p:cNvSpPr txBox="1"/>
          <p:nvPr/>
        </p:nvSpPr>
        <p:spPr>
          <a:xfrm>
            <a:off x="4206240" y="1965960"/>
            <a:ext cx="3657600" cy="804672"/>
          </a:xfrm>
          <a:prstGeom prst="rect">
            <a:avLst/>
          </a:prstGeom>
          <a:noFill/>
          <a:ln/>
        </p:spPr>
        <p:txBody>
          <a:bodyPr wrap="square" lIns="0" tIns="0" rIns="0" bIns="0" rtlCol="0" anchor="ctr"/>
          <a:lstStyle/>
          <a:p>
            <a:pPr indent="0" marL="0">
              <a:buNone/>
            </a:pPr>
            <a:r>
              <a:rPr lang="en-US" sz="1500" dirty="0">
                <a:solidFill>
                  <a:schemeClr val="bg1"/>
                </a:solidFill>
              </a:rPr>
              <a:t>Containerizes the complete Big Data environment</a:t>
            </a:r>
            <a:endParaRPr lang="en-US" sz="1500" dirty="0"/>
          </a:p>
        </p:txBody>
      </p:sp>
      <p:sp>
        <p:nvSpPr>
          <p:cNvPr id="13" name="Text 147"/>
          <p:cNvSpPr txBox="1"/>
          <p:nvPr/>
        </p:nvSpPr>
        <p:spPr>
          <a:xfrm>
            <a:off x="8138160" y="1965960"/>
            <a:ext cx="3383280" cy="804672"/>
          </a:xfrm>
          <a:prstGeom prst="rect">
            <a:avLst/>
          </a:prstGeom>
          <a:noFill/>
          <a:ln/>
        </p:spPr>
        <p:txBody>
          <a:bodyPr wrap="square" lIns="0" tIns="0" rIns="0" bIns="0" rtlCol="0" anchor="ctr"/>
          <a:lstStyle/>
          <a:p>
            <a:pPr indent="0" marL="0">
              <a:buNone/>
            </a:pPr>
            <a:r>
              <a:rPr lang="en-US" sz="1500" dirty="0">
                <a:solidFill>
                  <a:schemeClr val="bg2"/>
                </a:solidFill>
              </a:rPr>
              <a:t>Many distributed services: isolated, consistent and reproducible setup</a:t>
            </a:r>
            <a:endParaRPr lang="en-US" sz="1500" dirty="0"/>
          </a:p>
        </p:txBody>
      </p:sp>
      <p:sp>
        <p:nvSpPr>
          <p:cNvPr id="14" name="Card 148"/>
          <p:cNvSpPr/>
          <p:nvPr/>
        </p:nvSpPr>
        <p:spPr>
          <a:xfrm>
            <a:off x="548640" y="297180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15" name="Icon circle 149"/>
          <p:cNvSpPr/>
          <p:nvPr/>
        </p:nvSpPr>
        <p:spPr>
          <a:xfrm>
            <a:off x="777240" y="3108960"/>
            <a:ext cx="713232" cy="713232"/>
          </a:xfrm>
          <a:prstGeom prst="ellipse">
            <a:avLst/>
          </a:prstGeom>
          <a:solidFill>
            <a:schemeClr val="accent2">
              <a:alpha val="28000"/>
            </a:schemeClr>
          </a:solidFill>
          <a:ln w="9525">
            <a:solidFill>
              <a:schemeClr val="accent1">
                <a:alpha val="55000"/>
              </a:schemeClr>
            </a:solidFill>
            <a:prstDash val="solid"/>
          </a:ln>
        </p:spPr>
      </p:sp>
      <p:pic>
        <p:nvPicPr>
          <p:cNvPr id="16" name="Icon 150" descr="Hadoop HDFS">    </p:cNvPr>
          <p:cNvPicPr>
            <a:picLocks noChangeAspect="1"/>
          </p:cNvPicPr>
          <p:nvPr/>
        </p:nvPicPr>
        <p:blipFill>
          <a:blip r:embed="rId2"/>
          <a:stretch>
            <a:fillRect/>
          </a:stretch>
        </p:blipFill>
        <p:spPr>
          <a:xfrm>
            <a:off x="955548" y="3287268"/>
            <a:ext cx="356616" cy="356616"/>
          </a:xfrm>
          <a:prstGeom prst="rect">
            <a:avLst/>
          </a:prstGeom>
        </p:spPr>
      </p:pic>
      <p:sp>
        <p:nvSpPr>
          <p:cNvPr id="17" name="Text 151"/>
          <p:cNvSpPr txBox="1"/>
          <p:nvPr/>
        </p:nvSpPr>
        <p:spPr>
          <a:xfrm>
            <a:off x="1691640" y="3099816"/>
            <a:ext cx="2377440" cy="365760"/>
          </a:xfrm>
          <a:prstGeom prst="rect">
            <a:avLst/>
          </a:prstGeom>
          <a:noFill/>
          <a:ln/>
        </p:spPr>
        <p:txBody>
          <a:bodyPr wrap="square" lIns="0" tIns="0" rIns="0" bIns="0" rtlCol="0" anchor="t"/>
          <a:lstStyle/>
          <a:p>
            <a:pPr indent="0" marL="0">
              <a:buNone/>
            </a:pPr>
            <a:r>
              <a:rPr lang="en-US" sz="2000" b="1" dirty="0">
                <a:solidFill>
                  <a:schemeClr val="bg1"/>
                </a:solidFill>
              </a:rPr>
              <a:t>Hadoop HDFS</a:t>
            </a:r>
            <a:endParaRPr lang="en-US" sz="2000" dirty="0"/>
          </a:p>
        </p:txBody>
      </p:sp>
      <p:sp>
        <p:nvSpPr>
          <p:cNvPr id="18" name="Text 152"/>
          <p:cNvSpPr txBox="1"/>
          <p:nvPr/>
        </p:nvSpPr>
        <p:spPr>
          <a:xfrm>
            <a:off x="1691640" y="348386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Distributed storage</a:t>
            </a:r>
            <a:endParaRPr lang="en-US" sz="1400" dirty="0"/>
          </a:p>
        </p:txBody>
      </p:sp>
      <p:sp>
        <p:nvSpPr>
          <p:cNvPr id="19" name="Text 153"/>
          <p:cNvSpPr txBox="1"/>
          <p:nvPr/>
        </p:nvSpPr>
        <p:spPr>
          <a:xfrm>
            <a:off x="4206240" y="3063240"/>
            <a:ext cx="3657600" cy="804672"/>
          </a:xfrm>
          <a:prstGeom prst="rect">
            <a:avLst/>
          </a:prstGeom>
          <a:noFill/>
          <a:ln/>
        </p:spPr>
        <p:txBody>
          <a:bodyPr wrap="square" lIns="0" tIns="0" rIns="0" bIns="0" rtlCol="0" anchor="ctr"/>
          <a:lstStyle/>
          <a:p>
            <a:pPr indent="0" marL="0">
              <a:buNone/>
            </a:pPr>
            <a:r>
              <a:rPr lang="en-US" sz="1500" dirty="0">
                <a:solidFill>
                  <a:schemeClr val="bg1"/>
                </a:solidFill>
              </a:rPr>
              <a:t>Stores raw, staging and processed data across nodes</a:t>
            </a:r>
            <a:endParaRPr lang="en-US" sz="1500" dirty="0"/>
          </a:p>
        </p:txBody>
      </p:sp>
      <p:sp>
        <p:nvSpPr>
          <p:cNvPr id="20" name="Text 154"/>
          <p:cNvSpPr txBox="1"/>
          <p:nvPr/>
        </p:nvSpPr>
        <p:spPr>
          <a:xfrm>
            <a:off x="8138160" y="3063240"/>
            <a:ext cx="3383280" cy="804672"/>
          </a:xfrm>
          <a:prstGeom prst="rect">
            <a:avLst/>
          </a:prstGeom>
          <a:noFill/>
          <a:ln/>
        </p:spPr>
        <p:txBody>
          <a:bodyPr wrap="square" lIns="0" tIns="0" rIns="0" bIns="0" rtlCol="0" anchor="ctr"/>
          <a:lstStyle/>
          <a:p>
            <a:pPr indent="0" marL="0">
              <a:buNone/>
            </a:pPr>
            <a:r>
              <a:rPr lang="en-US" sz="1500" dirty="0">
                <a:solidFill>
                  <a:schemeClr val="bg2"/>
                </a:solidFill>
              </a:rPr>
              <a:t>Designed for large datasets, with fault tolerance</a:t>
            </a:r>
            <a:endParaRPr lang="en-US" sz="1500" dirty="0"/>
          </a:p>
        </p:txBody>
      </p:sp>
      <p:sp>
        <p:nvSpPr>
          <p:cNvPr id="21" name="Card 155"/>
          <p:cNvSpPr/>
          <p:nvPr/>
        </p:nvSpPr>
        <p:spPr>
          <a:xfrm>
            <a:off x="548640" y="406908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22" name="Icon circle 156"/>
          <p:cNvSpPr/>
          <p:nvPr/>
        </p:nvSpPr>
        <p:spPr>
          <a:xfrm>
            <a:off x="777240" y="4206240"/>
            <a:ext cx="713232" cy="713232"/>
          </a:xfrm>
          <a:prstGeom prst="ellipse">
            <a:avLst/>
          </a:prstGeom>
          <a:solidFill>
            <a:schemeClr val="accent2">
              <a:alpha val="28000"/>
            </a:schemeClr>
          </a:solidFill>
          <a:ln w="9525">
            <a:solidFill>
              <a:schemeClr val="accent1">
                <a:alpha val="55000"/>
              </a:schemeClr>
            </a:solidFill>
            <a:prstDash val="solid"/>
          </a:ln>
        </p:spPr>
      </p:sp>
      <p:pic>
        <p:nvPicPr>
          <p:cNvPr id="23" name="Icon 157" descr="Apache Spark">    </p:cNvPr>
          <p:cNvPicPr>
            <a:picLocks noChangeAspect="1"/>
          </p:cNvPicPr>
          <p:nvPr/>
        </p:nvPicPr>
        <p:blipFill>
          <a:blip r:embed="rId3"/>
          <a:stretch>
            <a:fillRect/>
          </a:stretch>
        </p:blipFill>
        <p:spPr>
          <a:xfrm>
            <a:off x="955548" y="4384548"/>
            <a:ext cx="356616" cy="356616"/>
          </a:xfrm>
          <a:prstGeom prst="rect">
            <a:avLst/>
          </a:prstGeom>
        </p:spPr>
      </p:pic>
      <p:sp>
        <p:nvSpPr>
          <p:cNvPr id="24" name="Text 158"/>
          <p:cNvSpPr txBox="1"/>
          <p:nvPr/>
        </p:nvSpPr>
        <p:spPr>
          <a:xfrm>
            <a:off x="1691640" y="4197096"/>
            <a:ext cx="2377440" cy="365760"/>
          </a:xfrm>
          <a:prstGeom prst="rect">
            <a:avLst/>
          </a:prstGeom>
          <a:noFill/>
          <a:ln/>
        </p:spPr>
        <p:txBody>
          <a:bodyPr wrap="square" lIns="0" tIns="0" rIns="0" bIns="0" rtlCol="0" anchor="t"/>
          <a:lstStyle/>
          <a:p>
            <a:pPr indent="0" marL="0">
              <a:buNone/>
            </a:pPr>
            <a:r>
              <a:rPr lang="en-US" sz="2000" b="1" dirty="0">
                <a:solidFill>
                  <a:schemeClr val="bg1"/>
                </a:solidFill>
              </a:rPr>
              <a:t>Apache Spark</a:t>
            </a:r>
            <a:endParaRPr lang="en-US" sz="2000" dirty="0"/>
          </a:p>
        </p:txBody>
      </p:sp>
      <p:sp>
        <p:nvSpPr>
          <p:cNvPr id="25" name="Text 159"/>
          <p:cNvSpPr txBox="1"/>
          <p:nvPr/>
        </p:nvSpPr>
        <p:spPr>
          <a:xfrm>
            <a:off x="1691640" y="458114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Distributed processing</a:t>
            </a:r>
            <a:endParaRPr lang="en-US" sz="1400" dirty="0"/>
          </a:p>
        </p:txBody>
      </p:sp>
      <p:sp>
        <p:nvSpPr>
          <p:cNvPr id="26" name="Text 160"/>
          <p:cNvSpPr txBox="1"/>
          <p:nvPr/>
        </p:nvSpPr>
        <p:spPr>
          <a:xfrm>
            <a:off x="4206240" y="4160520"/>
            <a:ext cx="3657600" cy="804672"/>
          </a:xfrm>
          <a:prstGeom prst="rect">
            <a:avLst/>
          </a:prstGeom>
          <a:noFill/>
          <a:ln/>
        </p:spPr>
        <p:txBody>
          <a:bodyPr wrap="square" lIns="0" tIns="0" rIns="0" bIns="0" rtlCol="0" anchor="ctr"/>
          <a:lstStyle/>
          <a:p>
            <a:pPr indent="0" marL="0">
              <a:buNone/>
            </a:pPr>
            <a:r>
              <a:rPr lang="en-US" sz="1500" dirty="0">
                <a:solidFill>
                  <a:schemeClr val="bg1"/>
                </a:solidFill>
              </a:rPr>
              <a:t>ETL: data cleaning, transformation and aggregation</a:t>
            </a:r>
            <a:endParaRPr lang="en-US" sz="1500" dirty="0"/>
          </a:p>
        </p:txBody>
      </p:sp>
      <p:sp>
        <p:nvSpPr>
          <p:cNvPr id="27" name="Text 161"/>
          <p:cNvSpPr txBox="1"/>
          <p:nvPr/>
        </p:nvSpPr>
        <p:spPr>
          <a:xfrm>
            <a:off x="8138160" y="4160520"/>
            <a:ext cx="3383280" cy="804672"/>
          </a:xfrm>
          <a:prstGeom prst="rect">
            <a:avLst/>
          </a:prstGeom>
          <a:noFill/>
          <a:ln/>
        </p:spPr>
        <p:txBody>
          <a:bodyPr wrap="square" lIns="0" tIns="0" rIns="0" bIns="0" rtlCol="0" anchor="ctr"/>
          <a:lstStyle/>
          <a:p>
            <a:pPr indent="0" marL="0">
              <a:buNone/>
            </a:pPr>
            <a:r>
              <a:rPr lang="en-US" sz="1500" dirty="0">
                <a:solidFill>
                  <a:schemeClr val="bg2"/>
                </a:solidFill>
              </a:rPr>
              <a:t>Faster and more flexible than single-machine processing; reads Parquet on HDFS directly</a:t>
            </a:r>
            <a:endParaRPr lang="en-US" sz="1500" dirty="0"/>
          </a:p>
        </p:txBody>
      </p:sp>
      <p:sp>
        <p:nvSpPr>
          <p:cNvPr id="28" name="Card 162"/>
          <p:cNvSpPr/>
          <p:nvPr/>
        </p:nvSpPr>
        <p:spPr>
          <a:xfrm>
            <a:off x="548640" y="516636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29" name="Icon circle 163"/>
          <p:cNvSpPr/>
          <p:nvPr/>
        </p:nvSpPr>
        <p:spPr>
          <a:xfrm>
            <a:off x="777240" y="5303520"/>
            <a:ext cx="713232" cy="713232"/>
          </a:xfrm>
          <a:prstGeom prst="ellipse">
            <a:avLst/>
          </a:prstGeom>
          <a:solidFill>
            <a:schemeClr val="accent2">
              <a:alpha val="28000"/>
            </a:schemeClr>
          </a:solidFill>
          <a:ln w="9525">
            <a:solidFill>
              <a:schemeClr val="accent1">
                <a:alpha val="55000"/>
              </a:schemeClr>
            </a:solidFill>
            <a:prstDash val="solid"/>
          </a:ln>
        </p:spPr>
      </p:sp>
      <p:pic>
        <p:nvPicPr>
          <p:cNvPr id="30" name="Icon 164" descr="Apache Airflow">    </p:cNvPr>
          <p:cNvPicPr>
            <a:picLocks noChangeAspect="1"/>
          </p:cNvPicPr>
          <p:nvPr/>
        </p:nvPicPr>
        <p:blipFill>
          <a:blip r:embed="rId4"/>
          <a:stretch>
            <a:fillRect/>
          </a:stretch>
        </p:blipFill>
        <p:spPr>
          <a:xfrm>
            <a:off x="955548" y="5481828"/>
            <a:ext cx="356616" cy="356616"/>
          </a:xfrm>
          <a:prstGeom prst="rect">
            <a:avLst/>
          </a:prstGeom>
        </p:spPr>
      </p:pic>
      <p:sp>
        <p:nvSpPr>
          <p:cNvPr id="31" name="Text 165"/>
          <p:cNvSpPr txBox="1"/>
          <p:nvPr/>
        </p:nvSpPr>
        <p:spPr>
          <a:xfrm>
            <a:off x="1691640" y="5294376"/>
            <a:ext cx="2377440" cy="365760"/>
          </a:xfrm>
          <a:prstGeom prst="rect">
            <a:avLst/>
          </a:prstGeom>
          <a:noFill/>
          <a:ln/>
        </p:spPr>
        <p:txBody>
          <a:bodyPr wrap="square" lIns="0" tIns="0" rIns="0" bIns="0" rtlCol="0" anchor="t"/>
          <a:lstStyle/>
          <a:p>
            <a:pPr indent="0" marL="0">
              <a:buNone/>
            </a:pPr>
            <a:r>
              <a:rPr lang="en-US" sz="2000" b="1" dirty="0">
                <a:solidFill>
                  <a:schemeClr val="bg1"/>
                </a:solidFill>
              </a:rPr>
              <a:t>Apache Airflow</a:t>
            </a:r>
            <a:endParaRPr lang="en-US" sz="2000" dirty="0"/>
          </a:p>
        </p:txBody>
      </p:sp>
      <p:sp>
        <p:nvSpPr>
          <p:cNvPr id="32" name="Text 166"/>
          <p:cNvSpPr txBox="1"/>
          <p:nvPr/>
        </p:nvSpPr>
        <p:spPr>
          <a:xfrm>
            <a:off x="1691640" y="567842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Orchestration</a:t>
            </a:r>
            <a:endParaRPr lang="en-US" sz="1400" dirty="0"/>
          </a:p>
        </p:txBody>
      </p:sp>
      <p:sp>
        <p:nvSpPr>
          <p:cNvPr id="33" name="Text 167"/>
          <p:cNvSpPr txBox="1"/>
          <p:nvPr/>
        </p:nvSpPr>
        <p:spPr>
          <a:xfrm>
            <a:off x="4206240" y="5257800"/>
            <a:ext cx="3657600" cy="804672"/>
          </a:xfrm>
          <a:prstGeom prst="rect">
            <a:avLst/>
          </a:prstGeom>
          <a:noFill/>
          <a:ln/>
        </p:spPr>
        <p:txBody>
          <a:bodyPr wrap="square" lIns="0" tIns="0" rIns="0" bIns="0" rtlCol="0" anchor="ctr"/>
          <a:lstStyle/>
          <a:p>
            <a:pPr indent="0" marL="0">
              <a:buNone/>
            </a:pPr>
            <a:r>
              <a:rPr lang="en-US" sz="1500" dirty="0">
                <a:solidFill>
                  <a:schemeClr val="bg1"/>
                </a:solidFill>
              </a:rPr>
              <a:t>Automates the ETL workflow and its task dependencies</a:t>
            </a:r>
            <a:endParaRPr lang="en-US" sz="1500" dirty="0"/>
          </a:p>
        </p:txBody>
      </p:sp>
      <p:sp>
        <p:nvSpPr>
          <p:cNvPr id="34" name="Text 168"/>
          <p:cNvSpPr txBox="1"/>
          <p:nvPr/>
        </p:nvSpPr>
        <p:spPr>
          <a:xfrm>
            <a:off x="8138160" y="5257800"/>
            <a:ext cx="3383280" cy="804672"/>
          </a:xfrm>
          <a:prstGeom prst="rect">
            <a:avLst/>
          </a:prstGeom>
          <a:noFill/>
          <a:ln/>
        </p:spPr>
        <p:txBody>
          <a:bodyPr wrap="square" lIns="0" tIns="0" rIns="0" bIns="0" rtlCol="0" anchor="ctr"/>
          <a:lstStyle/>
          <a:p>
            <a:pPr indent="0" marL="0">
              <a:buNone/>
            </a:pPr>
            <a:r>
              <a:rPr lang="en-US" sz="1500" dirty="0">
                <a:solidFill>
                  <a:schemeClr val="bg2"/>
                </a:solidFill>
              </a:rPr>
              <a:t>Validates infrastructure and output; reproducible, manageable pipeline</a:t>
            </a:r>
            <a:endParaRPr lang="en-US" sz="15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69"/>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TECHNOLOGIES</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Technologies Used (2/2)</a:t>
            </a:r>
            <a:endParaRPr lang="en-US" sz="3600" dirty="0"/>
          </a:p>
        </p:txBody>
      </p:sp>
      <p:sp>
        <p:nvSpPr>
          <p:cNvPr id="4" name="Text 170"/>
          <p:cNvSpPr txBox="1"/>
          <p:nvPr/>
        </p:nvSpPr>
        <p:spPr>
          <a:xfrm>
            <a:off x="1691640" y="1508760"/>
            <a:ext cx="2286000" cy="274320"/>
          </a:xfrm>
          <a:prstGeom prst="rect">
            <a:avLst/>
          </a:prstGeom>
          <a:noFill/>
          <a:ln/>
        </p:spPr>
        <p:txBody>
          <a:bodyPr wrap="square" lIns="0" tIns="0" rIns="0" bIns="0" rtlCol="0" anchor="t"/>
          <a:lstStyle/>
          <a:p>
            <a:pPr indent="0" marL="0">
              <a:buNone/>
            </a:pPr>
            <a:r>
              <a:rPr lang="en-US" sz="1100" b="1" spc="200" kern="0" dirty="0">
                <a:solidFill>
                  <a:schemeClr val="bg2"/>
                </a:solidFill>
              </a:rPr>
              <a:t>TECHNOLOGY</a:t>
            </a:r>
            <a:endParaRPr lang="en-US" sz="1100" dirty="0"/>
          </a:p>
        </p:txBody>
      </p:sp>
      <p:sp>
        <p:nvSpPr>
          <p:cNvPr id="5" name="Text 171"/>
          <p:cNvSpPr txBox="1"/>
          <p:nvPr/>
        </p:nvSpPr>
        <p:spPr>
          <a:xfrm>
            <a:off x="4206240" y="1508760"/>
            <a:ext cx="3657600" cy="274320"/>
          </a:xfrm>
          <a:prstGeom prst="rect">
            <a:avLst/>
          </a:prstGeom>
          <a:noFill/>
          <a:ln/>
        </p:spPr>
        <p:txBody>
          <a:bodyPr wrap="square" lIns="0" tIns="0" rIns="0" bIns="0" rtlCol="0" anchor="t"/>
          <a:lstStyle/>
          <a:p>
            <a:pPr indent="0" marL="0">
              <a:buNone/>
            </a:pPr>
            <a:r>
              <a:rPr lang="en-US" sz="1100" b="1" spc="200" kern="0" dirty="0">
                <a:solidFill>
                  <a:schemeClr val="bg2"/>
                </a:solidFill>
              </a:rPr>
              <a:t>WHAT DOES IT DO?</a:t>
            </a:r>
            <a:endParaRPr lang="en-US" sz="1100" dirty="0"/>
          </a:p>
        </p:txBody>
      </p:sp>
      <p:sp>
        <p:nvSpPr>
          <p:cNvPr id="6" name="Text 172"/>
          <p:cNvSpPr txBox="1"/>
          <p:nvPr/>
        </p:nvSpPr>
        <p:spPr>
          <a:xfrm>
            <a:off x="8138160" y="1508760"/>
            <a:ext cx="3383280" cy="274320"/>
          </a:xfrm>
          <a:prstGeom prst="rect">
            <a:avLst/>
          </a:prstGeom>
          <a:noFill/>
          <a:ln/>
        </p:spPr>
        <p:txBody>
          <a:bodyPr wrap="square" lIns="0" tIns="0" rIns="0" bIns="0" rtlCol="0" anchor="t"/>
          <a:lstStyle/>
          <a:p>
            <a:pPr indent="0" marL="0">
              <a:buNone/>
            </a:pPr>
            <a:r>
              <a:rPr lang="en-US" sz="1100" b="1" spc="200" kern="0" dirty="0">
                <a:solidFill>
                  <a:schemeClr val="bg2"/>
                </a:solidFill>
              </a:rPr>
              <a:t>WHY DID WE USE IT?</a:t>
            </a:r>
            <a:endParaRPr lang="en-US" sz="1100" dirty="0"/>
          </a:p>
        </p:txBody>
      </p:sp>
      <p:sp>
        <p:nvSpPr>
          <p:cNvPr id="7" name="Card 173"/>
          <p:cNvSpPr/>
          <p:nvPr/>
        </p:nvSpPr>
        <p:spPr>
          <a:xfrm>
            <a:off x="548640" y="187452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8" name="Icon circle 174"/>
          <p:cNvSpPr/>
          <p:nvPr/>
        </p:nvSpPr>
        <p:spPr>
          <a:xfrm>
            <a:off x="777240" y="2011680"/>
            <a:ext cx="713232" cy="713232"/>
          </a:xfrm>
          <a:prstGeom prst="ellipse">
            <a:avLst/>
          </a:prstGeom>
          <a:solidFill>
            <a:schemeClr val="accent2">
              <a:alpha val="28000"/>
            </a:schemeClr>
          </a:solidFill>
          <a:ln w="9525">
            <a:solidFill>
              <a:schemeClr val="accent1">
                <a:alpha val="55000"/>
              </a:schemeClr>
            </a:solidFill>
            <a:prstDash val="solid"/>
          </a:ln>
        </p:spPr>
      </p:sp>
      <p:pic>
        <p:nvPicPr>
          <p:cNvPr id="9" name="Icon 175" descr="ClickHouse">    </p:cNvPr>
          <p:cNvPicPr>
            <a:picLocks noChangeAspect="1"/>
          </p:cNvPicPr>
          <p:nvPr/>
        </p:nvPicPr>
        <p:blipFill>
          <a:blip r:embed="rId1"/>
          <a:stretch>
            <a:fillRect/>
          </a:stretch>
        </p:blipFill>
        <p:spPr>
          <a:xfrm>
            <a:off x="955548" y="2189988"/>
            <a:ext cx="356616" cy="356616"/>
          </a:xfrm>
          <a:prstGeom prst="rect">
            <a:avLst/>
          </a:prstGeom>
        </p:spPr>
      </p:pic>
      <p:sp>
        <p:nvSpPr>
          <p:cNvPr id="10" name="Text 176"/>
          <p:cNvSpPr txBox="1"/>
          <p:nvPr/>
        </p:nvSpPr>
        <p:spPr>
          <a:xfrm>
            <a:off x="1691640" y="2002536"/>
            <a:ext cx="2377440" cy="365760"/>
          </a:xfrm>
          <a:prstGeom prst="rect">
            <a:avLst/>
          </a:prstGeom>
          <a:noFill/>
          <a:ln/>
        </p:spPr>
        <p:txBody>
          <a:bodyPr wrap="square" lIns="0" tIns="0" rIns="0" bIns="0" rtlCol="0" anchor="t"/>
          <a:lstStyle/>
          <a:p>
            <a:pPr indent="0" marL="0">
              <a:buNone/>
            </a:pPr>
            <a:r>
              <a:rPr lang="en-US" sz="2000" b="1" dirty="0">
                <a:solidFill>
                  <a:schemeClr val="bg1"/>
                </a:solidFill>
              </a:rPr>
              <a:t>ClickHouse</a:t>
            </a:r>
            <a:endParaRPr lang="en-US" sz="2000" dirty="0"/>
          </a:p>
        </p:txBody>
      </p:sp>
      <p:sp>
        <p:nvSpPr>
          <p:cNvPr id="11" name="Text 177"/>
          <p:cNvSpPr txBox="1"/>
          <p:nvPr/>
        </p:nvSpPr>
        <p:spPr>
          <a:xfrm>
            <a:off x="1691640" y="238658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Analytical database</a:t>
            </a:r>
            <a:endParaRPr lang="en-US" sz="1400" dirty="0"/>
          </a:p>
        </p:txBody>
      </p:sp>
      <p:sp>
        <p:nvSpPr>
          <p:cNvPr id="12" name="Text 178"/>
          <p:cNvSpPr txBox="1"/>
          <p:nvPr/>
        </p:nvSpPr>
        <p:spPr>
          <a:xfrm>
            <a:off x="4206240" y="1965960"/>
            <a:ext cx="3657600" cy="804672"/>
          </a:xfrm>
          <a:prstGeom prst="rect">
            <a:avLst/>
          </a:prstGeom>
          <a:noFill/>
          <a:ln/>
        </p:spPr>
        <p:txBody>
          <a:bodyPr wrap="square" lIns="0" tIns="0" rIns="0" bIns="0" rtlCol="0" anchor="ctr"/>
          <a:lstStyle/>
          <a:p>
            <a:pPr indent="0" marL="0">
              <a:buNone/>
            </a:pPr>
            <a:r>
              <a:rPr lang="en-US" sz="1500" dirty="0">
                <a:solidFill>
                  <a:schemeClr val="bg1"/>
                </a:solidFill>
              </a:rPr>
              <a:t>Serves fast analytical queries over the processed data</a:t>
            </a:r>
            <a:endParaRPr lang="en-US" sz="1500" dirty="0"/>
          </a:p>
        </p:txBody>
      </p:sp>
      <p:sp>
        <p:nvSpPr>
          <p:cNvPr id="13" name="Text 179"/>
          <p:cNvSpPr txBox="1"/>
          <p:nvPr/>
        </p:nvSpPr>
        <p:spPr>
          <a:xfrm>
            <a:off x="8138160" y="1965960"/>
            <a:ext cx="3383280" cy="804672"/>
          </a:xfrm>
          <a:prstGeom prst="rect">
            <a:avLst/>
          </a:prstGeom>
          <a:noFill/>
          <a:ln/>
        </p:spPr>
        <p:txBody>
          <a:bodyPr wrap="square" lIns="0" tIns="0" rIns="0" bIns="0" rtlCol="0" anchor="ctr"/>
          <a:lstStyle/>
          <a:p>
            <a:pPr indent="0" marL="0">
              <a:buNone/>
            </a:pPr>
            <a:r>
              <a:rPr lang="en-US" sz="1500" dirty="0">
                <a:solidFill>
                  <a:schemeClr val="bg2"/>
                </a:solidFill>
              </a:rPr>
              <a:t>Optimized for OLAP: very fast aggregations behind the dashboard</a:t>
            </a:r>
            <a:endParaRPr lang="en-US" sz="1500" dirty="0"/>
          </a:p>
        </p:txBody>
      </p:sp>
      <p:sp>
        <p:nvSpPr>
          <p:cNvPr id="14" name="Card 180"/>
          <p:cNvSpPr/>
          <p:nvPr/>
        </p:nvSpPr>
        <p:spPr>
          <a:xfrm>
            <a:off x="548640" y="297180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15" name="Icon circle 181"/>
          <p:cNvSpPr/>
          <p:nvPr/>
        </p:nvSpPr>
        <p:spPr>
          <a:xfrm>
            <a:off x="777240" y="3108960"/>
            <a:ext cx="713232" cy="713232"/>
          </a:xfrm>
          <a:prstGeom prst="ellipse">
            <a:avLst/>
          </a:prstGeom>
          <a:solidFill>
            <a:schemeClr val="accent2">
              <a:alpha val="28000"/>
            </a:schemeClr>
          </a:solidFill>
          <a:ln w="9525">
            <a:solidFill>
              <a:schemeClr val="accent1">
                <a:alpha val="55000"/>
              </a:schemeClr>
            </a:solidFill>
            <a:prstDash val="solid"/>
          </a:ln>
        </p:spPr>
      </p:sp>
      <p:pic>
        <p:nvPicPr>
          <p:cNvPr id="16" name="Icon 182" descr="Apache Superset">    </p:cNvPr>
          <p:cNvPicPr>
            <a:picLocks noChangeAspect="1"/>
          </p:cNvPicPr>
          <p:nvPr/>
        </p:nvPicPr>
        <p:blipFill>
          <a:blip r:embed="rId2"/>
          <a:stretch>
            <a:fillRect/>
          </a:stretch>
        </p:blipFill>
        <p:spPr>
          <a:xfrm>
            <a:off x="955548" y="3287268"/>
            <a:ext cx="356616" cy="356616"/>
          </a:xfrm>
          <a:prstGeom prst="rect">
            <a:avLst/>
          </a:prstGeom>
        </p:spPr>
      </p:pic>
      <p:sp>
        <p:nvSpPr>
          <p:cNvPr id="17" name="Text 183"/>
          <p:cNvSpPr txBox="1"/>
          <p:nvPr/>
        </p:nvSpPr>
        <p:spPr>
          <a:xfrm>
            <a:off x="1691640" y="3099816"/>
            <a:ext cx="2377440" cy="365760"/>
          </a:xfrm>
          <a:prstGeom prst="rect">
            <a:avLst/>
          </a:prstGeom>
          <a:noFill/>
          <a:ln/>
        </p:spPr>
        <p:txBody>
          <a:bodyPr wrap="square" lIns="0" tIns="0" rIns="0" bIns="0" rtlCol="0" anchor="t"/>
          <a:lstStyle/>
          <a:p>
            <a:pPr indent="0" marL="0">
              <a:buNone/>
            </a:pPr>
            <a:r>
              <a:rPr lang="en-US" sz="2000" b="1" dirty="0">
                <a:solidFill>
                  <a:schemeClr val="bg1"/>
                </a:solidFill>
              </a:rPr>
              <a:t>Apache Superset</a:t>
            </a:r>
            <a:endParaRPr lang="en-US" sz="2000" dirty="0"/>
          </a:p>
        </p:txBody>
      </p:sp>
      <p:sp>
        <p:nvSpPr>
          <p:cNvPr id="18" name="Text 184"/>
          <p:cNvSpPr txBox="1"/>
          <p:nvPr/>
        </p:nvSpPr>
        <p:spPr>
          <a:xfrm>
            <a:off x="1691640" y="348386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Visualization</a:t>
            </a:r>
            <a:endParaRPr lang="en-US" sz="1400" dirty="0"/>
          </a:p>
        </p:txBody>
      </p:sp>
      <p:sp>
        <p:nvSpPr>
          <p:cNvPr id="19" name="Text 185"/>
          <p:cNvSpPr txBox="1"/>
          <p:nvPr/>
        </p:nvSpPr>
        <p:spPr>
          <a:xfrm>
            <a:off x="4206240" y="3063240"/>
            <a:ext cx="3657600" cy="804672"/>
          </a:xfrm>
          <a:prstGeom prst="rect">
            <a:avLst/>
          </a:prstGeom>
          <a:noFill/>
          <a:ln/>
        </p:spPr>
        <p:txBody>
          <a:bodyPr wrap="square" lIns="0" tIns="0" rIns="0" bIns="0" rtlCol="0" anchor="ctr"/>
          <a:lstStyle/>
          <a:p>
            <a:pPr indent="0" marL="0">
              <a:buNone/>
            </a:pPr>
            <a:r>
              <a:rPr lang="en-US" sz="1500" dirty="0">
                <a:solidFill>
                  <a:schemeClr val="bg1"/>
                </a:solidFill>
              </a:rPr>
              <a:t>Interactive dashboards and charts for data exploration</a:t>
            </a:r>
            <a:endParaRPr lang="en-US" sz="1500" dirty="0"/>
          </a:p>
        </p:txBody>
      </p:sp>
      <p:sp>
        <p:nvSpPr>
          <p:cNvPr id="20" name="Text 186"/>
          <p:cNvSpPr txBox="1"/>
          <p:nvPr/>
        </p:nvSpPr>
        <p:spPr>
          <a:xfrm>
            <a:off x="8138160" y="3063240"/>
            <a:ext cx="3383280" cy="804672"/>
          </a:xfrm>
          <a:prstGeom prst="rect">
            <a:avLst/>
          </a:prstGeom>
          <a:noFill/>
          <a:ln/>
        </p:spPr>
        <p:txBody>
          <a:bodyPr wrap="square" lIns="0" tIns="0" rIns="0" bIns="0" rtlCol="0" anchor="ctr"/>
          <a:lstStyle/>
          <a:p>
            <a:pPr indent="0" marL="0">
              <a:buNone/>
            </a:pPr>
            <a:r>
              <a:rPr lang="en-US" sz="1500" dirty="0">
                <a:solidFill>
                  <a:schemeClr val="bg2"/>
                </a:solidFill>
              </a:rPr>
              <a:t>Open-source BI platform with filters and easy exploration</a:t>
            </a:r>
            <a:endParaRPr lang="en-US" sz="1500" dirty="0"/>
          </a:p>
        </p:txBody>
      </p:sp>
      <p:sp>
        <p:nvSpPr>
          <p:cNvPr id="21" name="Card 187"/>
          <p:cNvSpPr/>
          <p:nvPr/>
        </p:nvSpPr>
        <p:spPr>
          <a:xfrm>
            <a:off x="548640" y="406908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22" name="Icon circle 188"/>
          <p:cNvSpPr/>
          <p:nvPr/>
        </p:nvSpPr>
        <p:spPr>
          <a:xfrm>
            <a:off x="777240" y="4206240"/>
            <a:ext cx="713232" cy="713232"/>
          </a:xfrm>
          <a:prstGeom prst="ellipse">
            <a:avLst/>
          </a:prstGeom>
          <a:solidFill>
            <a:schemeClr val="accent2">
              <a:alpha val="28000"/>
            </a:schemeClr>
          </a:solidFill>
          <a:ln w="9525">
            <a:solidFill>
              <a:schemeClr val="accent1">
                <a:alpha val="55000"/>
              </a:schemeClr>
            </a:solidFill>
            <a:prstDash val="solid"/>
          </a:ln>
        </p:spPr>
      </p:sp>
      <p:pic>
        <p:nvPicPr>
          <p:cNvPr id="23" name="Icon 189" descr="Python / Pandas / SQL">    </p:cNvPr>
          <p:cNvPicPr>
            <a:picLocks noChangeAspect="1"/>
          </p:cNvPicPr>
          <p:nvPr/>
        </p:nvPicPr>
        <p:blipFill>
          <a:blip r:embed="rId3"/>
          <a:stretch>
            <a:fillRect/>
          </a:stretch>
        </p:blipFill>
        <p:spPr>
          <a:xfrm>
            <a:off x="955548" y="4384548"/>
            <a:ext cx="356616" cy="356616"/>
          </a:xfrm>
          <a:prstGeom prst="rect">
            <a:avLst/>
          </a:prstGeom>
        </p:spPr>
      </p:pic>
      <p:sp>
        <p:nvSpPr>
          <p:cNvPr id="24" name="Text 190"/>
          <p:cNvSpPr txBox="1"/>
          <p:nvPr/>
        </p:nvSpPr>
        <p:spPr>
          <a:xfrm>
            <a:off x="1691640" y="4197096"/>
            <a:ext cx="2377440" cy="365760"/>
          </a:xfrm>
          <a:prstGeom prst="rect">
            <a:avLst/>
          </a:prstGeom>
          <a:noFill/>
          <a:ln/>
        </p:spPr>
        <p:txBody>
          <a:bodyPr wrap="square" lIns="0" tIns="0" rIns="0" bIns="0" rtlCol="0" anchor="t"/>
          <a:lstStyle/>
          <a:p>
            <a:pPr indent="0" marL="0">
              <a:buNone/>
            </a:pPr>
            <a:r>
              <a:rPr lang="en-US" sz="2000" b="1" dirty="0">
                <a:solidFill>
                  <a:schemeClr val="bg1"/>
                </a:solidFill>
              </a:rPr>
              <a:t>Python / Pandas / SQL</a:t>
            </a:r>
            <a:endParaRPr lang="en-US" sz="2000" dirty="0"/>
          </a:p>
        </p:txBody>
      </p:sp>
      <p:sp>
        <p:nvSpPr>
          <p:cNvPr id="25" name="Text 191"/>
          <p:cNvSpPr txBox="1"/>
          <p:nvPr/>
        </p:nvSpPr>
        <p:spPr>
          <a:xfrm>
            <a:off x="1691640" y="458114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Analytics toolkit</a:t>
            </a:r>
            <a:endParaRPr lang="en-US" sz="1400" dirty="0"/>
          </a:p>
        </p:txBody>
      </p:sp>
      <p:sp>
        <p:nvSpPr>
          <p:cNvPr id="26" name="Text 192"/>
          <p:cNvSpPr txBox="1"/>
          <p:nvPr/>
        </p:nvSpPr>
        <p:spPr>
          <a:xfrm>
            <a:off x="4206240" y="4160520"/>
            <a:ext cx="3657600" cy="804672"/>
          </a:xfrm>
          <a:prstGeom prst="rect">
            <a:avLst/>
          </a:prstGeom>
          <a:noFill/>
          <a:ln/>
        </p:spPr>
        <p:txBody>
          <a:bodyPr wrap="square" lIns="0" tIns="0" rIns="0" bIns="0" rtlCol="0" anchor="ctr"/>
          <a:lstStyle/>
          <a:p>
            <a:pPr indent="0" marL="0">
              <a:buNone/>
            </a:pPr>
            <a:r>
              <a:rPr lang="en-US" sz="1500" dirty="0">
                <a:solidFill>
                  <a:schemeClr val="bg1"/>
                </a:solidFill>
              </a:rPr>
              <a:t>Python for ETL and ML scripts, Pandas for data inspection, SQL for queries</a:t>
            </a:r>
            <a:endParaRPr lang="en-US" sz="1500" dirty="0"/>
          </a:p>
        </p:txBody>
      </p:sp>
      <p:sp>
        <p:nvSpPr>
          <p:cNvPr id="27" name="Text 193"/>
          <p:cNvSpPr txBox="1"/>
          <p:nvPr/>
        </p:nvSpPr>
        <p:spPr>
          <a:xfrm>
            <a:off x="8138160" y="4160520"/>
            <a:ext cx="3383280" cy="804672"/>
          </a:xfrm>
          <a:prstGeom prst="rect">
            <a:avLst/>
          </a:prstGeom>
          <a:noFill/>
          <a:ln/>
        </p:spPr>
        <p:txBody>
          <a:bodyPr wrap="square" lIns="0" tIns="0" rIns="0" bIns="0" rtlCol="0" anchor="ctr"/>
          <a:lstStyle/>
          <a:p>
            <a:pPr indent="0" marL="0">
              <a:buNone/>
            </a:pPr>
            <a:r>
              <a:rPr lang="en-US" sz="1500" dirty="0">
                <a:solidFill>
                  <a:schemeClr val="bg2"/>
                </a:solidFill>
              </a:rPr>
              <a:t>One ecosystem for processing, preparation, validation and ClickHouse queries</a:t>
            </a:r>
            <a:endParaRPr lang="en-US" sz="1500" dirty="0"/>
          </a:p>
        </p:txBody>
      </p:sp>
      <p:sp>
        <p:nvSpPr>
          <p:cNvPr id="28" name="Card 194"/>
          <p:cNvSpPr/>
          <p:nvPr/>
        </p:nvSpPr>
        <p:spPr>
          <a:xfrm>
            <a:off x="548640" y="5166360"/>
            <a:ext cx="11094415" cy="987552"/>
          </a:xfrm>
          <a:prstGeom prst="roundRect">
            <a:avLst>
              <a:gd name="adj" fmla="val 11111"/>
            </a:avLst>
          </a:prstGeom>
          <a:solidFill>
            <a:schemeClr val="tx2"/>
          </a:solidFill>
          <a:ln w="9525">
            <a:solidFill>
              <a:schemeClr val="accent2">
                <a:alpha val="45000"/>
              </a:schemeClr>
            </a:solidFill>
            <a:prstDash val="solid"/>
          </a:ln>
        </p:spPr>
      </p:sp>
      <p:sp>
        <p:nvSpPr>
          <p:cNvPr id="29" name="Icon circle 195"/>
          <p:cNvSpPr/>
          <p:nvPr/>
        </p:nvSpPr>
        <p:spPr>
          <a:xfrm>
            <a:off x="777240" y="5303520"/>
            <a:ext cx="713232" cy="713232"/>
          </a:xfrm>
          <a:prstGeom prst="ellipse">
            <a:avLst/>
          </a:prstGeom>
          <a:solidFill>
            <a:schemeClr val="accent2">
              <a:alpha val="28000"/>
            </a:schemeClr>
          </a:solidFill>
          <a:ln w="9525">
            <a:solidFill>
              <a:schemeClr val="accent1">
                <a:alpha val="55000"/>
              </a:schemeClr>
            </a:solidFill>
            <a:prstDash val="solid"/>
          </a:ln>
        </p:spPr>
      </p:sp>
      <p:pic>
        <p:nvPicPr>
          <p:cNvPr id="30" name="Icon 196" descr="Streamlit">    </p:cNvPr>
          <p:cNvPicPr>
            <a:picLocks noChangeAspect="1"/>
          </p:cNvPicPr>
          <p:nvPr/>
        </p:nvPicPr>
        <p:blipFill>
          <a:blip r:embed="rId4"/>
          <a:stretch>
            <a:fillRect/>
          </a:stretch>
        </p:blipFill>
        <p:spPr>
          <a:xfrm>
            <a:off x="955548" y="5481828"/>
            <a:ext cx="356616" cy="356616"/>
          </a:xfrm>
          <a:prstGeom prst="rect">
            <a:avLst/>
          </a:prstGeom>
        </p:spPr>
      </p:pic>
      <p:sp>
        <p:nvSpPr>
          <p:cNvPr id="31" name="Text 197"/>
          <p:cNvSpPr txBox="1"/>
          <p:nvPr/>
        </p:nvSpPr>
        <p:spPr>
          <a:xfrm>
            <a:off x="1691640" y="5294376"/>
            <a:ext cx="2377440" cy="365760"/>
          </a:xfrm>
          <a:prstGeom prst="rect">
            <a:avLst/>
          </a:prstGeom>
          <a:noFill/>
          <a:ln/>
        </p:spPr>
        <p:txBody>
          <a:bodyPr wrap="square" lIns="0" tIns="0" rIns="0" bIns="0" rtlCol="0" anchor="t"/>
          <a:lstStyle/>
          <a:p>
            <a:pPr indent="0" marL="0">
              <a:buNone/>
            </a:pPr>
            <a:r>
              <a:rPr lang="en-US" sz="2000" b="1" dirty="0">
                <a:solidFill>
                  <a:schemeClr val="bg1"/>
                </a:solidFill>
              </a:rPr>
              <a:t>Streamlit</a:t>
            </a:r>
            <a:endParaRPr lang="en-US" sz="2000" dirty="0"/>
          </a:p>
        </p:txBody>
      </p:sp>
      <p:sp>
        <p:nvSpPr>
          <p:cNvPr id="32" name="Text 198"/>
          <p:cNvSpPr txBox="1"/>
          <p:nvPr/>
        </p:nvSpPr>
        <p:spPr>
          <a:xfrm>
            <a:off x="1691640" y="5678424"/>
            <a:ext cx="2377440" cy="274320"/>
          </a:xfrm>
          <a:prstGeom prst="rect">
            <a:avLst/>
          </a:prstGeom>
          <a:noFill/>
          <a:ln/>
        </p:spPr>
        <p:txBody>
          <a:bodyPr wrap="square" lIns="0" tIns="0" rIns="0" bIns="0" rtlCol="0" anchor="t"/>
          <a:lstStyle/>
          <a:p>
            <a:pPr indent="0" marL="0">
              <a:buNone/>
            </a:pPr>
            <a:r>
              <a:rPr lang="en-US" sz="1400" dirty="0">
                <a:solidFill>
                  <a:schemeClr val="accent1"/>
                </a:solidFill>
              </a:rPr>
              <a:t>ML web app</a:t>
            </a:r>
            <a:endParaRPr lang="en-US" sz="1400" dirty="0"/>
          </a:p>
        </p:txBody>
      </p:sp>
      <p:sp>
        <p:nvSpPr>
          <p:cNvPr id="33" name="Text 199"/>
          <p:cNvSpPr txBox="1"/>
          <p:nvPr/>
        </p:nvSpPr>
        <p:spPr>
          <a:xfrm>
            <a:off x="4206240" y="5257800"/>
            <a:ext cx="3657600" cy="804672"/>
          </a:xfrm>
          <a:prstGeom prst="rect">
            <a:avLst/>
          </a:prstGeom>
          <a:noFill/>
          <a:ln/>
        </p:spPr>
        <p:txBody>
          <a:bodyPr wrap="square" lIns="0" tIns="0" rIns="0" bIns="0" rtlCol="0" anchor="ctr"/>
          <a:lstStyle/>
          <a:p>
            <a:pPr indent="0" marL="0">
              <a:buNone/>
            </a:pPr>
            <a:r>
              <a:rPr lang="en-US" sz="1500" dirty="0">
                <a:solidFill>
                  <a:schemeClr val="bg1"/>
                </a:solidFill>
              </a:rPr>
              <a:t>Interactive web app for trip duration and fare predictions</a:t>
            </a:r>
            <a:endParaRPr lang="en-US" sz="1500" dirty="0"/>
          </a:p>
        </p:txBody>
      </p:sp>
      <p:sp>
        <p:nvSpPr>
          <p:cNvPr id="34" name="Text 200"/>
          <p:cNvSpPr txBox="1"/>
          <p:nvPr/>
        </p:nvSpPr>
        <p:spPr>
          <a:xfrm>
            <a:off x="8138160" y="5257800"/>
            <a:ext cx="3383280" cy="804672"/>
          </a:xfrm>
          <a:prstGeom prst="rect">
            <a:avLst/>
          </a:prstGeom>
          <a:noFill/>
          <a:ln/>
        </p:spPr>
        <p:txBody>
          <a:bodyPr wrap="square" lIns="0" tIns="0" rIns="0" bIns="0" rtlCol="0" anchor="ctr"/>
          <a:lstStyle/>
          <a:p>
            <a:pPr indent="0" marL="0">
              <a:buNone/>
            </a:pPr>
            <a:r>
              <a:rPr lang="en-US" sz="1500" dirty="0">
                <a:solidFill>
                  <a:schemeClr val="bg2"/>
                </a:solidFill>
              </a:rPr>
              <a:t>Turns our Python ML models into a simple, usable interface</a:t>
            </a:r>
            <a:endParaRPr lang="en-US" sz="15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1"/>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DATA FLOW</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Data Pipeline</a:t>
            </a:r>
            <a:endParaRPr lang="en-US" sz="3600" dirty="0"/>
          </a:p>
        </p:txBody>
      </p:sp>
      <p:sp>
        <p:nvSpPr>
          <p:cNvPr id="4" name="Card 202"/>
          <p:cNvSpPr/>
          <p:nvPr/>
        </p:nvSpPr>
        <p:spPr>
          <a:xfrm>
            <a:off x="548640" y="1508760"/>
            <a:ext cx="11094415" cy="822960"/>
          </a:xfrm>
          <a:prstGeom prst="roundRect">
            <a:avLst>
              <a:gd name="adj" fmla="val 13333"/>
            </a:avLst>
          </a:prstGeom>
          <a:solidFill>
            <a:schemeClr val="tx2"/>
          </a:solidFill>
          <a:ln w="9525">
            <a:solidFill>
              <a:schemeClr val="accent1">
                <a:alpha val="75000"/>
              </a:schemeClr>
            </a:solidFill>
            <a:prstDash val="solid"/>
          </a:ln>
        </p:spPr>
      </p:sp>
      <p:sp>
        <p:nvSpPr>
          <p:cNvPr id="5" name="Icon circle 203"/>
          <p:cNvSpPr/>
          <p:nvPr/>
        </p:nvSpPr>
        <p:spPr>
          <a:xfrm>
            <a:off x="777240" y="1609344"/>
            <a:ext cx="621792" cy="621792"/>
          </a:xfrm>
          <a:prstGeom prst="ellipse">
            <a:avLst/>
          </a:prstGeom>
          <a:solidFill>
            <a:schemeClr val="accent2">
              <a:alpha val="28000"/>
            </a:schemeClr>
          </a:solidFill>
          <a:ln w="9525">
            <a:solidFill>
              <a:schemeClr val="accent1">
                <a:alpha val="55000"/>
              </a:schemeClr>
            </a:solidFill>
            <a:prstDash val="solid"/>
          </a:ln>
        </p:spPr>
      </p:sp>
      <p:pic>
        <p:nvPicPr>
          <p:cNvPr id="6" name="Icon 204" descr="Apache Airflow">    </p:cNvPr>
          <p:cNvPicPr>
            <a:picLocks noChangeAspect="1"/>
          </p:cNvPicPr>
          <p:nvPr/>
        </p:nvPicPr>
        <p:blipFill>
          <a:blip r:embed="rId1"/>
          <a:stretch>
            <a:fillRect/>
          </a:stretch>
        </p:blipFill>
        <p:spPr>
          <a:xfrm>
            <a:off x="932688" y="1764792"/>
            <a:ext cx="310896" cy="310896"/>
          </a:xfrm>
          <a:prstGeom prst="rect">
            <a:avLst/>
          </a:prstGeom>
        </p:spPr>
      </p:pic>
      <p:sp>
        <p:nvSpPr>
          <p:cNvPr id="7" name="Text 205"/>
          <p:cNvSpPr txBox="1"/>
          <p:nvPr/>
        </p:nvSpPr>
        <p:spPr>
          <a:xfrm>
            <a:off x="1600200" y="1627632"/>
            <a:ext cx="2194560" cy="320040"/>
          </a:xfrm>
          <a:prstGeom prst="rect">
            <a:avLst/>
          </a:prstGeom>
          <a:noFill/>
          <a:ln/>
        </p:spPr>
        <p:txBody>
          <a:bodyPr wrap="square" lIns="0" tIns="0" rIns="0" bIns="0" rtlCol="0" anchor="t"/>
          <a:lstStyle/>
          <a:p>
            <a:pPr indent="0" marL="0">
              <a:buNone/>
            </a:pPr>
            <a:r>
              <a:rPr lang="en-US" sz="1800" b="1" dirty="0">
                <a:solidFill>
                  <a:schemeClr val="bg1"/>
                </a:solidFill>
              </a:rPr>
              <a:t>Apache Airflow</a:t>
            </a:r>
            <a:endParaRPr lang="en-US" sz="1800" dirty="0"/>
          </a:p>
        </p:txBody>
      </p:sp>
      <p:sp>
        <p:nvSpPr>
          <p:cNvPr id="8" name="Text 206"/>
          <p:cNvSpPr txBox="1"/>
          <p:nvPr/>
        </p:nvSpPr>
        <p:spPr>
          <a:xfrm>
            <a:off x="1600200" y="1956816"/>
            <a:ext cx="2194560" cy="274320"/>
          </a:xfrm>
          <a:prstGeom prst="rect">
            <a:avLst/>
          </a:prstGeom>
          <a:noFill/>
          <a:ln/>
        </p:spPr>
        <p:txBody>
          <a:bodyPr wrap="square" lIns="0" tIns="0" rIns="0" bIns="0" rtlCol="0" anchor="t"/>
          <a:lstStyle/>
          <a:p>
            <a:pPr indent="0" marL="0">
              <a:buNone/>
            </a:pPr>
            <a:r>
              <a:rPr lang="en-US" sz="1400" dirty="0">
                <a:solidFill>
                  <a:schemeClr val="accent1"/>
                </a:solidFill>
              </a:rPr>
              <a:t>Orchestration layer</a:t>
            </a:r>
            <a:endParaRPr lang="en-US" sz="1400" dirty="0"/>
          </a:p>
        </p:txBody>
      </p:sp>
      <p:sp>
        <p:nvSpPr>
          <p:cNvPr id="9" name="Text 207"/>
          <p:cNvSpPr txBox="1"/>
          <p:nvPr/>
        </p:nvSpPr>
        <p:spPr>
          <a:xfrm>
            <a:off x="3840480" y="1508760"/>
            <a:ext cx="7635240" cy="822960"/>
          </a:xfrm>
          <a:prstGeom prst="rect">
            <a:avLst/>
          </a:prstGeom>
          <a:noFill/>
          <a:ln/>
        </p:spPr>
        <p:txBody>
          <a:bodyPr wrap="square" lIns="0" tIns="0" rIns="0" bIns="0" rtlCol="0" anchor="ctr"/>
          <a:lstStyle/>
          <a:p>
            <a:pPr algn="r" indent="0" marL="0">
              <a:buNone/>
            </a:pPr>
            <a:r>
              <a:rPr lang="en-US" sz="1300" dirty="0">
                <a:solidFill>
                  <a:schemeClr val="bg1"/>
                </a:solidFill>
                <a:latin typeface="Courier New" pitchFamily="34" charset="0"/>
                <a:ea typeface="Courier New" pitchFamily="34" charset="-122"/>
                <a:cs typeface="Courier New" pitchFamily="34" charset="-120"/>
              </a:rPr>
              <a:t>check_hdfs → check_spark → preflight_staging → run_etl → validate_staging</a:t>
            </a:r>
            <a:endParaRPr lang="en-US" sz="1300" dirty="0"/>
          </a:p>
        </p:txBody>
      </p:sp>
      <p:sp>
        <p:nvSpPr>
          <p:cNvPr id="10" name="Card 208"/>
          <p:cNvSpPr/>
          <p:nvPr/>
        </p:nvSpPr>
        <p:spPr>
          <a:xfrm>
            <a:off x="548640" y="2743200"/>
            <a:ext cx="1508760" cy="2286000"/>
          </a:xfrm>
          <a:prstGeom prst="roundRect">
            <a:avLst>
              <a:gd name="adj" fmla="val 7273"/>
            </a:avLst>
          </a:prstGeom>
          <a:solidFill>
            <a:schemeClr val="tx2"/>
          </a:solidFill>
          <a:ln w="9525">
            <a:solidFill>
              <a:schemeClr val="accent2">
                <a:alpha val="45000"/>
              </a:schemeClr>
            </a:solidFill>
            <a:prstDash val="solid"/>
          </a:ln>
        </p:spPr>
      </p:sp>
      <p:sp>
        <p:nvSpPr>
          <p:cNvPr id="11" name="Icon circle 209"/>
          <p:cNvSpPr/>
          <p:nvPr/>
        </p:nvSpPr>
        <p:spPr>
          <a:xfrm>
            <a:off x="937260"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12" name="Icon 210" descr="Raw NYC Taxi Data">    </p:cNvPr>
          <p:cNvPicPr>
            <a:picLocks noChangeAspect="1"/>
          </p:cNvPicPr>
          <p:nvPr/>
        </p:nvPicPr>
        <p:blipFill>
          <a:blip r:embed="rId2"/>
          <a:stretch>
            <a:fillRect/>
          </a:stretch>
        </p:blipFill>
        <p:spPr>
          <a:xfrm>
            <a:off x="1120140" y="3127248"/>
            <a:ext cx="365760" cy="365760"/>
          </a:xfrm>
          <a:prstGeom prst="rect">
            <a:avLst/>
          </a:prstGeom>
        </p:spPr>
      </p:pic>
      <p:sp>
        <p:nvSpPr>
          <p:cNvPr id="13" name="Text 211"/>
          <p:cNvSpPr txBox="1"/>
          <p:nvPr/>
        </p:nvSpPr>
        <p:spPr>
          <a:xfrm>
            <a:off x="640080"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Raw NYC Taxi Data</a:t>
            </a:r>
            <a:endParaRPr lang="en-US" sz="1600" dirty="0"/>
          </a:p>
        </p:txBody>
      </p:sp>
      <p:sp>
        <p:nvSpPr>
          <p:cNvPr id="14" name="Text 212"/>
          <p:cNvSpPr txBox="1"/>
          <p:nvPr/>
        </p:nvSpPr>
        <p:spPr>
          <a:xfrm>
            <a:off x="640080"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Trip records in Parquet</a:t>
            </a:r>
            <a:endParaRPr lang="en-US" sz="1200" dirty="0"/>
          </a:p>
        </p:txBody>
      </p:sp>
      <p:sp>
        <p:nvSpPr>
          <p:cNvPr id="15" name="Connector 213"/>
          <p:cNvSpPr/>
          <p:nvPr/>
        </p:nvSpPr>
        <p:spPr>
          <a:xfrm>
            <a:off x="2112264" y="3886200"/>
            <a:ext cx="298094" cy="0"/>
          </a:xfrm>
          <a:prstGeom prst="line">
            <a:avLst/>
          </a:prstGeom>
          <a:noFill/>
          <a:ln w="25400">
            <a:solidFill>
              <a:schemeClr val="accent1"/>
            </a:solidFill>
            <a:prstDash val="solid"/>
            <a:tailEnd type="triangle"/>
          </a:ln>
        </p:spPr>
      </p:sp>
      <p:sp>
        <p:nvSpPr>
          <p:cNvPr id="16" name="Card 214"/>
          <p:cNvSpPr/>
          <p:nvPr/>
        </p:nvSpPr>
        <p:spPr>
          <a:xfrm>
            <a:off x="2465222" y="2743200"/>
            <a:ext cx="1508760" cy="2286000"/>
          </a:xfrm>
          <a:prstGeom prst="roundRect">
            <a:avLst>
              <a:gd name="adj" fmla="val 7273"/>
            </a:avLst>
          </a:prstGeom>
          <a:solidFill>
            <a:schemeClr val="tx2"/>
          </a:solidFill>
          <a:ln w="9525">
            <a:solidFill>
              <a:schemeClr val="accent2">
                <a:alpha val="45000"/>
              </a:schemeClr>
            </a:solidFill>
            <a:prstDash val="solid"/>
          </a:ln>
        </p:spPr>
      </p:sp>
      <p:sp>
        <p:nvSpPr>
          <p:cNvPr id="17" name="Icon circle 215"/>
          <p:cNvSpPr/>
          <p:nvPr/>
        </p:nvSpPr>
        <p:spPr>
          <a:xfrm>
            <a:off x="2853842"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18" name="Icon 216" descr="HDFS">    </p:cNvPr>
          <p:cNvPicPr>
            <a:picLocks noChangeAspect="1"/>
          </p:cNvPicPr>
          <p:nvPr/>
        </p:nvPicPr>
        <p:blipFill>
          <a:blip r:embed="rId3"/>
          <a:stretch>
            <a:fillRect/>
          </a:stretch>
        </p:blipFill>
        <p:spPr>
          <a:xfrm>
            <a:off x="3036722" y="3127248"/>
            <a:ext cx="365760" cy="365760"/>
          </a:xfrm>
          <a:prstGeom prst="rect">
            <a:avLst/>
          </a:prstGeom>
        </p:spPr>
      </p:pic>
      <p:sp>
        <p:nvSpPr>
          <p:cNvPr id="19" name="Text 217"/>
          <p:cNvSpPr txBox="1"/>
          <p:nvPr/>
        </p:nvSpPr>
        <p:spPr>
          <a:xfrm>
            <a:off x="2556662"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HDFS</a:t>
            </a:r>
            <a:endParaRPr lang="en-US" sz="1600" dirty="0"/>
          </a:p>
        </p:txBody>
      </p:sp>
      <p:sp>
        <p:nvSpPr>
          <p:cNvPr id="20" name="Text 218"/>
          <p:cNvSpPr txBox="1"/>
          <p:nvPr/>
        </p:nvSpPr>
        <p:spPr>
          <a:xfrm>
            <a:off x="2556662"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Raw storage at /data/nyc/raw</a:t>
            </a:r>
            <a:endParaRPr lang="en-US" sz="1200" dirty="0"/>
          </a:p>
        </p:txBody>
      </p:sp>
      <p:sp>
        <p:nvSpPr>
          <p:cNvPr id="21" name="Connector 219"/>
          <p:cNvSpPr/>
          <p:nvPr/>
        </p:nvSpPr>
        <p:spPr>
          <a:xfrm>
            <a:off x="4028846" y="3886200"/>
            <a:ext cx="298094" cy="0"/>
          </a:xfrm>
          <a:prstGeom prst="line">
            <a:avLst/>
          </a:prstGeom>
          <a:noFill/>
          <a:ln w="25400">
            <a:solidFill>
              <a:schemeClr val="accent1"/>
            </a:solidFill>
            <a:prstDash val="solid"/>
            <a:tailEnd type="triangle"/>
          </a:ln>
        </p:spPr>
      </p:sp>
      <p:sp>
        <p:nvSpPr>
          <p:cNvPr id="22" name="Card 220"/>
          <p:cNvSpPr/>
          <p:nvPr/>
        </p:nvSpPr>
        <p:spPr>
          <a:xfrm>
            <a:off x="4381805" y="2743200"/>
            <a:ext cx="1508760" cy="2286000"/>
          </a:xfrm>
          <a:prstGeom prst="roundRect">
            <a:avLst>
              <a:gd name="adj" fmla="val 7273"/>
            </a:avLst>
          </a:prstGeom>
          <a:solidFill>
            <a:schemeClr val="tx2"/>
          </a:solidFill>
          <a:ln w="9525">
            <a:solidFill>
              <a:schemeClr val="accent1">
                <a:alpha val="80000"/>
              </a:schemeClr>
            </a:solidFill>
            <a:prstDash val="solid"/>
          </a:ln>
        </p:spPr>
      </p:sp>
      <p:sp>
        <p:nvSpPr>
          <p:cNvPr id="23" name="Icon circle 221"/>
          <p:cNvSpPr/>
          <p:nvPr/>
        </p:nvSpPr>
        <p:spPr>
          <a:xfrm>
            <a:off x="4770425"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24" name="Icon 222" descr="Apache Spark">    </p:cNvPr>
          <p:cNvPicPr>
            <a:picLocks noChangeAspect="1"/>
          </p:cNvPicPr>
          <p:nvPr/>
        </p:nvPicPr>
        <p:blipFill>
          <a:blip r:embed="rId4"/>
          <a:stretch>
            <a:fillRect/>
          </a:stretch>
        </p:blipFill>
        <p:spPr>
          <a:xfrm>
            <a:off x="4953305" y="3127248"/>
            <a:ext cx="365760" cy="365760"/>
          </a:xfrm>
          <a:prstGeom prst="rect">
            <a:avLst/>
          </a:prstGeom>
        </p:spPr>
      </p:pic>
      <p:sp>
        <p:nvSpPr>
          <p:cNvPr id="25" name="Text 223"/>
          <p:cNvSpPr txBox="1"/>
          <p:nvPr/>
        </p:nvSpPr>
        <p:spPr>
          <a:xfrm>
            <a:off x="4473245"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Apache Spark</a:t>
            </a:r>
            <a:endParaRPr lang="en-US" sz="1600" dirty="0"/>
          </a:p>
        </p:txBody>
      </p:sp>
      <p:sp>
        <p:nvSpPr>
          <p:cNvPr id="26" name="Text 224"/>
          <p:cNvSpPr txBox="1"/>
          <p:nvPr/>
        </p:nvSpPr>
        <p:spPr>
          <a:xfrm>
            <a:off x="4473245"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ETL: clean, transform, aggregate</a:t>
            </a:r>
            <a:endParaRPr lang="en-US" sz="1200" dirty="0"/>
          </a:p>
        </p:txBody>
      </p:sp>
      <p:sp>
        <p:nvSpPr>
          <p:cNvPr id="27" name="Connector 225"/>
          <p:cNvSpPr/>
          <p:nvPr/>
        </p:nvSpPr>
        <p:spPr>
          <a:xfrm>
            <a:off x="5945429" y="3886200"/>
            <a:ext cx="298094" cy="0"/>
          </a:xfrm>
          <a:prstGeom prst="line">
            <a:avLst/>
          </a:prstGeom>
          <a:noFill/>
          <a:ln w="25400">
            <a:solidFill>
              <a:schemeClr val="accent1"/>
            </a:solidFill>
            <a:prstDash val="solid"/>
            <a:tailEnd type="triangle"/>
          </a:ln>
        </p:spPr>
      </p:sp>
      <p:sp>
        <p:nvSpPr>
          <p:cNvPr id="28" name="Card 226"/>
          <p:cNvSpPr/>
          <p:nvPr/>
        </p:nvSpPr>
        <p:spPr>
          <a:xfrm>
            <a:off x="6298387" y="2743200"/>
            <a:ext cx="1508760" cy="2286000"/>
          </a:xfrm>
          <a:prstGeom prst="roundRect">
            <a:avLst>
              <a:gd name="adj" fmla="val 7273"/>
            </a:avLst>
          </a:prstGeom>
          <a:solidFill>
            <a:schemeClr val="tx2"/>
          </a:solidFill>
          <a:ln w="9525">
            <a:solidFill>
              <a:schemeClr val="accent2">
                <a:alpha val="45000"/>
              </a:schemeClr>
            </a:solidFill>
            <a:prstDash val="solid"/>
          </a:ln>
        </p:spPr>
      </p:sp>
      <p:sp>
        <p:nvSpPr>
          <p:cNvPr id="29" name="Icon circle 227"/>
          <p:cNvSpPr/>
          <p:nvPr/>
        </p:nvSpPr>
        <p:spPr>
          <a:xfrm>
            <a:off x="6687007"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30" name="Icon 228" descr="Processed Parquet">    </p:cNvPr>
          <p:cNvPicPr>
            <a:picLocks noChangeAspect="1"/>
          </p:cNvPicPr>
          <p:nvPr/>
        </p:nvPicPr>
        <p:blipFill>
          <a:blip r:embed="rId5"/>
          <a:stretch>
            <a:fillRect/>
          </a:stretch>
        </p:blipFill>
        <p:spPr>
          <a:xfrm>
            <a:off x="6869887" y="3127248"/>
            <a:ext cx="365760" cy="365760"/>
          </a:xfrm>
          <a:prstGeom prst="rect">
            <a:avLst/>
          </a:prstGeom>
        </p:spPr>
      </p:pic>
      <p:sp>
        <p:nvSpPr>
          <p:cNvPr id="31" name="Text 229"/>
          <p:cNvSpPr txBox="1"/>
          <p:nvPr/>
        </p:nvSpPr>
        <p:spPr>
          <a:xfrm>
            <a:off x="6389827"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Processed Parquet</a:t>
            </a:r>
            <a:endParaRPr lang="en-US" sz="1600" dirty="0"/>
          </a:p>
        </p:txBody>
      </p:sp>
      <p:sp>
        <p:nvSpPr>
          <p:cNvPr id="32" name="Text 230"/>
          <p:cNvSpPr txBox="1"/>
          <p:nvPr/>
        </p:nvSpPr>
        <p:spPr>
          <a:xfrm>
            <a:off x="6389827"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Stored in HDFS and loaded to ClickHouse</a:t>
            </a:r>
            <a:endParaRPr lang="en-US" sz="1200" dirty="0"/>
          </a:p>
        </p:txBody>
      </p:sp>
      <p:sp>
        <p:nvSpPr>
          <p:cNvPr id="33" name="Connector 231"/>
          <p:cNvSpPr/>
          <p:nvPr/>
        </p:nvSpPr>
        <p:spPr>
          <a:xfrm>
            <a:off x="7862011" y="3886200"/>
            <a:ext cx="298094" cy="0"/>
          </a:xfrm>
          <a:prstGeom prst="line">
            <a:avLst/>
          </a:prstGeom>
          <a:noFill/>
          <a:ln w="25400">
            <a:solidFill>
              <a:schemeClr val="accent1"/>
            </a:solidFill>
            <a:prstDash val="solid"/>
            <a:tailEnd type="triangle"/>
          </a:ln>
        </p:spPr>
      </p:sp>
      <p:sp>
        <p:nvSpPr>
          <p:cNvPr id="34" name="Card 232"/>
          <p:cNvSpPr/>
          <p:nvPr/>
        </p:nvSpPr>
        <p:spPr>
          <a:xfrm>
            <a:off x="8214970" y="2743200"/>
            <a:ext cx="1508760" cy="2286000"/>
          </a:xfrm>
          <a:prstGeom prst="roundRect">
            <a:avLst>
              <a:gd name="adj" fmla="val 7273"/>
            </a:avLst>
          </a:prstGeom>
          <a:solidFill>
            <a:schemeClr val="tx2"/>
          </a:solidFill>
          <a:ln w="9525">
            <a:solidFill>
              <a:schemeClr val="accent2">
                <a:alpha val="45000"/>
              </a:schemeClr>
            </a:solidFill>
            <a:prstDash val="solid"/>
          </a:ln>
        </p:spPr>
      </p:sp>
      <p:sp>
        <p:nvSpPr>
          <p:cNvPr id="35" name="Icon circle 233"/>
          <p:cNvSpPr/>
          <p:nvPr/>
        </p:nvSpPr>
        <p:spPr>
          <a:xfrm>
            <a:off x="8603590"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36" name="Icon 234" descr="ClickHouse">    </p:cNvPr>
          <p:cNvPicPr>
            <a:picLocks noChangeAspect="1"/>
          </p:cNvPicPr>
          <p:nvPr/>
        </p:nvPicPr>
        <p:blipFill>
          <a:blip r:embed="rId6"/>
          <a:stretch>
            <a:fillRect/>
          </a:stretch>
        </p:blipFill>
        <p:spPr>
          <a:xfrm>
            <a:off x="8786470" y="3127248"/>
            <a:ext cx="365760" cy="365760"/>
          </a:xfrm>
          <a:prstGeom prst="rect">
            <a:avLst/>
          </a:prstGeom>
        </p:spPr>
      </p:pic>
      <p:sp>
        <p:nvSpPr>
          <p:cNvPr id="37" name="Text 235"/>
          <p:cNvSpPr txBox="1"/>
          <p:nvPr/>
        </p:nvSpPr>
        <p:spPr>
          <a:xfrm>
            <a:off x="8306410"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ClickHouse</a:t>
            </a:r>
            <a:endParaRPr lang="en-US" sz="1600" dirty="0"/>
          </a:p>
        </p:txBody>
      </p:sp>
      <p:sp>
        <p:nvSpPr>
          <p:cNvPr id="38" name="Text 236"/>
          <p:cNvSpPr txBox="1"/>
          <p:nvPr/>
        </p:nvSpPr>
        <p:spPr>
          <a:xfrm>
            <a:off x="8306410"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Analytical storage: zone_hour</a:t>
            </a:r>
            <a:endParaRPr lang="en-US" sz="1200" dirty="0"/>
          </a:p>
        </p:txBody>
      </p:sp>
      <p:sp>
        <p:nvSpPr>
          <p:cNvPr id="39" name="Connector 237"/>
          <p:cNvSpPr/>
          <p:nvPr/>
        </p:nvSpPr>
        <p:spPr>
          <a:xfrm>
            <a:off x="9778594" y="3886200"/>
            <a:ext cx="298094" cy="0"/>
          </a:xfrm>
          <a:prstGeom prst="line">
            <a:avLst/>
          </a:prstGeom>
          <a:noFill/>
          <a:ln w="25400">
            <a:solidFill>
              <a:schemeClr val="accent1"/>
            </a:solidFill>
            <a:prstDash val="solid"/>
            <a:tailEnd type="triangle"/>
          </a:ln>
        </p:spPr>
      </p:sp>
      <p:sp>
        <p:nvSpPr>
          <p:cNvPr id="40" name="Card 238"/>
          <p:cNvSpPr/>
          <p:nvPr/>
        </p:nvSpPr>
        <p:spPr>
          <a:xfrm>
            <a:off x="10131552" y="2743200"/>
            <a:ext cx="1508760" cy="2286000"/>
          </a:xfrm>
          <a:prstGeom prst="roundRect">
            <a:avLst>
              <a:gd name="adj" fmla="val 7273"/>
            </a:avLst>
          </a:prstGeom>
          <a:solidFill>
            <a:schemeClr val="tx2"/>
          </a:solidFill>
          <a:ln w="9525">
            <a:solidFill>
              <a:schemeClr val="accent2">
                <a:alpha val="45000"/>
              </a:schemeClr>
            </a:solidFill>
            <a:prstDash val="solid"/>
          </a:ln>
        </p:spPr>
      </p:sp>
      <p:sp>
        <p:nvSpPr>
          <p:cNvPr id="41" name="Icon circle 239"/>
          <p:cNvSpPr/>
          <p:nvPr/>
        </p:nvSpPr>
        <p:spPr>
          <a:xfrm>
            <a:off x="10520172" y="2944368"/>
            <a:ext cx="731520" cy="731520"/>
          </a:xfrm>
          <a:prstGeom prst="ellipse">
            <a:avLst/>
          </a:prstGeom>
          <a:solidFill>
            <a:schemeClr val="accent2">
              <a:alpha val="28000"/>
            </a:schemeClr>
          </a:solidFill>
          <a:ln w="9525">
            <a:solidFill>
              <a:schemeClr val="accent1">
                <a:alpha val="55000"/>
              </a:schemeClr>
            </a:solidFill>
            <a:prstDash val="solid"/>
          </a:ln>
        </p:spPr>
      </p:sp>
      <p:pic>
        <p:nvPicPr>
          <p:cNvPr id="42" name="Icon 240" descr="Superset">    </p:cNvPr>
          <p:cNvPicPr>
            <a:picLocks noChangeAspect="1"/>
          </p:cNvPicPr>
          <p:nvPr/>
        </p:nvPicPr>
        <p:blipFill>
          <a:blip r:embed="rId7"/>
          <a:stretch>
            <a:fillRect/>
          </a:stretch>
        </p:blipFill>
        <p:spPr>
          <a:xfrm>
            <a:off x="10703052" y="3127248"/>
            <a:ext cx="365760" cy="365760"/>
          </a:xfrm>
          <a:prstGeom prst="rect">
            <a:avLst/>
          </a:prstGeom>
        </p:spPr>
      </p:pic>
      <p:sp>
        <p:nvSpPr>
          <p:cNvPr id="43" name="Text 241"/>
          <p:cNvSpPr txBox="1"/>
          <p:nvPr/>
        </p:nvSpPr>
        <p:spPr>
          <a:xfrm>
            <a:off x="10222992" y="3794760"/>
            <a:ext cx="1325880" cy="502920"/>
          </a:xfrm>
          <a:prstGeom prst="rect">
            <a:avLst/>
          </a:prstGeom>
          <a:noFill/>
          <a:ln/>
        </p:spPr>
        <p:txBody>
          <a:bodyPr wrap="square" lIns="0" tIns="0" rIns="0" bIns="0" rtlCol="0" anchor="ctr"/>
          <a:lstStyle/>
          <a:p>
            <a:pPr algn="ctr" indent="0" marL="0">
              <a:buNone/>
            </a:pPr>
            <a:r>
              <a:rPr lang="en-US" sz="1600" b="1" dirty="0">
                <a:solidFill>
                  <a:schemeClr val="bg1"/>
                </a:solidFill>
              </a:rPr>
              <a:t>Superset</a:t>
            </a:r>
            <a:endParaRPr lang="en-US" sz="1600" dirty="0"/>
          </a:p>
        </p:txBody>
      </p:sp>
      <p:sp>
        <p:nvSpPr>
          <p:cNvPr id="44" name="Text 242"/>
          <p:cNvSpPr txBox="1"/>
          <p:nvPr/>
        </p:nvSpPr>
        <p:spPr>
          <a:xfrm>
            <a:off x="10222992" y="4343400"/>
            <a:ext cx="1325880" cy="594360"/>
          </a:xfrm>
          <a:prstGeom prst="rect">
            <a:avLst/>
          </a:prstGeom>
          <a:noFill/>
          <a:ln/>
        </p:spPr>
        <p:txBody>
          <a:bodyPr wrap="square" lIns="0" tIns="0" rIns="0" bIns="0" rtlCol="0" anchor="t"/>
          <a:lstStyle/>
          <a:p>
            <a:pPr algn="ctr" indent="0" marL="0">
              <a:buNone/>
            </a:pPr>
            <a:r>
              <a:rPr lang="en-US" sz="1200" dirty="0">
                <a:solidFill>
                  <a:schemeClr val="bg2"/>
                </a:solidFill>
              </a:rPr>
              <a:t>Interactive dashboard</a:t>
            </a:r>
            <a:endParaRPr lang="en-US" sz="1200" dirty="0"/>
          </a:p>
        </p:txBody>
      </p:sp>
      <p:sp>
        <p:nvSpPr>
          <p:cNvPr id="45" name="Connector 243"/>
          <p:cNvSpPr/>
          <p:nvPr/>
        </p:nvSpPr>
        <p:spPr>
          <a:xfrm>
            <a:off x="3219602" y="2331720"/>
            <a:ext cx="0" cy="411480"/>
          </a:xfrm>
          <a:prstGeom prst="line">
            <a:avLst/>
          </a:prstGeom>
          <a:noFill/>
          <a:ln w="19050">
            <a:solidFill>
              <a:schemeClr val="accent4"/>
            </a:solidFill>
            <a:prstDash val="dash"/>
            <a:tailEnd type="triangle"/>
          </a:ln>
        </p:spPr>
      </p:sp>
      <p:sp>
        <p:nvSpPr>
          <p:cNvPr id="46" name="Connector 244"/>
          <p:cNvSpPr/>
          <p:nvPr/>
        </p:nvSpPr>
        <p:spPr>
          <a:xfrm>
            <a:off x="5136185" y="2331720"/>
            <a:ext cx="0" cy="411480"/>
          </a:xfrm>
          <a:prstGeom prst="line">
            <a:avLst/>
          </a:prstGeom>
          <a:noFill/>
          <a:ln w="19050">
            <a:solidFill>
              <a:schemeClr val="accent4"/>
            </a:solidFill>
            <a:prstDash val="dash"/>
            <a:tailEnd type="triangle"/>
          </a:ln>
        </p:spPr>
      </p:sp>
      <p:sp>
        <p:nvSpPr>
          <p:cNvPr id="47" name="Connector 245"/>
          <p:cNvSpPr/>
          <p:nvPr/>
        </p:nvSpPr>
        <p:spPr>
          <a:xfrm>
            <a:off x="7052767" y="2331720"/>
            <a:ext cx="0" cy="411480"/>
          </a:xfrm>
          <a:prstGeom prst="line">
            <a:avLst/>
          </a:prstGeom>
          <a:noFill/>
          <a:ln w="19050">
            <a:solidFill>
              <a:schemeClr val="accent4"/>
            </a:solidFill>
            <a:prstDash val="dash"/>
            <a:tailEnd type="triangle"/>
          </a:ln>
        </p:spPr>
      </p:sp>
      <p:sp>
        <p:nvSpPr>
          <p:cNvPr id="48" name="Card 246"/>
          <p:cNvSpPr/>
          <p:nvPr/>
        </p:nvSpPr>
        <p:spPr>
          <a:xfrm>
            <a:off x="548640" y="5257800"/>
            <a:ext cx="3425342" cy="45720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49" name="Text 247"/>
          <p:cNvSpPr txBox="1"/>
          <p:nvPr/>
        </p:nvSpPr>
        <p:spPr>
          <a:xfrm>
            <a:off x="548640" y="5257800"/>
            <a:ext cx="3425342" cy="457200"/>
          </a:xfrm>
          <a:prstGeom prst="rect">
            <a:avLst/>
          </a:prstGeom>
          <a:noFill/>
          <a:ln/>
        </p:spPr>
        <p:txBody>
          <a:bodyPr wrap="square" lIns="0" tIns="0" rIns="0" bIns="0" rtlCol="0" anchor="ctr"/>
          <a:lstStyle/>
          <a:p>
            <a:pPr algn="ctr" indent="0" marL="0">
              <a:buNone/>
            </a:pPr>
            <a:r>
              <a:rPr lang="en-US" sz="1300" b="1" spc="200" kern="0" dirty="0">
                <a:solidFill>
                  <a:schemeClr val="accent1"/>
                </a:solidFill>
              </a:rPr>
              <a:t>STORE</a:t>
            </a:r>
            <a:endParaRPr lang="en-US" sz="1300" dirty="0"/>
          </a:p>
        </p:txBody>
      </p:sp>
      <p:sp>
        <p:nvSpPr>
          <p:cNvPr id="50" name="Card 248"/>
          <p:cNvSpPr/>
          <p:nvPr/>
        </p:nvSpPr>
        <p:spPr>
          <a:xfrm>
            <a:off x="4381805" y="5257800"/>
            <a:ext cx="3425342" cy="45720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51" name="Text 249"/>
          <p:cNvSpPr txBox="1"/>
          <p:nvPr/>
        </p:nvSpPr>
        <p:spPr>
          <a:xfrm>
            <a:off x="4381805" y="5257800"/>
            <a:ext cx="3425342" cy="457200"/>
          </a:xfrm>
          <a:prstGeom prst="rect">
            <a:avLst/>
          </a:prstGeom>
          <a:noFill/>
          <a:ln/>
        </p:spPr>
        <p:txBody>
          <a:bodyPr wrap="square" lIns="0" tIns="0" rIns="0" bIns="0" rtlCol="0" anchor="ctr"/>
          <a:lstStyle/>
          <a:p>
            <a:pPr algn="ctr" indent="0" marL="0">
              <a:buNone/>
            </a:pPr>
            <a:r>
              <a:rPr lang="en-US" sz="1300" b="1" spc="200" kern="0" dirty="0">
                <a:solidFill>
                  <a:schemeClr val="accent1"/>
                </a:solidFill>
              </a:rPr>
              <a:t>PROCESS</a:t>
            </a:r>
            <a:endParaRPr lang="en-US" sz="1300" dirty="0"/>
          </a:p>
        </p:txBody>
      </p:sp>
      <p:sp>
        <p:nvSpPr>
          <p:cNvPr id="52" name="Card 250"/>
          <p:cNvSpPr/>
          <p:nvPr/>
        </p:nvSpPr>
        <p:spPr>
          <a:xfrm>
            <a:off x="8214970" y="5257800"/>
            <a:ext cx="3425342" cy="45720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53" name="Text 251"/>
          <p:cNvSpPr txBox="1"/>
          <p:nvPr/>
        </p:nvSpPr>
        <p:spPr>
          <a:xfrm>
            <a:off x="8214970" y="5257800"/>
            <a:ext cx="3425342" cy="457200"/>
          </a:xfrm>
          <a:prstGeom prst="rect">
            <a:avLst/>
          </a:prstGeom>
          <a:noFill/>
          <a:ln/>
        </p:spPr>
        <p:txBody>
          <a:bodyPr wrap="square" lIns="0" tIns="0" rIns="0" bIns="0" rtlCol="0" anchor="ctr"/>
          <a:lstStyle/>
          <a:p>
            <a:pPr algn="ctr" indent="0" marL="0">
              <a:buNone/>
            </a:pPr>
            <a:r>
              <a:rPr lang="en-US" sz="1300" b="1" spc="200" kern="0" dirty="0">
                <a:solidFill>
                  <a:schemeClr val="accent1"/>
                </a:solidFill>
              </a:rPr>
              <a:t>SERVE &amp; VISUALIZE</a:t>
            </a:r>
            <a:endParaRPr lang="en-US" sz="1300" dirty="0"/>
          </a:p>
        </p:txBody>
      </p:sp>
      <p:sp>
        <p:nvSpPr>
          <p:cNvPr id="54" name="Text 252"/>
          <p:cNvSpPr txBox="1"/>
          <p:nvPr/>
        </p:nvSpPr>
        <p:spPr>
          <a:xfrm>
            <a:off x="548640" y="5989320"/>
            <a:ext cx="11094415" cy="274320"/>
          </a:xfrm>
          <a:prstGeom prst="rect">
            <a:avLst/>
          </a:prstGeom>
          <a:noFill/>
          <a:ln/>
        </p:spPr>
        <p:txBody>
          <a:bodyPr wrap="square" lIns="0" tIns="0" rIns="0" bIns="0" rtlCol="0" anchor="t"/>
          <a:lstStyle/>
          <a:p>
            <a:pPr algn="ctr" indent="0" marL="0">
              <a:buNone/>
            </a:pPr>
            <a:r>
              <a:rPr lang="en-US" sz="1200" dirty="0">
                <a:solidFill>
                  <a:schemeClr val="bg2"/>
                </a:solidFill>
              </a:rPr>
              <a:t>All services run as Docker containers.</a:t>
            </a:r>
            <a:endParaRPr lang="en-US" sz="12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53"/>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STORAGE LAYER</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HDFS – Distributed Storage</a:t>
            </a:r>
            <a:endParaRPr lang="en-US" sz="3600" dirty="0"/>
          </a:p>
        </p:txBody>
      </p:sp>
      <p:sp>
        <p:nvSpPr>
          <p:cNvPr id="4" name="Card 254"/>
          <p:cNvSpPr/>
          <p:nvPr/>
        </p:nvSpPr>
        <p:spPr>
          <a:xfrm>
            <a:off x="548640" y="1508760"/>
            <a:ext cx="5394960" cy="777240"/>
          </a:xfrm>
          <a:prstGeom prst="roundRect">
            <a:avLst>
              <a:gd name="adj" fmla="val 14118"/>
            </a:avLst>
          </a:prstGeom>
          <a:solidFill>
            <a:schemeClr val="tx2"/>
          </a:solidFill>
          <a:ln w="9525">
            <a:solidFill>
              <a:schemeClr val="accent2">
                <a:alpha val="45000"/>
              </a:schemeClr>
            </a:solidFill>
            <a:prstDash val="solid"/>
          </a:ln>
        </p:spPr>
      </p:sp>
      <p:sp>
        <p:nvSpPr>
          <p:cNvPr id="5" name="Text 255"/>
          <p:cNvSpPr txBox="1"/>
          <p:nvPr/>
        </p:nvSpPr>
        <p:spPr>
          <a:xfrm>
            <a:off x="822960" y="1618488"/>
            <a:ext cx="48463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RAW  ·  SOURCE DATA</a:t>
            </a:r>
            <a:endParaRPr lang="en-US" sz="1100" dirty="0"/>
          </a:p>
        </p:txBody>
      </p:sp>
      <p:sp>
        <p:nvSpPr>
          <p:cNvPr id="6" name="Text 256"/>
          <p:cNvSpPr txBox="1"/>
          <p:nvPr/>
        </p:nvSpPr>
        <p:spPr>
          <a:xfrm>
            <a:off x="822960" y="1874520"/>
            <a:ext cx="4846320" cy="320040"/>
          </a:xfrm>
          <a:prstGeom prst="rect">
            <a:avLst/>
          </a:prstGeom>
          <a:noFill/>
          <a:ln/>
        </p:spPr>
        <p:txBody>
          <a:bodyPr wrap="square" lIns="0" tIns="0" rIns="0" bIns="0" rtlCol="0" anchor="t"/>
          <a:lstStyle/>
          <a:p>
            <a:pPr indent="0" marL="0">
              <a:buNone/>
            </a:pPr>
            <a:r>
              <a:rPr lang="en-US" sz="1800" b="1" dirty="0">
                <a:solidFill>
                  <a:schemeClr val="bg1"/>
                </a:solidFill>
                <a:latin typeface="Courier New" pitchFamily="34" charset="0"/>
                <a:ea typeface="Courier New" pitchFamily="34" charset="-122"/>
                <a:cs typeface="Courier New" pitchFamily="34" charset="-120"/>
              </a:rPr>
              <a:t>/data/nyc/raw</a:t>
            </a:r>
            <a:endParaRPr lang="en-US" sz="1800" dirty="0"/>
          </a:p>
        </p:txBody>
      </p:sp>
      <p:sp>
        <p:nvSpPr>
          <p:cNvPr id="7" name="Card 257"/>
          <p:cNvSpPr/>
          <p:nvPr/>
        </p:nvSpPr>
        <p:spPr>
          <a:xfrm>
            <a:off x="548640" y="2404872"/>
            <a:ext cx="5394960" cy="777240"/>
          </a:xfrm>
          <a:prstGeom prst="roundRect">
            <a:avLst>
              <a:gd name="adj" fmla="val 14118"/>
            </a:avLst>
          </a:prstGeom>
          <a:solidFill>
            <a:schemeClr val="tx2"/>
          </a:solidFill>
          <a:ln w="9525">
            <a:solidFill>
              <a:schemeClr val="accent2">
                <a:alpha val="45000"/>
              </a:schemeClr>
            </a:solidFill>
            <a:prstDash val="solid"/>
          </a:ln>
        </p:spPr>
      </p:sp>
      <p:sp>
        <p:nvSpPr>
          <p:cNvPr id="8" name="Text 258"/>
          <p:cNvSpPr txBox="1"/>
          <p:nvPr/>
        </p:nvSpPr>
        <p:spPr>
          <a:xfrm>
            <a:off x="822960" y="2514600"/>
            <a:ext cx="48463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STAGING  ·  INTERMEDIATE OUTPUT</a:t>
            </a:r>
            <a:endParaRPr lang="en-US" sz="1100" dirty="0"/>
          </a:p>
        </p:txBody>
      </p:sp>
      <p:sp>
        <p:nvSpPr>
          <p:cNvPr id="9" name="Text 259"/>
          <p:cNvSpPr txBox="1"/>
          <p:nvPr/>
        </p:nvSpPr>
        <p:spPr>
          <a:xfrm>
            <a:off x="822960" y="2770632"/>
            <a:ext cx="4846320" cy="320040"/>
          </a:xfrm>
          <a:prstGeom prst="rect">
            <a:avLst/>
          </a:prstGeom>
          <a:noFill/>
          <a:ln/>
        </p:spPr>
        <p:txBody>
          <a:bodyPr wrap="square" lIns="0" tIns="0" rIns="0" bIns="0" rtlCol="0" anchor="t"/>
          <a:lstStyle/>
          <a:p>
            <a:pPr indent="0" marL="0">
              <a:buNone/>
            </a:pPr>
            <a:r>
              <a:rPr lang="en-US" sz="1800" b="1" dirty="0">
                <a:solidFill>
                  <a:schemeClr val="bg1"/>
                </a:solidFill>
                <a:latin typeface="Courier New" pitchFamily="34" charset="0"/>
                <a:ea typeface="Courier New" pitchFamily="34" charset="-122"/>
                <a:cs typeface="Courier New" pitchFamily="34" charset="-120"/>
              </a:rPr>
              <a:t>/data/nyc/staging</a:t>
            </a:r>
            <a:endParaRPr lang="en-US" sz="1800" dirty="0"/>
          </a:p>
        </p:txBody>
      </p:sp>
      <p:sp>
        <p:nvSpPr>
          <p:cNvPr id="10" name="Card 260"/>
          <p:cNvSpPr/>
          <p:nvPr/>
        </p:nvSpPr>
        <p:spPr>
          <a:xfrm>
            <a:off x="548640" y="3300984"/>
            <a:ext cx="5394960" cy="777240"/>
          </a:xfrm>
          <a:prstGeom prst="roundRect">
            <a:avLst>
              <a:gd name="adj" fmla="val 14118"/>
            </a:avLst>
          </a:prstGeom>
          <a:solidFill>
            <a:schemeClr val="tx2"/>
          </a:solidFill>
          <a:ln w="9525">
            <a:solidFill>
              <a:schemeClr val="accent2">
                <a:alpha val="45000"/>
              </a:schemeClr>
            </a:solidFill>
            <a:prstDash val="solid"/>
          </a:ln>
        </p:spPr>
      </p:sp>
      <p:sp>
        <p:nvSpPr>
          <p:cNvPr id="11" name="Text 261"/>
          <p:cNvSpPr txBox="1"/>
          <p:nvPr/>
        </p:nvSpPr>
        <p:spPr>
          <a:xfrm>
            <a:off x="822960" y="3410712"/>
            <a:ext cx="48463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PROCESSED  ·  ANALYTICAL DATA</a:t>
            </a:r>
            <a:endParaRPr lang="en-US" sz="1100" dirty="0"/>
          </a:p>
        </p:txBody>
      </p:sp>
      <p:sp>
        <p:nvSpPr>
          <p:cNvPr id="12" name="Text 262"/>
          <p:cNvSpPr txBox="1"/>
          <p:nvPr/>
        </p:nvSpPr>
        <p:spPr>
          <a:xfrm>
            <a:off x="822960" y="3666744"/>
            <a:ext cx="4846320" cy="320040"/>
          </a:xfrm>
          <a:prstGeom prst="rect">
            <a:avLst/>
          </a:prstGeom>
          <a:noFill/>
          <a:ln/>
        </p:spPr>
        <p:txBody>
          <a:bodyPr wrap="square" lIns="0" tIns="0" rIns="0" bIns="0" rtlCol="0" anchor="t"/>
          <a:lstStyle/>
          <a:p>
            <a:pPr indent="0" marL="0">
              <a:buNone/>
            </a:pPr>
            <a:r>
              <a:rPr lang="en-US" sz="1800" b="1" dirty="0">
                <a:solidFill>
                  <a:schemeClr val="bg1"/>
                </a:solidFill>
                <a:latin typeface="Courier New" pitchFamily="34" charset="0"/>
                <a:ea typeface="Courier New" pitchFamily="34" charset="-122"/>
                <a:cs typeface="Courier New" pitchFamily="34" charset="-120"/>
              </a:rPr>
              <a:t>/data/nyc/processed</a:t>
            </a:r>
            <a:endParaRPr lang="en-US" sz="1800" dirty="0"/>
          </a:p>
        </p:txBody>
      </p:sp>
      <p:sp>
        <p:nvSpPr>
          <p:cNvPr id="13" name="Card 263"/>
          <p:cNvSpPr/>
          <p:nvPr/>
        </p:nvSpPr>
        <p:spPr>
          <a:xfrm>
            <a:off x="548640" y="4343400"/>
            <a:ext cx="2651760" cy="896112"/>
          </a:xfrm>
          <a:prstGeom prst="roundRect">
            <a:avLst>
              <a:gd name="adj" fmla="val 12245"/>
            </a:avLst>
          </a:prstGeom>
          <a:solidFill>
            <a:schemeClr val="tx2"/>
          </a:solidFill>
          <a:ln w="9525">
            <a:solidFill>
              <a:schemeClr val="accent2">
                <a:alpha val="45000"/>
              </a:schemeClr>
            </a:solidFill>
            <a:prstDash val="solid"/>
          </a:ln>
        </p:spPr>
      </p:sp>
      <p:sp>
        <p:nvSpPr>
          <p:cNvPr id="14" name="Icon circle 264"/>
          <p:cNvSpPr/>
          <p:nvPr/>
        </p:nvSpPr>
        <p:spPr>
          <a:xfrm>
            <a:off x="685800" y="4526280"/>
            <a:ext cx="530352" cy="530352"/>
          </a:xfrm>
          <a:prstGeom prst="ellipse">
            <a:avLst/>
          </a:prstGeom>
          <a:solidFill>
            <a:schemeClr val="accent2">
              <a:alpha val="28000"/>
            </a:schemeClr>
          </a:solidFill>
          <a:ln w="9525">
            <a:solidFill>
              <a:schemeClr val="accent1">
                <a:alpha val="55000"/>
              </a:schemeClr>
            </a:solidFill>
            <a:prstDash val="solid"/>
          </a:ln>
        </p:spPr>
      </p:sp>
      <p:pic>
        <p:nvPicPr>
          <p:cNvPr id="15" name="Icon 265" descr="Distributed storage">    </p:cNvPr>
          <p:cNvPicPr>
            <a:picLocks noChangeAspect="1"/>
          </p:cNvPicPr>
          <p:nvPr/>
        </p:nvPicPr>
        <p:blipFill>
          <a:blip r:embed="rId1"/>
          <a:stretch>
            <a:fillRect/>
          </a:stretch>
        </p:blipFill>
        <p:spPr>
          <a:xfrm>
            <a:off x="818388" y="4658868"/>
            <a:ext cx="265176" cy="265176"/>
          </a:xfrm>
          <a:prstGeom prst="rect">
            <a:avLst/>
          </a:prstGeom>
        </p:spPr>
      </p:pic>
      <p:sp>
        <p:nvSpPr>
          <p:cNvPr id="16" name="Text 266"/>
          <p:cNvSpPr txBox="1"/>
          <p:nvPr/>
        </p:nvSpPr>
        <p:spPr>
          <a:xfrm>
            <a:off x="1353312" y="4498848"/>
            <a:ext cx="1783080" cy="274320"/>
          </a:xfrm>
          <a:prstGeom prst="rect">
            <a:avLst/>
          </a:prstGeom>
          <a:noFill/>
          <a:ln/>
        </p:spPr>
        <p:txBody>
          <a:bodyPr wrap="square" lIns="0" tIns="0" rIns="0" bIns="0" rtlCol="0" anchor="t"/>
          <a:lstStyle/>
          <a:p>
            <a:pPr indent="0" marL="0">
              <a:buNone/>
            </a:pPr>
            <a:r>
              <a:rPr lang="en-US" sz="1400" b="1" dirty="0">
                <a:solidFill>
                  <a:schemeClr val="bg1"/>
                </a:solidFill>
              </a:rPr>
              <a:t>Distributed storage</a:t>
            </a:r>
            <a:endParaRPr lang="en-US" sz="1400" dirty="0"/>
          </a:p>
        </p:txBody>
      </p:sp>
      <p:sp>
        <p:nvSpPr>
          <p:cNvPr id="17" name="Text 267"/>
          <p:cNvSpPr txBox="1"/>
          <p:nvPr/>
        </p:nvSpPr>
        <p:spPr>
          <a:xfrm>
            <a:off x="1353312" y="4800600"/>
            <a:ext cx="1783080" cy="365760"/>
          </a:xfrm>
          <a:prstGeom prst="rect">
            <a:avLst/>
          </a:prstGeom>
          <a:noFill/>
          <a:ln/>
        </p:spPr>
        <p:txBody>
          <a:bodyPr wrap="square" lIns="0" tIns="0" rIns="0" bIns="0" rtlCol="0" anchor="t"/>
          <a:lstStyle/>
          <a:p>
            <a:pPr indent="0" marL="0">
              <a:buNone/>
            </a:pPr>
            <a:r>
              <a:rPr lang="en-US" sz="1200" dirty="0">
                <a:solidFill>
                  <a:schemeClr val="bg2"/>
                </a:solidFill>
              </a:rPr>
              <a:t>Data spread across nodes</a:t>
            </a:r>
            <a:endParaRPr lang="en-US" sz="1200" dirty="0"/>
          </a:p>
        </p:txBody>
      </p:sp>
      <p:sp>
        <p:nvSpPr>
          <p:cNvPr id="18" name="Card 268"/>
          <p:cNvSpPr/>
          <p:nvPr/>
        </p:nvSpPr>
        <p:spPr>
          <a:xfrm>
            <a:off x="3291840" y="4343400"/>
            <a:ext cx="2651760" cy="896112"/>
          </a:xfrm>
          <a:prstGeom prst="roundRect">
            <a:avLst>
              <a:gd name="adj" fmla="val 12245"/>
            </a:avLst>
          </a:prstGeom>
          <a:solidFill>
            <a:schemeClr val="tx2"/>
          </a:solidFill>
          <a:ln w="9525">
            <a:solidFill>
              <a:schemeClr val="accent2">
                <a:alpha val="45000"/>
              </a:schemeClr>
            </a:solidFill>
            <a:prstDash val="solid"/>
          </a:ln>
        </p:spPr>
      </p:sp>
      <p:sp>
        <p:nvSpPr>
          <p:cNvPr id="19" name="Icon circle 269"/>
          <p:cNvSpPr/>
          <p:nvPr/>
        </p:nvSpPr>
        <p:spPr>
          <a:xfrm>
            <a:off x="3429000" y="4526280"/>
            <a:ext cx="530352" cy="530352"/>
          </a:xfrm>
          <a:prstGeom prst="ellipse">
            <a:avLst/>
          </a:prstGeom>
          <a:solidFill>
            <a:schemeClr val="accent2">
              <a:alpha val="28000"/>
            </a:schemeClr>
          </a:solidFill>
          <a:ln w="9525">
            <a:solidFill>
              <a:schemeClr val="accent1">
                <a:alpha val="55000"/>
              </a:schemeClr>
            </a:solidFill>
            <a:prstDash val="solid"/>
          </a:ln>
        </p:spPr>
      </p:sp>
      <p:pic>
        <p:nvPicPr>
          <p:cNvPr id="20" name="Icon 270" descr="Scalability">    </p:cNvPr>
          <p:cNvPicPr>
            <a:picLocks noChangeAspect="1"/>
          </p:cNvPicPr>
          <p:nvPr/>
        </p:nvPicPr>
        <p:blipFill>
          <a:blip r:embed="rId2"/>
          <a:stretch>
            <a:fillRect/>
          </a:stretch>
        </p:blipFill>
        <p:spPr>
          <a:xfrm>
            <a:off x="3561588" y="4658868"/>
            <a:ext cx="265176" cy="265176"/>
          </a:xfrm>
          <a:prstGeom prst="rect">
            <a:avLst/>
          </a:prstGeom>
        </p:spPr>
      </p:pic>
      <p:sp>
        <p:nvSpPr>
          <p:cNvPr id="21" name="Text 271"/>
          <p:cNvSpPr txBox="1"/>
          <p:nvPr/>
        </p:nvSpPr>
        <p:spPr>
          <a:xfrm>
            <a:off x="4096512" y="4498848"/>
            <a:ext cx="1783080" cy="274320"/>
          </a:xfrm>
          <a:prstGeom prst="rect">
            <a:avLst/>
          </a:prstGeom>
          <a:noFill/>
          <a:ln/>
        </p:spPr>
        <p:txBody>
          <a:bodyPr wrap="square" lIns="0" tIns="0" rIns="0" bIns="0" rtlCol="0" anchor="t"/>
          <a:lstStyle/>
          <a:p>
            <a:pPr indent="0" marL="0">
              <a:buNone/>
            </a:pPr>
            <a:r>
              <a:rPr lang="en-US" sz="1400" b="1" dirty="0">
                <a:solidFill>
                  <a:schemeClr val="bg1"/>
                </a:solidFill>
              </a:rPr>
              <a:t>Scalability</a:t>
            </a:r>
            <a:endParaRPr lang="en-US" sz="1400" dirty="0"/>
          </a:p>
        </p:txBody>
      </p:sp>
      <p:sp>
        <p:nvSpPr>
          <p:cNvPr id="22" name="Text 272"/>
          <p:cNvSpPr txBox="1"/>
          <p:nvPr/>
        </p:nvSpPr>
        <p:spPr>
          <a:xfrm>
            <a:off x="4096512" y="4800600"/>
            <a:ext cx="1783080" cy="365760"/>
          </a:xfrm>
          <a:prstGeom prst="rect">
            <a:avLst/>
          </a:prstGeom>
          <a:noFill/>
          <a:ln/>
        </p:spPr>
        <p:txBody>
          <a:bodyPr wrap="square" lIns="0" tIns="0" rIns="0" bIns="0" rtlCol="0" anchor="t"/>
          <a:lstStyle/>
          <a:p>
            <a:pPr indent="0" marL="0">
              <a:buNone/>
            </a:pPr>
            <a:r>
              <a:rPr lang="en-US" sz="1200" dirty="0">
                <a:solidFill>
                  <a:schemeClr val="bg2"/>
                </a:solidFill>
              </a:rPr>
              <a:t>Grows by adding nodes</a:t>
            </a:r>
            <a:endParaRPr lang="en-US" sz="1200" dirty="0"/>
          </a:p>
        </p:txBody>
      </p:sp>
      <p:sp>
        <p:nvSpPr>
          <p:cNvPr id="23" name="Card 273"/>
          <p:cNvSpPr/>
          <p:nvPr/>
        </p:nvSpPr>
        <p:spPr>
          <a:xfrm>
            <a:off x="548640" y="5349240"/>
            <a:ext cx="2651760" cy="896112"/>
          </a:xfrm>
          <a:prstGeom prst="roundRect">
            <a:avLst>
              <a:gd name="adj" fmla="val 12245"/>
            </a:avLst>
          </a:prstGeom>
          <a:solidFill>
            <a:schemeClr val="tx2"/>
          </a:solidFill>
          <a:ln w="9525">
            <a:solidFill>
              <a:schemeClr val="accent2">
                <a:alpha val="45000"/>
              </a:schemeClr>
            </a:solidFill>
            <a:prstDash val="solid"/>
          </a:ln>
        </p:spPr>
      </p:sp>
      <p:sp>
        <p:nvSpPr>
          <p:cNvPr id="24" name="Icon circle 274"/>
          <p:cNvSpPr/>
          <p:nvPr/>
        </p:nvSpPr>
        <p:spPr>
          <a:xfrm>
            <a:off x="685800" y="5532120"/>
            <a:ext cx="530352" cy="530352"/>
          </a:xfrm>
          <a:prstGeom prst="ellipse">
            <a:avLst/>
          </a:prstGeom>
          <a:solidFill>
            <a:schemeClr val="accent2">
              <a:alpha val="28000"/>
            </a:schemeClr>
          </a:solidFill>
          <a:ln w="9525">
            <a:solidFill>
              <a:schemeClr val="accent1">
                <a:alpha val="55000"/>
              </a:schemeClr>
            </a:solidFill>
            <a:prstDash val="solid"/>
          </a:ln>
        </p:spPr>
      </p:sp>
      <p:pic>
        <p:nvPicPr>
          <p:cNvPr id="25" name="Icon 275" descr="Fault tolerance">    </p:cNvPr>
          <p:cNvPicPr>
            <a:picLocks noChangeAspect="1"/>
          </p:cNvPicPr>
          <p:nvPr/>
        </p:nvPicPr>
        <p:blipFill>
          <a:blip r:embed="rId3"/>
          <a:stretch>
            <a:fillRect/>
          </a:stretch>
        </p:blipFill>
        <p:spPr>
          <a:xfrm>
            <a:off x="818388" y="5664708"/>
            <a:ext cx="265176" cy="265176"/>
          </a:xfrm>
          <a:prstGeom prst="rect">
            <a:avLst/>
          </a:prstGeom>
        </p:spPr>
      </p:pic>
      <p:sp>
        <p:nvSpPr>
          <p:cNvPr id="26" name="Text 276"/>
          <p:cNvSpPr txBox="1"/>
          <p:nvPr/>
        </p:nvSpPr>
        <p:spPr>
          <a:xfrm>
            <a:off x="1353312" y="5504688"/>
            <a:ext cx="1783080" cy="274320"/>
          </a:xfrm>
          <a:prstGeom prst="rect">
            <a:avLst/>
          </a:prstGeom>
          <a:noFill/>
          <a:ln/>
        </p:spPr>
        <p:txBody>
          <a:bodyPr wrap="square" lIns="0" tIns="0" rIns="0" bIns="0" rtlCol="0" anchor="t"/>
          <a:lstStyle/>
          <a:p>
            <a:pPr indent="0" marL="0">
              <a:buNone/>
            </a:pPr>
            <a:r>
              <a:rPr lang="en-US" sz="1400" b="1" dirty="0">
                <a:solidFill>
                  <a:schemeClr val="bg1"/>
                </a:solidFill>
              </a:rPr>
              <a:t>Fault tolerance</a:t>
            </a:r>
            <a:endParaRPr lang="en-US" sz="1400" dirty="0"/>
          </a:p>
        </p:txBody>
      </p:sp>
      <p:sp>
        <p:nvSpPr>
          <p:cNvPr id="27" name="Text 277"/>
          <p:cNvSpPr txBox="1"/>
          <p:nvPr/>
        </p:nvSpPr>
        <p:spPr>
          <a:xfrm>
            <a:off x="1353312" y="5806440"/>
            <a:ext cx="1783080" cy="365760"/>
          </a:xfrm>
          <a:prstGeom prst="rect">
            <a:avLst/>
          </a:prstGeom>
          <a:noFill/>
          <a:ln/>
        </p:spPr>
        <p:txBody>
          <a:bodyPr wrap="square" lIns="0" tIns="0" rIns="0" bIns="0" rtlCol="0" anchor="t"/>
          <a:lstStyle/>
          <a:p>
            <a:pPr indent="0" marL="0">
              <a:buNone/>
            </a:pPr>
            <a:r>
              <a:rPr lang="en-US" sz="1200" dirty="0">
                <a:solidFill>
                  <a:schemeClr val="bg2"/>
                </a:solidFill>
              </a:rPr>
              <a:t>Blocks replicated across nodes</a:t>
            </a:r>
            <a:endParaRPr lang="en-US" sz="1200" dirty="0"/>
          </a:p>
        </p:txBody>
      </p:sp>
      <p:sp>
        <p:nvSpPr>
          <p:cNvPr id="28" name="Card 278"/>
          <p:cNvSpPr/>
          <p:nvPr/>
        </p:nvSpPr>
        <p:spPr>
          <a:xfrm>
            <a:off x="3291840" y="5349240"/>
            <a:ext cx="2651760" cy="896112"/>
          </a:xfrm>
          <a:prstGeom prst="roundRect">
            <a:avLst>
              <a:gd name="adj" fmla="val 12245"/>
            </a:avLst>
          </a:prstGeom>
          <a:solidFill>
            <a:schemeClr val="tx2"/>
          </a:solidFill>
          <a:ln w="9525">
            <a:solidFill>
              <a:schemeClr val="accent2">
                <a:alpha val="45000"/>
              </a:schemeClr>
            </a:solidFill>
            <a:prstDash val="solid"/>
          </a:ln>
        </p:spPr>
      </p:sp>
      <p:sp>
        <p:nvSpPr>
          <p:cNvPr id="29" name="Icon circle 279"/>
          <p:cNvSpPr/>
          <p:nvPr/>
        </p:nvSpPr>
        <p:spPr>
          <a:xfrm>
            <a:off x="3429000" y="5532120"/>
            <a:ext cx="530352" cy="530352"/>
          </a:xfrm>
          <a:prstGeom prst="ellipse">
            <a:avLst/>
          </a:prstGeom>
          <a:solidFill>
            <a:schemeClr val="accent2">
              <a:alpha val="28000"/>
            </a:schemeClr>
          </a:solidFill>
          <a:ln w="9525">
            <a:solidFill>
              <a:schemeClr val="accent1">
                <a:alpha val="55000"/>
              </a:schemeClr>
            </a:solidFill>
            <a:prstDash val="solid"/>
          </a:ln>
        </p:spPr>
      </p:sp>
      <p:pic>
        <p:nvPicPr>
          <p:cNvPr id="30" name="Icon 280" descr="Big Data storage">    </p:cNvPr>
          <p:cNvPicPr>
            <a:picLocks noChangeAspect="1"/>
          </p:cNvPicPr>
          <p:nvPr/>
        </p:nvPicPr>
        <p:blipFill>
          <a:blip r:embed="rId4"/>
          <a:stretch>
            <a:fillRect/>
          </a:stretch>
        </p:blipFill>
        <p:spPr>
          <a:xfrm>
            <a:off x="3561588" y="5664708"/>
            <a:ext cx="265176" cy="265176"/>
          </a:xfrm>
          <a:prstGeom prst="rect">
            <a:avLst/>
          </a:prstGeom>
        </p:spPr>
      </p:pic>
      <p:sp>
        <p:nvSpPr>
          <p:cNvPr id="31" name="Text 281"/>
          <p:cNvSpPr txBox="1"/>
          <p:nvPr/>
        </p:nvSpPr>
        <p:spPr>
          <a:xfrm>
            <a:off x="4096512" y="5504688"/>
            <a:ext cx="1783080" cy="274320"/>
          </a:xfrm>
          <a:prstGeom prst="rect">
            <a:avLst/>
          </a:prstGeom>
          <a:noFill/>
          <a:ln/>
        </p:spPr>
        <p:txBody>
          <a:bodyPr wrap="square" lIns="0" tIns="0" rIns="0" bIns="0" rtlCol="0" anchor="t"/>
          <a:lstStyle/>
          <a:p>
            <a:pPr indent="0" marL="0">
              <a:buNone/>
            </a:pPr>
            <a:r>
              <a:rPr lang="en-US" sz="1400" b="1" dirty="0">
                <a:solidFill>
                  <a:schemeClr val="bg1"/>
                </a:solidFill>
              </a:rPr>
              <a:t>Big Data storage</a:t>
            </a:r>
            <a:endParaRPr lang="en-US" sz="1400" dirty="0"/>
          </a:p>
        </p:txBody>
      </p:sp>
      <p:sp>
        <p:nvSpPr>
          <p:cNvPr id="32" name="Text 282"/>
          <p:cNvSpPr txBox="1"/>
          <p:nvPr/>
        </p:nvSpPr>
        <p:spPr>
          <a:xfrm>
            <a:off x="4096512" y="5806440"/>
            <a:ext cx="1783080" cy="365760"/>
          </a:xfrm>
          <a:prstGeom prst="rect">
            <a:avLst/>
          </a:prstGeom>
          <a:noFill/>
          <a:ln/>
        </p:spPr>
        <p:txBody>
          <a:bodyPr wrap="square" lIns="0" tIns="0" rIns="0" bIns="0" rtlCol="0" anchor="t"/>
          <a:lstStyle/>
          <a:p>
            <a:pPr indent="0" marL="0">
              <a:buNone/>
            </a:pPr>
            <a:r>
              <a:rPr lang="en-US" sz="1200" dirty="0">
                <a:solidFill>
                  <a:schemeClr val="bg2"/>
                </a:solidFill>
              </a:rPr>
              <a:t>Built for very large datasets</a:t>
            </a:r>
            <a:endParaRPr lang="en-US" sz="1200" dirty="0"/>
          </a:p>
        </p:txBody>
      </p:sp>
      <p:sp>
        <p:nvSpPr>
          <p:cNvPr id="33" name="Card 283"/>
          <p:cNvSpPr/>
          <p:nvPr/>
        </p:nvSpPr>
        <p:spPr>
          <a:xfrm>
            <a:off x="6245352" y="1508760"/>
            <a:ext cx="5394960" cy="4754880"/>
          </a:xfrm>
          <a:prstGeom prst="roundRect">
            <a:avLst>
              <a:gd name="adj" fmla="val 2308"/>
            </a:avLst>
          </a:prstGeom>
          <a:solidFill>
            <a:schemeClr val="tx2"/>
          </a:solidFill>
          <a:ln w="9525">
            <a:solidFill>
              <a:schemeClr val="accent2">
                <a:alpha val="45000"/>
              </a:schemeClr>
            </a:solidFill>
            <a:prstDash val="solid"/>
          </a:ln>
        </p:spPr>
      </p:sp>
      <p:sp>
        <p:nvSpPr>
          <p:cNvPr id="34" name="Text 284"/>
          <p:cNvSpPr txBox="1"/>
          <p:nvPr/>
        </p:nvSpPr>
        <p:spPr>
          <a:xfrm>
            <a:off x="6537960" y="1719072"/>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HDFS ARCHITECTURE (CONCEPTUAL)</a:t>
            </a:r>
            <a:endParaRPr lang="en-US" sz="1200" dirty="0"/>
          </a:p>
        </p:txBody>
      </p:sp>
      <p:sp>
        <p:nvSpPr>
          <p:cNvPr id="35" name="Card 285"/>
          <p:cNvSpPr/>
          <p:nvPr/>
        </p:nvSpPr>
        <p:spPr>
          <a:xfrm>
            <a:off x="7909560" y="2286000"/>
            <a:ext cx="2103120" cy="777240"/>
          </a:xfrm>
          <a:prstGeom prst="roundRect">
            <a:avLst>
              <a:gd name="adj" fmla="val 14118"/>
            </a:avLst>
          </a:prstGeom>
          <a:solidFill>
            <a:schemeClr val="accent2">
              <a:alpha val="30000"/>
            </a:schemeClr>
          </a:solidFill>
          <a:ln w="9525">
            <a:solidFill>
              <a:schemeClr val="accent1">
                <a:alpha val="80000"/>
              </a:schemeClr>
            </a:solidFill>
            <a:prstDash val="solid"/>
          </a:ln>
        </p:spPr>
      </p:sp>
      <p:sp>
        <p:nvSpPr>
          <p:cNvPr id="36" name="Text 286"/>
          <p:cNvSpPr txBox="1"/>
          <p:nvPr/>
        </p:nvSpPr>
        <p:spPr>
          <a:xfrm>
            <a:off x="7909560" y="233172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NameNode</a:t>
            </a:r>
            <a:endParaRPr lang="en-US" sz="1600" dirty="0"/>
          </a:p>
        </p:txBody>
      </p:sp>
      <p:sp>
        <p:nvSpPr>
          <p:cNvPr id="37" name="Text 287"/>
          <p:cNvSpPr txBox="1"/>
          <p:nvPr/>
        </p:nvSpPr>
        <p:spPr>
          <a:xfrm>
            <a:off x="7909560" y="2697480"/>
            <a:ext cx="2103120" cy="274320"/>
          </a:xfrm>
          <a:prstGeom prst="rect">
            <a:avLst/>
          </a:prstGeom>
          <a:noFill/>
          <a:ln/>
        </p:spPr>
        <p:txBody>
          <a:bodyPr wrap="square" lIns="0" tIns="0" rIns="0" bIns="0" rtlCol="0" anchor="t"/>
          <a:lstStyle/>
          <a:p>
            <a:pPr algn="ctr" indent="0" marL="0">
              <a:buNone/>
            </a:pPr>
            <a:r>
              <a:rPr lang="en-US" sz="1200" dirty="0">
                <a:solidFill>
                  <a:schemeClr val="bg2"/>
                </a:solidFill>
              </a:rPr>
              <a:t>File system metadata</a:t>
            </a:r>
            <a:endParaRPr lang="en-US" sz="1200" dirty="0"/>
          </a:p>
        </p:txBody>
      </p:sp>
      <p:sp>
        <p:nvSpPr>
          <p:cNvPr id="38" name="Connector 288"/>
          <p:cNvSpPr/>
          <p:nvPr/>
        </p:nvSpPr>
        <p:spPr>
          <a:xfrm flipH="1">
            <a:off x="7223760" y="3063240"/>
            <a:ext cx="1737360" cy="777240"/>
          </a:xfrm>
          <a:prstGeom prst="line">
            <a:avLst/>
          </a:prstGeom>
          <a:noFill/>
          <a:ln w="19050">
            <a:solidFill>
              <a:schemeClr val="bg2"/>
            </a:solidFill>
            <a:prstDash val="solid"/>
          </a:ln>
        </p:spPr>
      </p:sp>
      <p:sp>
        <p:nvSpPr>
          <p:cNvPr id="39" name="Card 289"/>
          <p:cNvSpPr/>
          <p:nvPr/>
        </p:nvSpPr>
        <p:spPr>
          <a:xfrm>
            <a:off x="6492240" y="3840480"/>
            <a:ext cx="1463040" cy="1691640"/>
          </a:xfrm>
          <a:prstGeom prst="roundRect">
            <a:avLst>
              <a:gd name="adj" fmla="val 7500"/>
            </a:avLst>
          </a:prstGeom>
          <a:solidFill>
            <a:schemeClr val="tx2"/>
          </a:solidFill>
          <a:ln w="9525">
            <a:solidFill>
              <a:schemeClr val="accent2">
                <a:alpha val="45000"/>
              </a:schemeClr>
            </a:solidFill>
            <a:prstDash val="solid"/>
          </a:ln>
        </p:spPr>
      </p:sp>
      <p:sp>
        <p:nvSpPr>
          <p:cNvPr id="40" name="Text 290"/>
          <p:cNvSpPr txBox="1"/>
          <p:nvPr/>
        </p:nvSpPr>
        <p:spPr>
          <a:xfrm>
            <a:off x="6492240" y="3931920"/>
            <a:ext cx="1463040" cy="274320"/>
          </a:xfrm>
          <a:prstGeom prst="rect">
            <a:avLst/>
          </a:prstGeom>
          <a:noFill/>
          <a:ln/>
        </p:spPr>
        <p:txBody>
          <a:bodyPr wrap="square" lIns="0" tIns="0" rIns="0" bIns="0" rtlCol="0" anchor="t"/>
          <a:lstStyle/>
          <a:p>
            <a:pPr algn="ctr" indent="0" marL="0">
              <a:buNone/>
            </a:pPr>
            <a:r>
              <a:rPr lang="en-US" sz="1300" b="1" dirty="0">
                <a:solidFill>
                  <a:schemeClr val="bg1"/>
                </a:solidFill>
              </a:rPr>
              <a:t>DataNode 1</a:t>
            </a:r>
            <a:endParaRPr lang="en-US" sz="1300" dirty="0"/>
          </a:p>
        </p:txBody>
      </p:sp>
      <p:sp>
        <p:nvSpPr>
          <p:cNvPr id="41" name="Block 291"/>
          <p:cNvSpPr/>
          <p:nvPr/>
        </p:nvSpPr>
        <p:spPr>
          <a:xfrm>
            <a:off x="6766560" y="4343400"/>
            <a:ext cx="914400" cy="420624"/>
          </a:xfrm>
          <a:prstGeom prst="roundRect">
            <a:avLst>
              <a:gd name="adj" fmla="val 17391"/>
            </a:avLst>
          </a:prstGeom>
          <a:solidFill>
            <a:schemeClr val="accent1"/>
          </a:solidFill>
          <a:ln w="6350">
            <a:solidFill>
              <a:schemeClr val="accent1"/>
            </a:solidFill>
            <a:prstDash val="solid"/>
          </a:ln>
        </p:spPr>
      </p:sp>
      <p:sp>
        <p:nvSpPr>
          <p:cNvPr id="42" name="Text 292"/>
          <p:cNvSpPr txBox="1"/>
          <p:nvPr/>
        </p:nvSpPr>
        <p:spPr>
          <a:xfrm>
            <a:off x="6766560" y="4343400"/>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1</a:t>
            </a:r>
            <a:endParaRPr lang="en-US" sz="1200" dirty="0"/>
          </a:p>
        </p:txBody>
      </p:sp>
      <p:sp>
        <p:nvSpPr>
          <p:cNvPr id="43" name="Block 293"/>
          <p:cNvSpPr/>
          <p:nvPr/>
        </p:nvSpPr>
        <p:spPr>
          <a:xfrm>
            <a:off x="6766560" y="4910328"/>
            <a:ext cx="914400" cy="420624"/>
          </a:xfrm>
          <a:prstGeom prst="roundRect">
            <a:avLst>
              <a:gd name="adj" fmla="val 17391"/>
            </a:avLst>
          </a:prstGeom>
          <a:solidFill>
            <a:schemeClr val="accent2"/>
          </a:solidFill>
          <a:ln w="6350">
            <a:solidFill>
              <a:schemeClr val="accent2"/>
            </a:solidFill>
            <a:prstDash val="solid"/>
          </a:ln>
        </p:spPr>
      </p:sp>
      <p:sp>
        <p:nvSpPr>
          <p:cNvPr id="44" name="Text 294"/>
          <p:cNvSpPr txBox="1"/>
          <p:nvPr/>
        </p:nvSpPr>
        <p:spPr>
          <a:xfrm>
            <a:off x="6766560" y="4910328"/>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2</a:t>
            </a:r>
            <a:endParaRPr lang="en-US" sz="1200" dirty="0"/>
          </a:p>
        </p:txBody>
      </p:sp>
      <p:sp>
        <p:nvSpPr>
          <p:cNvPr id="45" name="Connector 295"/>
          <p:cNvSpPr/>
          <p:nvPr/>
        </p:nvSpPr>
        <p:spPr>
          <a:xfrm flipH="1">
            <a:off x="8915400" y="3063240"/>
            <a:ext cx="45720" cy="777240"/>
          </a:xfrm>
          <a:prstGeom prst="line">
            <a:avLst/>
          </a:prstGeom>
          <a:noFill/>
          <a:ln w="19050">
            <a:solidFill>
              <a:schemeClr val="bg2"/>
            </a:solidFill>
            <a:prstDash val="solid"/>
          </a:ln>
        </p:spPr>
      </p:sp>
      <p:sp>
        <p:nvSpPr>
          <p:cNvPr id="46" name="Card 296"/>
          <p:cNvSpPr/>
          <p:nvPr/>
        </p:nvSpPr>
        <p:spPr>
          <a:xfrm>
            <a:off x="8183880" y="3840480"/>
            <a:ext cx="1463040" cy="1691640"/>
          </a:xfrm>
          <a:prstGeom prst="roundRect">
            <a:avLst>
              <a:gd name="adj" fmla="val 7500"/>
            </a:avLst>
          </a:prstGeom>
          <a:solidFill>
            <a:schemeClr val="tx2"/>
          </a:solidFill>
          <a:ln w="9525">
            <a:solidFill>
              <a:schemeClr val="accent2">
                <a:alpha val="45000"/>
              </a:schemeClr>
            </a:solidFill>
            <a:prstDash val="solid"/>
          </a:ln>
        </p:spPr>
      </p:sp>
      <p:sp>
        <p:nvSpPr>
          <p:cNvPr id="47" name="Text 297"/>
          <p:cNvSpPr txBox="1"/>
          <p:nvPr/>
        </p:nvSpPr>
        <p:spPr>
          <a:xfrm>
            <a:off x="8183880" y="3931920"/>
            <a:ext cx="1463040" cy="274320"/>
          </a:xfrm>
          <a:prstGeom prst="rect">
            <a:avLst/>
          </a:prstGeom>
          <a:noFill/>
          <a:ln/>
        </p:spPr>
        <p:txBody>
          <a:bodyPr wrap="square" lIns="0" tIns="0" rIns="0" bIns="0" rtlCol="0" anchor="t"/>
          <a:lstStyle/>
          <a:p>
            <a:pPr algn="ctr" indent="0" marL="0">
              <a:buNone/>
            </a:pPr>
            <a:r>
              <a:rPr lang="en-US" sz="1300" b="1" dirty="0">
                <a:solidFill>
                  <a:schemeClr val="bg1"/>
                </a:solidFill>
              </a:rPr>
              <a:t>DataNode 2</a:t>
            </a:r>
            <a:endParaRPr lang="en-US" sz="1300" dirty="0"/>
          </a:p>
        </p:txBody>
      </p:sp>
      <p:sp>
        <p:nvSpPr>
          <p:cNvPr id="48" name="Block 298"/>
          <p:cNvSpPr/>
          <p:nvPr/>
        </p:nvSpPr>
        <p:spPr>
          <a:xfrm>
            <a:off x="8458200" y="4343400"/>
            <a:ext cx="914400" cy="420624"/>
          </a:xfrm>
          <a:prstGeom prst="roundRect">
            <a:avLst>
              <a:gd name="adj" fmla="val 17391"/>
            </a:avLst>
          </a:prstGeom>
          <a:solidFill>
            <a:schemeClr val="accent2"/>
          </a:solidFill>
          <a:ln w="6350">
            <a:solidFill>
              <a:schemeClr val="accent2"/>
            </a:solidFill>
            <a:prstDash val="solid"/>
          </a:ln>
        </p:spPr>
      </p:sp>
      <p:sp>
        <p:nvSpPr>
          <p:cNvPr id="49" name="Text 299"/>
          <p:cNvSpPr txBox="1"/>
          <p:nvPr/>
        </p:nvSpPr>
        <p:spPr>
          <a:xfrm>
            <a:off x="8458200" y="4343400"/>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2</a:t>
            </a:r>
            <a:endParaRPr lang="en-US" sz="1200" dirty="0"/>
          </a:p>
        </p:txBody>
      </p:sp>
      <p:sp>
        <p:nvSpPr>
          <p:cNvPr id="50" name="Block 300"/>
          <p:cNvSpPr/>
          <p:nvPr/>
        </p:nvSpPr>
        <p:spPr>
          <a:xfrm>
            <a:off x="8458200" y="4910328"/>
            <a:ext cx="914400" cy="420624"/>
          </a:xfrm>
          <a:prstGeom prst="roundRect">
            <a:avLst>
              <a:gd name="adj" fmla="val 17391"/>
            </a:avLst>
          </a:prstGeom>
          <a:solidFill>
            <a:schemeClr val="accent3"/>
          </a:solidFill>
          <a:ln w="6350">
            <a:solidFill>
              <a:schemeClr val="accent3"/>
            </a:solidFill>
            <a:prstDash val="solid"/>
          </a:ln>
        </p:spPr>
      </p:sp>
      <p:sp>
        <p:nvSpPr>
          <p:cNvPr id="51" name="Text 301"/>
          <p:cNvSpPr txBox="1"/>
          <p:nvPr/>
        </p:nvSpPr>
        <p:spPr>
          <a:xfrm>
            <a:off x="8458200" y="4910328"/>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3</a:t>
            </a:r>
            <a:endParaRPr lang="en-US" sz="1200" dirty="0"/>
          </a:p>
        </p:txBody>
      </p:sp>
      <p:sp>
        <p:nvSpPr>
          <p:cNvPr id="52" name="Connector 302"/>
          <p:cNvSpPr/>
          <p:nvPr/>
        </p:nvSpPr>
        <p:spPr>
          <a:xfrm>
            <a:off x="8961120" y="3063240"/>
            <a:ext cx="1645920" cy="777240"/>
          </a:xfrm>
          <a:prstGeom prst="line">
            <a:avLst/>
          </a:prstGeom>
          <a:noFill/>
          <a:ln w="19050">
            <a:solidFill>
              <a:schemeClr val="bg2"/>
            </a:solidFill>
            <a:prstDash val="solid"/>
          </a:ln>
        </p:spPr>
      </p:sp>
      <p:sp>
        <p:nvSpPr>
          <p:cNvPr id="53" name="Card 303"/>
          <p:cNvSpPr/>
          <p:nvPr/>
        </p:nvSpPr>
        <p:spPr>
          <a:xfrm>
            <a:off x="9875520" y="3840480"/>
            <a:ext cx="1463040" cy="1691640"/>
          </a:xfrm>
          <a:prstGeom prst="roundRect">
            <a:avLst>
              <a:gd name="adj" fmla="val 7500"/>
            </a:avLst>
          </a:prstGeom>
          <a:solidFill>
            <a:schemeClr val="tx2"/>
          </a:solidFill>
          <a:ln w="9525">
            <a:solidFill>
              <a:schemeClr val="accent2">
                <a:alpha val="45000"/>
              </a:schemeClr>
            </a:solidFill>
            <a:prstDash val="solid"/>
          </a:ln>
        </p:spPr>
      </p:sp>
      <p:sp>
        <p:nvSpPr>
          <p:cNvPr id="54" name="Text 304"/>
          <p:cNvSpPr txBox="1"/>
          <p:nvPr/>
        </p:nvSpPr>
        <p:spPr>
          <a:xfrm>
            <a:off x="9875520" y="3931920"/>
            <a:ext cx="1463040" cy="274320"/>
          </a:xfrm>
          <a:prstGeom prst="rect">
            <a:avLst/>
          </a:prstGeom>
          <a:noFill/>
          <a:ln/>
        </p:spPr>
        <p:txBody>
          <a:bodyPr wrap="square" lIns="0" tIns="0" rIns="0" bIns="0" rtlCol="0" anchor="t"/>
          <a:lstStyle/>
          <a:p>
            <a:pPr algn="ctr" indent="0" marL="0">
              <a:buNone/>
            </a:pPr>
            <a:r>
              <a:rPr lang="en-US" sz="1300" b="1" dirty="0">
                <a:solidFill>
                  <a:schemeClr val="bg1"/>
                </a:solidFill>
              </a:rPr>
              <a:t>DataNode 3</a:t>
            </a:r>
            <a:endParaRPr lang="en-US" sz="1300" dirty="0"/>
          </a:p>
        </p:txBody>
      </p:sp>
      <p:sp>
        <p:nvSpPr>
          <p:cNvPr id="55" name="Block 305"/>
          <p:cNvSpPr/>
          <p:nvPr/>
        </p:nvSpPr>
        <p:spPr>
          <a:xfrm>
            <a:off x="10149840" y="4343400"/>
            <a:ext cx="914400" cy="420624"/>
          </a:xfrm>
          <a:prstGeom prst="roundRect">
            <a:avLst>
              <a:gd name="adj" fmla="val 17391"/>
            </a:avLst>
          </a:prstGeom>
          <a:solidFill>
            <a:schemeClr val="accent3"/>
          </a:solidFill>
          <a:ln w="6350">
            <a:solidFill>
              <a:schemeClr val="accent3"/>
            </a:solidFill>
            <a:prstDash val="solid"/>
          </a:ln>
        </p:spPr>
      </p:sp>
      <p:sp>
        <p:nvSpPr>
          <p:cNvPr id="56" name="Text 306"/>
          <p:cNvSpPr txBox="1"/>
          <p:nvPr/>
        </p:nvSpPr>
        <p:spPr>
          <a:xfrm>
            <a:off x="10149840" y="4343400"/>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3</a:t>
            </a:r>
            <a:endParaRPr lang="en-US" sz="1200" dirty="0"/>
          </a:p>
        </p:txBody>
      </p:sp>
      <p:sp>
        <p:nvSpPr>
          <p:cNvPr id="57" name="Block 307"/>
          <p:cNvSpPr/>
          <p:nvPr/>
        </p:nvSpPr>
        <p:spPr>
          <a:xfrm>
            <a:off x="10149840" y="4910328"/>
            <a:ext cx="914400" cy="420624"/>
          </a:xfrm>
          <a:prstGeom prst="roundRect">
            <a:avLst>
              <a:gd name="adj" fmla="val 17391"/>
            </a:avLst>
          </a:prstGeom>
          <a:solidFill>
            <a:schemeClr val="accent1"/>
          </a:solidFill>
          <a:ln w="6350">
            <a:solidFill>
              <a:schemeClr val="accent1"/>
            </a:solidFill>
            <a:prstDash val="solid"/>
          </a:ln>
        </p:spPr>
      </p:sp>
      <p:sp>
        <p:nvSpPr>
          <p:cNvPr id="58" name="Text 308"/>
          <p:cNvSpPr txBox="1"/>
          <p:nvPr/>
        </p:nvSpPr>
        <p:spPr>
          <a:xfrm>
            <a:off x="10149840" y="4910328"/>
            <a:ext cx="914400" cy="420624"/>
          </a:xfrm>
          <a:prstGeom prst="rect">
            <a:avLst/>
          </a:prstGeom>
          <a:noFill/>
          <a:ln/>
        </p:spPr>
        <p:txBody>
          <a:bodyPr wrap="square" lIns="0" tIns="0" rIns="0" bIns="0" rtlCol="0" anchor="ctr"/>
          <a:lstStyle/>
          <a:p>
            <a:pPr algn="ctr" indent="0" marL="0">
              <a:buNone/>
            </a:pPr>
            <a:r>
              <a:rPr lang="en-US" sz="1200" b="1" dirty="0">
                <a:solidFill>
                  <a:schemeClr val="tx1"/>
                </a:solidFill>
              </a:rPr>
              <a:t>Block 1</a:t>
            </a:r>
            <a:endParaRPr lang="en-US" sz="1200" dirty="0"/>
          </a:p>
        </p:txBody>
      </p:sp>
      <p:sp>
        <p:nvSpPr>
          <p:cNvPr id="59" name="Text 309"/>
          <p:cNvSpPr txBox="1"/>
          <p:nvPr/>
        </p:nvSpPr>
        <p:spPr>
          <a:xfrm>
            <a:off x="6537960" y="5760720"/>
            <a:ext cx="4846320" cy="365760"/>
          </a:xfrm>
          <a:prstGeom prst="rect">
            <a:avLst/>
          </a:prstGeom>
          <a:noFill/>
          <a:ln/>
        </p:spPr>
        <p:txBody>
          <a:bodyPr wrap="square" lIns="0" tIns="0" rIns="0" bIns="0" rtlCol="0" anchor="t"/>
          <a:lstStyle/>
          <a:p>
            <a:pPr algn="ctr" indent="0" marL="0">
              <a:buNone/>
            </a:pPr>
            <a:r>
              <a:rPr lang="en-US" sz="1400" dirty="0">
                <a:solidFill>
                  <a:schemeClr val="bg2"/>
                </a:solidFill>
              </a:rPr>
              <a:t>Files are split into blocks and replicated across DataNodes</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1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PROCESSING LAYER</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Spark – Distributed ETL</a:t>
            </a:r>
            <a:endParaRPr lang="en-US" sz="3600" dirty="0"/>
          </a:p>
        </p:txBody>
      </p:sp>
      <p:sp>
        <p:nvSpPr>
          <p:cNvPr id="4" name="Card 311"/>
          <p:cNvSpPr/>
          <p:nvPr/>
        </p:nvSpPr>
        <p:spPr>
          <a:xfrm>
            <a:off x="54864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5" name="Number badge 312"/>
          <p:cNvSpPr/>
          <p:nvPr/>
        </p:nvSpPr>
        <p:spPr>
          <a:xfrm>
            <a:off x="731520" y="1691640"/>
            <a:ext cx="457200" cy="457200"/>
          </a:xfrm>
          <a:prstGeom prst="ellipse">
            <a:avLst/>
          </a:prstGeom>
          <a:solidFill>
            <a:schemeClr val="accent1"/>
          </a:solidFill>
          <a:ln w="6350">
            <a:solidFill>
              <a:schemeClr val="accent1"/>
            </a:solidFill>
            <a:prstDash val="solid"/>
          </a:ln>
        </p:spPr>
      </p:sp>
      <p:sp>
        <p:nvSpPr>
          <p:cNvPr id="6" name="Text 31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314"/>
          <p:cNvSpPr txBox="1"/>
          <p:nvPr/>
        </p:nvSpPr>
        <p:spPr>
          <a:xfrm>
            <a:off x="73152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Read raw Parquet from HDFS</a:t>
            </a:r>
            <a:endParaRPr lang="en-US" sz="1500" dirty="0"/>
          </a:p>
        </p:txBody>
      </p:sp>
      <p:sp>
        <p:nvSpPr>
          <p:cNvPr id="8" name="Card 315"/>
          <p:cNvSpPr/>
          <p:nvPr/>
        </p:nvSpPr>
        <p:spPr>
          <a:xfrm>
            <a:off x="242316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9" name="Number badge 316"/>
          <p:cNvSpPr/>
          <p:nvPr/>
        </p:nvSpPr>
        <p:spPr>
          <a:xfrm>
            <a:off x="2606040" y="1691640"/>
            <a:ext cx="457200" cy="457200"/>
          </a:xfrm>
          <a:prstGeom prst="ellipse">
            <a:avLst/>
          </a:prstGeom>
          <a:solidFill>
            <a:schemeClr val="accent1"/>
          </a:solidFill>
          <a:ln w="6350">
            <a:solidFill>
              <a:schemeClr val="accent1"/>
            </a:solidFill>
            <a:prstDash val="solid"/>
          </a:ln>
        </p:spPr>
      </p:sp>
      <p:sp>
        <p:nvSpPr>
          <p:cNvPr id="10" name="Text 317"/>
          <p:cNvSpPr txBox="1"/>
          <p:nvPr/>
        </p:nvSpPr>
        <p:spPr>
          <a:xfrm>
            <a:off x="260604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318"/>
          <p:cNvSpPr txBox="1"/>
          <p:nvPr/>
        </p:nvSpPr>
        <p:spPr>
          <a:xfrm>
            <a:off x="260604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Clean the data</a:t>
            </a:r>
            <a:endParaRPr lang="en-US" sz="1500" dirty="0"/>
          </a:p>
        </p:txBody>
      </p:sp>
      <p:sp>
        <p:nvSpPr>
          <p:cNvPr id="12" name="Card 319"/>
          <p:cNvSpPr/>
          <p:nvPr/>
        </p:nvSpPr>
        <p:spPr>
          <a:xfrm>
            <a:off x="429768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13" name="Number badge 320"/>
          <p:cNvSpPr/>
          <p:nvPr/>
        </p:nvSpPr>
        <p:spPr>
          <a:xfrm>
            <a:off x="4480560" y="1691640"/>
            <a:ext cx="457200" cy="457200"/>
          </a:xfrm>
          <a:prstGeom prst="ellipse">
            <a:avLst/>
          </a:prstGeom>
          <a:solidFill>
            <a:schemeClr val="accent1"/>
          </a:solidFill>
          <a:ln w="6350">
            <a:solidFill>
              <a:schemeClr val="accent1"/>
            </a:solidFill>
            <a:prstDash val="solid"/>
          </a:ln>
        </p:spPr>
      </p:sp>
      <p:sp>
        <p:nvSpPr>
          <p:cNvPr id="14" name="Text 321"/>
          <p:cNvSpPr txBox="1"/>
          <p:nvPr/>
        </p:nvSpPr>
        <p:spPr>
          <a:xfrm>
            <a:off x="448056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Text 322"/>
          <p:cNvSpPr txBox="1"/>
          <p:nvPr/>
        </p:nvSpPr>
        <p:spPr>
          <a:xfrm>
            <a:off x="448056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Transform columns</a:t>
            </a:r>
            <a:endParaRPr lang="en-US" sz="1500" dirty="0"/>
          </a:p>
        </p:txBody>
      </p:sp>
      <p:sp>
        <p:nvSpPr>
          <p:cNvPr id="16" name="Card 323"/>
          <p:cNvSpPr/>
          <p:nvPr/>
        </p:nvSpPr>
        <p:spPr>
          <a:xfrm>
            <a:off x="617220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17" name="Number badge 324"/>
          <p:cNvSpPr/>
          <p:nvPr/>
        </p:nvSpPr>
        <p:spPr>
          <a:xfrm>
            <a:off x="6355080" y="1691640"/>
            <a:ext cx="457200" cy="457200"/>
          </a:xfrm>
          <a:prstGeom prst="ellipse">
            <a:avLst/>
          </a:prstGeom>
          <a:solidFill>
            <a:schemeClr val="accent1"/>
          </a:solidFill>
          <a:ln w="6350">
            <a:solidFill>
              <a:schemeClr val="accent1"/>
            </a:solidFill>
            <a:prstDash val="solid"/>
          </a:ln>
        </p:spPr>
      </p:sp>
      <p:sp>
        <p:nvSpPr>
          <p:cNvPr id="18" name="Text 325"/>
          <p:cNvSpPr txBox="1"/>
          <p:nvPr/>
        </p:nvSpPr>
        <p:spPr>
          <a:xfrm>
            <a:off x="635508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9" name="Text 326"/>
          <p:cNvSpPr txBox="1"/>
          <p:nvPr/>
        </p:nvSpPr>
        <p:spPr>
          <a:xfrm>
            <a:off x="635508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Prepare trip-level data</a:t>
            </a:r>
            <a:endParaRPr lang="en-US" sz="1500" dirty="0"/>
          </a:p>
        </p:txBody>
      </p:sp>
      <p:sp>
        <p:nvSpPr>
          <p:cNvPr id="20" name="Card 327"/>
          <p:cNvSpPr/>
          <p:nvPr/>
        </p:nvSpPr>
        <p:spPr>
          <a:xfrm>
            <a:off x="804672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21" name="Number badge 328"/>
          <p:cNvSpPr/>
          <p:nvPr/>
        </p:nvSpPr>
        <p:spPr>
          <a:xfrm>
            <a:off x="8229600" y="1691640"/>
            <a:ext cx="457200" cy="457200"/>
          </a:xfrm>
          <a:prstGeom prst="ellipse">
            <a:avLst/>
          </a:prstGeom>
          <a:solidFill>
            <a:schemeClr val="accent1"/>
          </a:solidFill>
          <a:ln w="6350">
            <a:solidFill>
              <a:schemeClr val="accent1"/>
            </a:solidFill>
            <a:prstDash val="solid"/>
          </a:ln>
        </p:spPr>
      </p:sp>
      <p:sp>
        <p:nvSpPr>
          <p:cNvPr id="22" name="Text 329"/>
          <p:cNvSpPr txBox="1"/>
          <p:nvPr/>
        </p:nvSpPr>
        <p:spPr>
          <a:xfrm>
            <a:off x="822960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3" name="Text 330"/>
          <p:cNvSpPr txBox="1"/>
          <p:nvPr/>
        </p:nvSpPr>
        <p:spPr>
          <a:xfrm>
            <a:off x="822960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Generate hourly zone aggregations</a:t>
            </a:r>
            <a:endParaRPr lang="en-US" sz="1500" dirty="0"/>
          </a:p>
        </p:txBody>
      </p:sp>
      <p:sp>
        <p:nvSpPr>
          <p:cNvPr id="24" name="Card 331"/>
          <p:cNvSpPr/>
          <p:nvPr/>
        </p:nvSpPr>
        <p:spPr>
          <a:xfrm>
            <a:off x="9921240" y="1508760"/>
            <a:ext cx="1691640" cy="1783080"/>
          </a:xfrm>
          <a:prstGeom prst="roundRect">
            <a:avLst>
              <a:gd name="adj" fmla="val 6486"/>
            </a:avLst>
          </a:prstGeom>
          <a:solidFill>
            <a:schemeClr val="tx2"/>
          </a:solidFill>
          <a:ln w="9525">
            <a:solidFill>
              <a:schemeClr val="accent2">
                <a:alpha val="45000"/>
              </a:schemeClr>
            </a:solidFill>
            <a:prstDash val="solid"/>
          </a:ln>
        </p:spPr>
      </p:sp>
      <p:sp>
        <p:nvSpPr>
          <p:cNvPr id="25" name="Number badge 332"/>
          <p:cNvSpPr/>
          <p:nvPr/>
        </p:nvSpPr>
        <p:spPr>
          <a:xfrm>
            <a:off x="10104120" y="1691640"/>
            <a:ext cx="457200" cy="457200"/>
          </a:xfrm>
          <a:prstGeom prst="ellipse">
            <a:avLst/>
          </a:prstGeom>
          <a:solidFill>
            <a:schemeClr val="accent1"/>
          </a:solidFill>
          <a:ln w="6350">
            <a:solidFill>
              <a:schemeClr val="accent1"/>
            </a:solidFill>
            <a:prstDash val="solid"/>
          </a:ln>
        </p:spPr>
      </p:sp>
      <p:sp>
        <p:nvSpPr>
          <p:cNvPr id="26" name="Text 333"/>
          <p:cNvSpPr txBox="1"/>
          <p:nvPr/>
        </p:nvSpPr>
        <p:spPr>
          <a:xfrm>
            <a:off x="10104120" y="1691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7" name="Text 334"/>
          <p:cNvSpPr txBox="1"/>
          <p:nvPr/>
        </p:nvSpPr>
        <p:spPr>
          <a:xfrm>
            <a:off x="10104120" y="2286000"/>
            <a:ext cx="1371600" cy="914400"/>
          </a:xfrm>
          <a:prstGeom prst="rect">
            <a:avLst/>
          </a:prstGeom>
          <a:noFill/>
          <a:ln/>
        </p:spPr>
        <p:txBody>
          <a:bodyPr wrap="square" lIns="0" tIns="0" rIns="0" bIns="0" rtlCol="0" anchor="t"/>
          <a:lstStyle/>
          <a:p>
            <a:pPr indent="0" marL="0">
              <a:buNone/>
            </a:pPr>
            <a:r>
              <a:rPr lang="en-US" sz="1500" b="1" dirty="0">
                <a:solidFill>
                  <a:schemeClr val="bg1"/>
                </a:solidFill>
              </a:rPr>
              <a:t>Write processed data to HDFS</a:t>
            </a:r>
            <a:endParaRPr lang="en-US" sz="1500" dirty="0"/>
          </a:p>
        </p:txBody>
      </p:sp>
      <p:sp>
        <p:nvSpPr>
          <p:cNvPr id="28" name="Text 335"/>
          <p:cNvSpPr txBox="1"/>
          <p:nvPr/>
        </p:nvSpPr>
        <p:spPr>
          <a:xfrm>
            <a:off x="548640" y="36118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ETL FLOW</a:t>
            </a:r>
            <a:endParaRPr lang="en-US" sz="1200" dirty="0"/>
          </a:p>
        </p:txBody>
      </p:sp>
      <p:sp>
        <p:nvSpPr>
          <p:cNvPr id="29" name="Card 336"/>
          <p:cNvSpPr/>
          <p:nvPr/>
        </p:nvSpPr>
        <p:spPr>
          <a:xfrm>
            <a:off x="548640" y="4023360"/>
            <a:ext cx="2103120" cy="2011680"/>
          </a:xfrm>
          <a:prstGeom prst="roundRect">
            <a:avLst>
              <a:gd name="adj" fmla="val 5455"/>
            </a:avLst>
          </a:prstGeom>
          <a:solidFill>
            <a:schemeClr val="tx2"/>
          </a:solidFill>
          <a:ln w="9525">
            <a:solidFill>
              <a:schemeClr val="accent2">
                <a:alpha val="45000"/>
              </a:schemeClr>
            </a:solidFill>
            <a:prstDash val="solid"/>
          </a:ln>
        </p:spPr>
      </p:sp>
      <p:sp>
        <p:nvSpPr>
          <p:cNvPr id="30" name="Icon circle 337"/>
          <p:cNvSpPr/>
          <p:nvPr/>
        </p:nvSpPr>
        <p:spPr>
          <a:xfrm>
            <a:off x="1280160" y="4206240"/>
            <a:ext cx="640080" cy="640080"/>
          </a:xfrm>
          <a:prstGeom prst="ellipse">
            <a:avLst/>
          </a:prstGeom>
          <a:solidFill>
            <a:schemeClr val="accent2">
              <a:alpha val="28000"/>
            </a:schemeClr>
          </a:solidFill>
          <a:ln w="9525">
            <a:solidFill>
              <a:schemeClr val="accent1">
                <a:alpha val="55000"/>
              </a:schemeClr>
            </a:solidFill>
            <a:prstDash val="solid"/>
          </a:ln>
        </p:spPr>
      </p:sp>
      <p:pic>
        <p:nvPicPr>
          <p:cNvPr id="31" name="Icon 338" descr="HDFS raw">    </p:cNvPr>
          <p:cNvPicPr>
            <a:picLocks noChangeAspect="1"/>
          </p:cNvPicPr>
          <p:nvPr/>
        </p:nvPicPr>
        <p:blipFill>
          <a:blip r:embed="rId1"/>
          <a:stretch>
            <a:fillRect/>
          </a:stretch>
        </p:blipFill>
        <p:spPr>
          <a:xfrm>
            <a:off x="1440180" y="4366260"/>
            <a:ext cx="320040" cy="320040"/>
          </a:xfrm>
          <a:prstGeom prst="rect">
            <a:avLst/>
          </a:prstGeom>
        </p:spPr>
      </p:pic>
      <p:sp>
        <p:nvSpPr>
          <p:cNvPr id="32" name="Text 339"/>
          <p:cNvSpPr txBox="1"/>
          <p:nvPr/>
        </p:nvSpPr>
        <p:spPr>
          <a:xfrm>
            <a:off x="548640" y="498348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HDFS raw</a:t>
            </a:r>
            <a:endParaRPr lang="en-US" sz="1600" dirty="0"/>
          </a:p>
        </p:txBody>
      </p:sp>
      <p:sp>
        <p:nvSpPr>
          <p:cNvPr id="33" name="Text 340"/>
          <p:cNvSpPr txBox="1"/>
          <p:nvPr/>
        </p:nvSpPr>
        <p:spPr>
          <a:xfrm>
            <a:off x="640080" y="5394960"/>
            <a:ext cx="1920240" cy="457200"/>
          </a:xfrm>
          <a:prstGeom prst="rect">
            <a:avLst/>
          </a:prstGeom>
          <a:noFill/>
          <a:ln/>
        </p:spPr>
        <p:txBody>
          <a:bodyPr wrap="square" lIns="0" tIns="0" rIns="0" bIns="0" rtlCol="0" anchor="t"/>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/data/nyc/raw</a:t>
            </a:r>
            <a:endParaRPr lang="en-US" sz="1200" dirty="0"/>
          </a:p>
        </p:txBody>
      </p:sp>
      <p:sp>
        <p:nvSpPr>
          <p:cNvPr id="34" name="Connector 341"/>
          <p:cNvSpPr/>
          <p:nvPr/>
        </p:nvSpPr>
        <p:spPr>
          <a:xfrm>
            <a:off x="2706624" y="5029200"/>
            <a:ext cx="484632" cy="0"/>
          </a:xfrm>
          <a:prstGeom prst="line">
            <a:avLst/>
          </a:prstGeom>
          <a:noFill/>
          <a:ln w="25400">
            <a:solidFill>
              <a:schemeClr val="accent1"/>
            </a:solidFill>
            <a:prstDash val="solid"/>
            <a:tailEnd type="triangle"/>
          </a:ln>
        </p:spPr>
      </p:sp>
      <p:sp>
        <p:nvSpPr>
          <p:cNvPr id="35" name="Card 342"/>
          <p:cNvSpPr/>
          <p:nvPr/>
        </p:nvSpPr>
        <p:spPr>
          <a:xfrm>
            <a:off x="3246120" y="4023360"/>
            <a:ext cx="2103120" cy="2011680"/>
          </a:xfrm>
          <a:prstGeom prst="roundRect">
            <a:avLst>
              <a:gd name="adj" fmla="val 5455"/>
            </a:avLst>
          </a:prstGeom>
          <a:solidFill>
            <a:schemeClr val="tx2"/>
          </a:solidFill>
          <a:ln w="9525">
            <a:solidFill>
              <a:schemeClr val="accent1">
                <a:alpha val="85000"/>
              </a:schemeClr>
            </a:solidFill>
            <a:prstDash val="solid"/>
          </a:ln>
        </p:spPr>
      </p:sp>
      <p:sp>
        <p:nvSpPr>
          <p:cNvPr id="36" name="Icon circle 343"/>
          <p:cNvSpPr/>
          <p:nvPr/>
        </p:nvSpPr>
        <p:spPr>
          <a:xfrm>
            <a:off x="3977640" y="4206240"/>
            <a:ext cx="640080" cy="640080"/>
          </a:xfrm>
          <a:prstGeom prst="ellipse">
            <a:avLst/>
          </a:prstGeom>
          <a:solidFill>
            <a:schemeClr val="accent2">
              <a:alpha val="28000"/>
            </a:schemeClr>
          </a:solidFill>
          <a:ln w="9525">
            <a:solidFill>
              <a:schemeClr val="accent1">
                <a:alpha val="55000"/>
              </a:schemeClr>
            </a:solidFill>
            <a:prstDash val="solid"/>
          </a:ln>
        </p:spPr>
      </p:sp>
      <p:pic>
        <p:nvPicPr>
          <p:cNvPr id="37" name="Icon 344" descr="Apache Spark">    </p:cNvPr>
          <p:cNvPicPr>
            <a:picLocks noChangeAspect="1"/>
          </p:cNvPicPr>
          <p:nvPr/>
        </p:nvPicPr>
        <p:blipFill>
          <a:blip r:embed="rId2"/>
          <a:stretch>
            <a:fillRect/>
          </a:stretch>
        </p:blipFill>
        <p:spPr>
          <a:xfrm>
            <a:off x="4137660" y="4366260"/>
            <a:ext cx="320040" cy="320040"/>
          </a:xfrm>
          <a:prstGeom prst="rect">
            <a:avLst/>
          </a:prstGeom>
        </p:spPr>
      </p:pic>
      <p:sp>
        <p:nvSpPr>
          <p:cNvPr id="38" name="Text 345"/>
          <p:cNvSpPr txBox="1"/>
          <p:nvPr/>
        </p:nvSpPr>
        <p:spPr>
          <a:xfrm>
            <a:off x="3246120" y="498348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Apache Spark</a:t>
            </a:r>
            <a:endParaRPr lang="en-US" sz="1600" dirty="0"/>
          </a:p>
        </p:txBody>
      </p:sp>
      <p:sp>
        <p:nvSpPr>
          <p:cNvPr id="39" name="Text 346"/>
          <p:cNvSpPr txBox="1"/>
          <p:nvPr/>
        </p:nvSpPr>
        <p:spPr>
          <a:xfrm>
            <a:off x="3337560" y="5394960"/>
            <a:ext cx="1920240" cy="457200"/>
          </a:xfrm>
          <a:prstGeom prst="rect">
            <a:avLst/>
          </a:prstGeom>
          <a:noFill/>
          <a:ln/>
        </p:spPr>
        <p:txBody>
          <a:bodyPr wrap="square" lIns="0" tIns="0" rIns="0" bIns="0" rtlCol="0" anchor="t"/>
          <a:lstStyle/>
          <a:p>
            <a:pPr algn="ctr" indent="0" marL="0">
              <a:buNone/>
            </a:pPr>
            <a:r>
              <a:rPr lang="en-US" sz="1200" dirty="0">
                <a:solidFill>
                  <a:schemeClr val="accent1"/>
                </a:solidFill>
              </a:rPr>
              <a:t>Processing engine</a:t>
            </a:r>
            <a:endParaRPr lang="en-US" sz="1200" dirty="0"/>
          </a:p>
        </p:txBody>
      </p:sp>
      <p:sp>
        <p:nvSpPr>
          <p:cNvPr id="40" name="Connector 347"/>
          <p:cNvSpPr/>
          <p:nvPr/>
        </p:nvSpPr>
        <p:spPr>
          <a:xfrm>
            <a:off x="5404104" y="5029200"/>
            <a:ext cx="484632" cy="0"/>
          </a:xfrm>
          <a:prstGeom prst="line">
            <a:avLst/>
          </a:prstGeom>
          <a:noFill/>
          <a:ln w="25400">
            <a:solidFill>
              <a:schemeClr val="accent1"/>
            </a:solidFill>
            <a:prstDash val="solid"/>
            <a:tailEnd type="triangle"/>
          </a:ln>
        </p:spPr>
      </p:sp>
      <p:sp>
        <p:nvSpPr>
          <p:cNvPr id="41" name="Card 348"/>
          <p:cNvSpPr/>
          <p:nvPr/>
        </p:nvSpPr>
        <p:spPr>
          <a:xfrm>
            <a:off x="5943600" y="4023360"/>
            <a:ext cx="2103120" cy="2011680"/>
          </a:xfrm>
          <a:prstGeom prst="roundRect">
            <a:avLst>
              <a:gd name="adj" fmla="val 5455"/>
            </a:avLst>
          </a:prstGeom>
          <a:solidFill>
            <a:schemeClr val="tx2"/>
          </a:solidFill>
          <a:ln w="9525">
            <a:solidFill>
              <a:schemeClr val="accent2">
                <a:alpha val="45000"/>
              </a:schemeClr>
            </a:solidFill>
            <a:prstDash val="solid"/>
          </a:ln>
        </p:spPr>
      </p:sp>
      <p:sp>
        <p:nvSpPr>
          <p:cNvPr id="42" name="Icon circle 349"/>
          <p:cNvSpPr/>
          <p:nvPr/>
        </p:nvSpPr>
        <p:spPr>
          <a:xfrm>
            <a:off x="6675120" y="4206240"/>
            <a:ext cx="640080" cy="640080"/>
          </a:xfrm>
          <a:prstGeom prst="ellipse">
            <a:avLst/>
          </a:prstGeom>
          <a:solidFill>
            <a:schemeClr val="accent2">
              <a:alpha val="28000"/>
            </a:schemeClr>
          </a:solidFill>
          <a:ln w="9525">
            <a:solidFill>
              <a:schemeClr val="accent1">
                <a:alpha val="55000"/>
              </a:schemeClr>
            </a:solidFill>
            <a:prstDash val="solid"/>
          </a:ln>
        </p:spPr>
      </p:sp>
      <p:pic>
        <p:nvPicPr>
          <p:cNvPr id="43" name="Icon 350" descr="HDFS processed">    </p:cNvPr>
          <p:cNvPicPr>
            <a:picLocks noChangeAspect="1"/>
          </p:cNvPicPr>
          <p:nvPr/>
        </p:nvPicPr>
        <p:blipFill>
          <a:blip r:embed="rId3"/>
          <a:stretch>
            <a:fillRect/>
          </a:stretch>
        </p:blipFill>
        <p:spPr>
          <a:xfrm>
            <a:off x="6835140" y="4366260"/>
            <a:ext cx="320040" cy="320040"/>
          </a:xfrm>
          <a:prstGeom prst="rect">
            <a:avLst/>
          </a:prstGeom>
        </p:spPr>
      </p:pic>
      <p:sp>
        <p:nvSpPr>
          <p:cNvPr id="44" name="Text 351"/>
          <p:cNvSpPr txBox="1"/>
          <p:nvPr/>
        </p:nvSpPr>
        <p:spPr>
          <a:xfrm>
            <a:off x="5943600" y="498348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HDFS processed</a:t>
            </a:r>
            <a:endParaRPr lang="en-US" sz="1600" dirty="0"/>
          </a:p>
        </p:txBody>
      </p:sp>
      <p:sp>
        <p:nvSpPr>
          <p:cNvPr id="45" name="Text 352"/>
          <p:cNvSpPr txBox="1"/>
          <p:nvPr/>
        </p:nvSpPr>
        <p:spPr>
          <a:xfrm>
            <a:off x="6035040" y="5394960"/>
            <a:ext cx="1920240" cy="457200"/>
          </a:xfrm>
          <a:prstGeom prst="rect">
            <a:avLst/>
          </a:prstGeom>
          <a:noFill/>
          <a:ln/>
        </p:spPr>
        <p:txBody>
          <a:bodyPr wrap="square" lIns="0" tIns="0" rIns="0" bIns="0" rtlCol="0" anchor="t"/>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/data/nyc/processed</a:t>
            </a:r>
            <a:endParaRPr lang="en-US" sz="1200" dirty="0"/>
          </a:p>
        </p:txBody>
      </p:sp>
      <p:sp>
        <p:nvSpPr>
          <p:cNvPr id="46" name="Card 353"/>
          <p:cNvSpPr/>
          <p:nvPr/>
        </p:nvSpPr>
        <p:spPr>
          <a:xfrm>
            <a:off x="8595360" y="4023360"/>
            <a:ext cx="3044952" cy="2011680"/>
          </a:xfrm>
          <a:prstGeom prst="roundRect">
            <a:avLst>
              <a:gd name="adj" fmla="val 5455"/>
            </a:avLst>
          </a:prstGeom>
          <a:solidFill>
            <a:schemeClr val="tx2"/>
          </a:solidFill>
          <a:ln w="9525">
            <a:solidFill>
              <a:schemeClr val="accent2">
                <a:alpha val="45000"/>
              </a:schemeClr>
            </a:solidFill>
            <a:prstDash val="solid"/>
          </a:ln>
        </p:spPr>
      </p:sp>
      <p:sp>
        <p:nvSpPr>
          <p:cNvPr id="47" name="Icon circle 354"/>
          <p:cNvSpPr/>
          <p:nvPr/>
        </p:nvSpPr>
        <p:spPr>
          <a:xfrm>
            <a:off x="8823960" y="4206240"/>
            <a:ext cx="548640" cy="548640"/>
          </a:xfrm>
          <a:prstGeom prst="ellipse">
            <a:avLst/>
          </a:prstGeom>
          <a:solidFill>
            <a:schemeClr val="accent2">
              <a:alpha val="28000"/>
            </a:schemeClr>
          </a:solidFill>
          <a:ln w="9525">
            <a:solidFill>
              <a:schemeClr val="accent1">
                <a:alpha val="55000"/>
              </a:schemeClr>
            </a:solidFill>
            <a:prstDash val="solid"/>
          </a:ln>
        </p:spPr>
      </p:sp>
      <p:pic>
        <p:nvPicPr>
          <p:cNvPr id="48" name="Icon 355" descr="script">    </p:cNvPr>
          <p:cNvPicPr>
            <a:picLocks noChangeAspect="1"/>
          </p:cNvPicPr>
          <p:nvPr/>
        </p:nvPicPr>
        <p:blipFill>
          <a:blip r:embed="rId4"/>
          <a:stretch>
            <a:fillRect/>
          </a:stretch>
        </p:blipFill>
        <p:spPr>
          <a:xfrm>
            <a:off x="8961120" y="4343400"/>
            <a:ext cx="274320" cy="274320"/>
          </a:xfrm>
          <a:prstGeom prst="rect">
            <a:avLst/>
          </a:prstGeom>
        </p:spPr>
      </p:pic>
      <p:sp>
        <p:nvSpPr>
          <p:cNvPr id="49" name="Text 356"/>
          <p:cNvSpPr txBox="1"/>
          <p:nvPr/>
        </p:nvSpPr>
        <p:spPr>
          <a:xfrm>
            <a:off x="9509760" y="4389120"/>
            <a:ext cx="210312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MAIN ETL SCRIPTS</a:t>
            </a:r>
            <a:endParaRPr lang="en-US" sz="1100" dirty="0"/>
          </a:p>
        </p:txBody>
      </p:sp>
      <p:sp>
        <p:nvSpPr>
          <p:cNvPr id="50" name="Text 357"/>
          <p:cNvSpPr txBox="1"/>
          <p:nvPr/>
        </p:nvSpPr>
        <p:spPr>
          <a:xfrm>
            <a:off x="8823960" y="4983480"/>
            <a:ext cx="2651760" cy="320040"/>
          </a:xfrm>
          <a:prstGeom prst="rect">
            <a:avLst/>
          </a:prstGeom>
          <a:noFill/>
          <a:ln/>
        </p:spPr>
        <p:txBody>
          <a:bodyPr wrap="square" lIns="0" tIns="0" rIns="0" bIns="0" rtlCol="0" anchor="t"/>
          <a:lstStyle/>
          <a:p>
            <a:pPr indent="0" marL="0">
              <a:buNone/>
            </a:pPr>
            <a:r>
              <a:rPr lang="en-US" sz="1500" b="1" dirty="0">
                <a:solidFill>
                  <a:schemeClr val="bg1"/>
                </a:solidFill>
                <a:latin typeface="Courier New" pitchFamily="34" charset="0"/>
                <a:ea typeface="Courier New" pitchFamily="34" charset="-122"/>
                <a:cs typeface="Courier New" pitchFamily="34" charset="-120"/>
              </a:rPr>
              <a:t>etl_clean.py</a:t>
            </a:r>
            <a:endParaRPr lang="en-US" sz="1500" dirty="0"/>
          </a:p>
        </p:txBody>
      </p:sp>
      <p:sp>
        <p:nvSpPr>
          <p:cNvPr id="51" name="Text 358"/>
          <p:cNvSpPr txBox="1"/>
          <p:nvPr/>
        </p:nvSpPr>
        <p:spPr>
          <a:xfrm>
            <a:off x="8823960" y="5394960"/>
            <a:ext cx="2743200" cy="320040"/>
          </a:xfrm>
          <a:prstGeom prst="rect">
            <a:avLst/>
          </a:prstGeom>
          <a:noFill/>
          <a:ln/>
        </p:spPr>
        <p:txBody>
          <a:bodyPr wrap="square" lIns="0" tIns="0" rIns="0" bIns="0" rtlCol="0" anchor="t"/>
          <a:lstStyle/>
          <a:p>
            <a:pPr indent="0" marL="0">
              <a:buNone/>
            </a:pPr>
            <a:r>
              <a:rPr lang="en-US" sz="1500" b="1" dirty="0">
                <a:solidFill>
                  <a:schemeClr val="bg1"/>
                </a:solidFill>
                <a:latin typeface="Courier New" pitchFamily="34" charset="0"/>
                <a:ea typeface="Courier New" pitchFamily="34" charset="-122"/>
                <a:cs typeface="Courier New" pitchFamily="34" charset="-120"/>
              </a:rPr>
              <a:t>etl_clean_staging.py</a:t>
            </a:r>
            <a:endParaRPr lang="en-US" sz="15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59"/>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ORCHESTRATION LAYER</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Airflow – Workflow Orchestration</a:t>
            </a:r>
            <a:endParaRPr lang="en-US" sz="3600" dirty="0"/>
          </a:p>
        </p:txBody>
      </p:sp>
      <p:sp>
        <p:nvSpPr>
          <p:cNvPr id="4" name="Card 360"/>
          <p:cNvSpPr/>
          <p:nvPr/>
        </p:nvSpPr>
        <p:spPr>
          <a:xfrm>
            <a:off x="548640" y="1600200"/>
            <a:ext cx="1920240" cy="868680"/>
          </a:xfrm>
          <a:prstGeom prst="roundRect">
            <a:avLst>
              <a:gd name="adj" fmla="val 12632"/>
            </a:avLst>
          </a:prstGeom>
          <a:solidFill>
            <a:schemeClr val="tx1"/>
          </a:solidFill>
          <a:ln w="25400">
            <a:solidFill>
              <a:schemeClr val="accent4"/>
            </a:solidFill>
            <a:prstDash val="solid"/>
          </a:ln>
        </p:spPr>
      </p:sp>
      <p:sp>
        <p:nvSpPr>
          <p:cNvPr id="5" name="Status dot 361"/>
          <p:cNvSpPr/>
          <p:nvPr/>
        </p:nvSpPr>
        <p:spPr>
          <a:xfrm>
            <a:off x="658368" y="1709928"/>
            <a:ext cx="146304" cy="146304"/>
          </a:xfrm>
          <a:prstGeom prst="ellipse">
            <a:avLst/>
          </a:prstGeom>
          <a:solidFill>
            <a:schemeClr val="accent4"/>
          </a:solidFill>
          <a:ln w="6350">
            <a:solidFill>
              <a:schemeClr val="accent4"/>
            </a:solidFill>
            <a:prstDash val="solid"/>
          </a:ln>
        </p:spPr>
      </p:sp>
      <p:sp>
        <p:nvSpPr>
          <p:cNvPr id="6" name="Text 362"/>
          <p:cNvSpPr txBox="1"/>
          <p:nvPr/>
        </p:nvSpPr>
        <p:spPr>
          <a:xfrm>
            <a:off x="548640" y="1600200"/>
            <a:ext cx="1920240" cy="8686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check_hdfs</a:t>
            </a:r>
            <a:endParaRPr lang="en-US" sz="1300" dirty="0"/>
          </a:p>
        </p:txBody>
      </p:sp>
      <p:sp>
        <p:nvSpPr>
          <p:cNvPr id="7" name="Text 363"/>
          <p:cNvSpPr txBox="1"/>
          <p:nvPr/>
        </p:nvSpPr>
        <p:spPr>
          <a:xfrm>
            <a:off x="548640" y="2578608"/>
            <a:ext cx="1920240" cy="502920"/>
          </a:xfrm>
          <a:prstGeom prst="rect">
            <a:avLst/>
          </a:prstGeom>
          <a:noFill/>
          <a:ln/>
        </p:spPr>
        <p:txBody>
          <a:bodyPr wrap="square" lIns="0" tIns="0" rIns="0" bIns="0" rtlCol="0" anchor="t"/>
          <a:lstStyle/>
          <a:p>
            <a:pPr algn="ctr" indent="0" marL="0">
              <a:buNone/>
            </a:pPr>
            <a:r>
              <a:rPr lang="en-US" sz="1300" dirty="0">
                <a:solidFill>
                  <a:schemeClr val="bg2"/>
                </a:solidFill>
              </a:rPr>
              <a:t>Validate HDFS availability</a:t>
            </a:r>
            <a:endParaRPr lang="en-US" sz="1300" dirty="0"/>
          </a:p>
        </p:txBody>
      </p:sp>
      <p:sp>
        <p:nvSpPr>
          <p:cNvPr id="8" name="Connector 364"/>
          <p:cNvSpPr/>
          <p:nvPr/>
        </p:nvSpPr>
        <p:spPr>
          <a:xfrm>
            <a:off x="2496312" y="2029968"/>
            <a:ext cx="310896" cy="0"/>
          </a:xfrm>
          <a:prstGeom prst="line">
            <a:avLst/>
          </a:prstGeom>
          <a:noFill/>
          <a:ln w="25400">
            <a:solidFill>
              <a:schemeClr val="accent1"/>
            </a:solidFill>
            <a:prstDash val="solid"/>
            <a:tailEnd type="triangle"/>
          </a:ln>
        </p:spPr>
      </p:sp>
      <p:sp>
        <p:nvSpPr>
          <p:cNvPr id="9" name="Card 365"/>
          <p:cNvSpPr/>
          <p:nvPr/>
        </p:nvSpPr>
        <p:spPr>
          <a:xfrm>
            <a:off x="2834640" y="1600200"/>
            <a:ext cx="1920240" cy="868680"/>
          </a:xfrm>
          <a:prstGeom prst="roundRect">
            <a:avLst>
              <a:gd name="adj" fmla="val 12632"/>
            </a:avLst>
          </a:prstGeom>
          <a:solidFill>
            <a:schemeClr val="tx1"/>
          </a:solidFill>
          <a:ln w="25400">
            <a:solidFill>
              <a:schemeClr val="accent4"/>
            </a:solidFill>
            <a:prstDash val="solid"/>
          </a:ln>
        </p:spPr>
      </p:sp>
      <p:sp>
        <p:nvSpPr>
          <p:cNvPr id="10" name="Status dot 366"/>
          <p:cNvSpPr/>
          <p:nvPr/>
        </p:nvSpPr>
        <p:spPr>
          <a:xfrm>
            <a:off x="2944368" y="1709928"/>
            <a:ext cx="146304" cy="146304"/>
          </a:xfrm>
          <a:prstGeom prst="ellipse">
            <a:avLst/>
          </a:prstGeom>
          <a:solidFill>
            <a:schemeClr val="accent4"/>
          </a:solidFill>
          <a:ln w="6350">
            <a:solidFill>
              <a:schemeClr val="accent4"/>
            </a:solidFill>
            <a:prstDash val="solid"/>
          </a:ln>
        </p:spPr>
      </p:sp>
      <p:sp>
        <p:nvSpPr>
          <p:cNvPr id="11" name="Text 367"/>
          <p:cNvSpPr txBox="1"/>
          <p:nvPr/>
        </p:nvSpPr>
        <p:spPr>
          <a:xfrm>
            <a:off x="2834640" y="1600200"/>
            <a:ext cx="1920240" cy="8686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check_spark</a:t>
            </a:r>
            <a:endParaRPr lang="en-US" sz="1300" dirty="0"/>
          </a:p>
        </p:txBody>
      </p:sp>
      <p:sp>
        <p:nvSpPr>
          <p:cNvPr id="12" name="Text 368"/>
          <p:cNvSpPr txBox="1"/>
          <p:nvPr/>
        </p:nvSpPr>
        <p:spPr>
          <a:xfrm>
            <a:off x="2834640" y="2578608"/>
            <a:ext cx="1920240" cy="502920"/>
          </a:xfrm>
          <a:prstGeom prst="rect">
            <a:avLst/>
          </a:prstGeom>
          <a:noFill/>
          <a:ln/>
        </p:spPr>
        <p:txBody>
          <a:bodyPr wrap="square" lIns="0" tIns="0" rIns="0" bIns="0" rtlCol="0" anchor="t"/>
          <a:lstStyle/>
          <a:p>
            <a:pPr algn="ctr" indent="0" marL="0">
              <a:buNone/>
            </a:pPr>
            <a:r>
              <a:rPr lang="en-US" sz="1300" dirty="0">
                <a:solidFill>
                  <a:schemeClr val="bg2"/>
                </a:solidFill>
              </a:rPr>
              <a:t>Validate Spark availability</a:t>
            </a:r>
            <a:endParaRPr lang="en-US" sz="1300" dirty="0"/>
          </a:p>
        </p:txBody>
      </p:sp>
      <p:sp>
        <p:nvSpPr>
          <p:cNvPr id="13" name="Connector 369"/>
          <p:cNvSpPr/>
          <p:nvPr/>
        </p:nvSpPr>
        <p:spPr>
          <a:xfrm>
            <a:off x="4782312" y="2029968"/>
            <a:ext cx="310896" cy="0"/>
          </a:xfrm>
          <a:prstGeom prst="line">
            <a:avLst/>
          </a:prstGeom>
          <a:noFill/>
          <a:ln w="25400">
            <a:solidFill>
              <a:schemeClr val="accent1"/>
            </a:solidFill>
            <a:prstDash val="solid"/>
            <a:tailEnd type="triangle"/>
          </a:ln>
        </p:spPr>
      </p:sp>
      <p:sp>
        <p:nvSpPr>
          <p:cNvPr id="14" name="Card 370"/>
          <p:cNvSpPr/>
          <p:nvPr/>
        </p:nvSpPr>
        <p:spPr>
          <a:xfrm>
            <a:off x="5120640" y="1600200"/>
            <a:ext cx="1920240" cy="868680"/>
          </a:xfrm>
          <a:prstGeom prst="roundRect">
            <a:avLst>
              <a:gd name="adj" fmla="val 12632"/>
            </a:avLst>
          </a:prstGeom>
          <a:solidFill>
            <a:schemeClr val="tx1"/>
          </a:solidFill>
          <a:ln w="25400">
            <a:solidFill>
              <a:schemeClr val="accent4"/>
            </a:solidFill>
            <a:prstDash val="solid"/>
          </a:ln>
        </p:spPr>
      </p:sp>
      <p:sp>
        <p:nvSpPr>
          <p:cNvPr id="15" name="Status dot 371"/>
          <p:cNvSpPr/>
          <p:nvPr/>
        </p:nvSpPr>
        <p:spPr>
          <a:xfrm>
            <a:off x="5230368" y="1709928"/>
            <a:ext cx="146304" cy="146304"/>
          </a:xfrm>
          <a:prstGeom prst="ellipse">
            <a:avLst/>
          </a:prstGeom>
          <a:solidFill>
            <a:schemeClr val="accent4"/>
          </a:solidFill>
          <a:ln w="6350">
            <a:solidFill>
              <a:schemeClr val="accent4"/>
            </a:solidFill>
            <a:prstDash val="solid"/>
          </a:ln>
        </p:spPr>
      </p:sp>
      <p:sp>
        <p:nvSpPr>
          <p:cNvPr id="16" name="Text 372"/>
          <p:cNvSpPr txBox="1"/>
          <p:nvPr/>
        </p:nvSpPr>
        <p:spPr>
          <a:xfrm>
            <a:off x="5120640" y="1600200"/>
            <a:ext cx="1920240" cy="8686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preflight_staging</a:t>
            </a:r>
            <a:endParaRPr lang="en-US" sz="1300" dirty="0"/>
          </a:p>
        </p:txBody>
      </p:sp>
      <p:sp>
        <p:nvSpPr>
          <p:cNvPr id="17" name="Text 373"/>
          <p:cNvSpPr txBox="1"/>
          <p:nvPr/>
        </p:nvSpPr>
        <p:spPr>
          <a:xfrm>
            <a:off x="5120640" y="2578608"/>
            <a:ext cx="1920240" cy="502920"/>
          </a:xfrm>
          <a:prstGeom prst="rect">
            <a:avLst/>
          </a:prstGeom>
          <a:noFill/>
          <a:ln/>
        </p:spPr>
        <p:txBody>
          <a:bodyPr wrap="square" lIns="0" tIns="0" rIns="0" bIns="0" rtlCol="0" anchor="t"/>
          <a:lstStyle/>
          <a:p>
            <a:pPr algn="ctr" indent="0" marL="0">
              <a:buNone/>
            </a:pPr>
            <a:r>
              <a:rPr lang="en-US" sz="1300" dirty="0">
                <a:solidFill>
                  <a:schemeClr val="bg2"/>
                </a:solidFill>
              </a:rPr>
              <a:t>Pre-flight check on staging</a:t>
            </a:r>
            <a:endParaRPr lang="en-US" sz="1300" dirty="0"/>
          </a:p>
        </p:txBody>
      </p:sp>
      <p:sp>
        <p:nvSpPr>
          <p:cNvPr id="18" name="Connector 374"/>
          <p:cNvSpPr/>
          <p:nvPr/>
        </p:nvSpPr>
        <p:spPr>
          <a:xfrm>
            <a:off x="7068312" y="2029968"/>
            <a:ext cx="310896" cy="0"/>
          </a:xfrm>
          <a:prstGeom prst="line">
            <a:avLst/>
          </a:prstGeom>
          <a:noFill/>
          <a:ln w="25400">
            <a:solidFill>
              <a:schemeClr val="accent1"/>
            </a:solidFill>
            <a:prstDash val="solid"/>
            <a:tailEnd type="triangle"/>
          </a:ln>
        </p:spPr>
      </p:sp>
      <p:sp>
        <p:nvSpPr>
          <p:cNvPr id="19" name="Card 375"/>
          <p:cNvSpPr/>
          <p:nvPr/>
        </p:nvSpPr>
        <p:spPr>
          <a:xfrm>
            <a:off x="7406640" y="1600200"/>
            <a:ext cx="1920240" cy="868680"/>
          </a:xfrm>
          <a:prstGeom prst="roundRect">
            <a:avLst>
              <a:gd name="adj" fmla="val 12632"/>
            </a:avLst>
          </a:prstGeom>
          <a:solidFill>
            <a:schemeClr val="tx1"/>
          </a:solidFill>
          <a:ln w="25400">
            <a:solidFill>
              <a:schemeClr val="accent4"/>
            </a:solidFill>
            <a:prstDash val="solid"/>
          </a:ln>
        </p:spPr>
      </p:sp>
      <p:sp>
        <p:nvSpPr>
          <p:cNvPr id="20" name="Status dot 376"/>
          <p:cNvSpPr/>
          <p:nvPr/>
        </p:nvSpPr>
        <p:spPr>
          <a:xfrm>
            <a:off x="7516368" y="1709928"/>
            <a:ext cx="146304" cy="146304"/>
          </a:xfrm>
          <a:prstGeom prst="ellipse">
            <a:avLst/>
          </a:prstGeom>
          <a:solidFill>
            <a:schemeClr val="accent4"/>
          </a:solidFill>
          <a:ln w="6350">
            <a:solidFill>
              <a:schemeClr val="accent4"/>
            </a:solidFill>
            <a:prstDash val="solid"/>
          </a:ln>
        </p:spPr>
      </p:sp>
      <p:sp>
        <p:nvSpPr>
          <p:cNvPr id="21" name="Text 377"/>
          <p:cNvSpPr txBox="1"/>
          <p:nvPr/>
        </p:nvSpPr>
        <p:spPr>
          <a:xfrm>
            <a:off x="7406640" y="1600200"/>
            <a:ext cx="1920240" cy="8686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run_etl</a:t>
            </a:r>
            <a:endParaRPr lang="en-US" sz="1300" dirty="0"/>
          </a:p>
        </p:txBody>
      </p:sp>
      <p:sp>
        <p:nvSpPr>
          <p:cNvPr id="22" name="Text 378"/>
          <p:cNvSpPr txBox="1"/>
          <p:nvPr/>
        </p:nvSpPr>
        <p:spPr>
          <a:xfrm>
            <a:off x="7406640" y="2578608"/>
            <a:ext cx="1920240" cy="502920"/>
          </a:xfrm>
          <a:prstGeom prst="rect">
            <a:avLst/>
          </a:prstGeom>
          <a:noFill/>
          <a:ln/>
        </p:spPr>
        <p:txBody>
          <a:bodyPr wrap="square" lIns="0" tIns="0" rIns="0" bIns="0" rtlCol="0" anchor="t"/>
          <a:lstStyle/>
          <a:p>
            <a:pPr algn="ctr" indent="0" marL="0">
              <a:buNone/>
            </a:pPr>
            <a:r>
              <a:rPr lang="en-US" sz="1300" dirty="0">
                <a:solidFill>
                  <a:schemeClr val="bg2"/>
                </a:solidFill>
              </a:rPr>
              <a:t>Run the Spark ETL</a:t>
            </a:r>
            <a:endParaRPr lang="en-US" sz="1300" dirty="0"/>
          </a:p>
        </p:txBody>
      </p:sp>
      <p:sp>
        <p:nvSpPr>
          <p:cNvPr id="23" name="Connector 379"/>
          <p:cNvSpPr/>
          <p:nvPr/>
        </p:nvSpPr>
        <p:spPr>
          <a:xfrm>
            <a:off x="9354312" y="2029968"/>
            <a:ext cx="310896" cy="0"/>
          </a:xfrm>
          <a:prstGeom prst="line">
            <a:avLst/>
          </a:prstGeom>
          <a:noFill/>
          <a:ln w="25400">
            <a:solidFill>
              <a:schemeClr val="accent1"/>
            </a:solidFill>
            <a:prstDash val="solid"/>
            <a:tailEnd type="triangle"/>
          </a:ln>
        </p:spPr>
      </p:sp>
      <p:sp>
        <p:nvSpPr>
          <p:cNvPr id="24" name="Card 380"/>
          <p:cNvSpPr/>
          <p:nvPr/>
        </p:nvSpPr>
        <p:spPr>
          <a:xfrm>
            <a:off x="9692640" y="1600200"/>
            <a:ext cx="1920240" cy="868680"/>
          </a:xfrm>
          <a:prstGeom prst="roundRect">
            <a:avLst>
              <a:gd name="adj" fmla="val 12632"/>
            </a:avLst>
          </a:prstGeom>
          <a:solidFill>
            <a:schemeClr val="tx1"/>
          </a:solidFill>
          <a:ln w="25400">
            <a:solidFill>
              <a:schemeClr val="accent4"/>
            </a:solidFill>
            <a:prstDash val="solid"/>
          </a:ln>
        </p:spPr>
      </p:sp>
      <p:sp>
        <p:nvSpPr>
          <p:cNvPr id="25" name="Status dot 381"/>
          <p:cNvSpPr/>
          <p:nvPr/>
        </p:nvSpPr>
        <p:spPr>
          <a:xfrm>
            <a:off x="9802368" y="1709928"/>
            <a:ext cx="146304" cy="146304"/>
          </a:xfrm>
          <a:prstGeom prst="ellipse">
            <a:avLst/>
          </a:prstGeom>
          <a:solidFill>
            <a:schemeClr val="accent4"/>
          </a:solidFill>
          <a:ln w="6350">
            <a:solidFill>
              <a:schemeClr val="accent4"/>
            </a:solidFill>
            <a:prstDash val="solid"/>
          </a:ln>
        </p:spPr>
      </p:sp>
      <p:sp>
        <p:nvSpPr>
          <p:cNvPr id="26" name="Text 382"/>
          <p:cNvSpPr txBox="1"/>
          <p:nvPr/>
        </p:nvSpPr>
        <p:spPr>
          <a:xfrm>
            <a:off x="9692640" y="1600200"/>
            <a:ext cx="1920240" cy="86868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validate_staging</a:t>
            </a:r>
            <a:endParaRPr lang="en-US" sz="1300" dirty="0"/>
          </a:p>
        </p:txBody>
      </p:sp>
      <p:sp>
        <p:nvSpPr>
          <p:cNvPr id="27" name="Text 383"/>
          <p:cNvSpPr txBox="1"/>
          <p:nvPr/>
        </p:nvSpPr>
        <p:spPr>
          <a:xfrm>
            <a:off x="9692640" y="2578608"/>
            <a:ext cx="1920240" cy="502920"/>
          </a:xfrm>
          <a:prstGeom prst="rect">
            <a:avLst/>
          </a:prstGeom>
          <a:noFill/>
          <a:ln/>
        </p:spPr>
        <p:txBody>
          <a:bodyPr wrap="square" lIns="0" tIns="0" rIns="0" bIns="0" rtlCol="0" anchor="t"/>
          <a:lstStyle/>
          <a:p>
            <a:pPr algn="ctr" indent="0" marL="0">
              <a:buNone/>
            </a:pPr>
            <a:r>
              <a:rPr lang="en-US" sz="1300" dirty="0">
                <a:solidFill>
                  <a:schemeClr val="bg2"/>
                </a:solidFill>
              </a:rPr>
              <a:t>Validate the ETL output</a:t>
            </a:r>
            <a:endParaRPr lang="en-US" sz="1300" dirty="0"/>
          </a:p>
        </p:txBody>
      </p:sp>
      <p:sp>
        <p:nvSpPr>
          <p:cNvPr id="28" name="Card 384"/>
          <p:cNvSpPr/>
          <p:nvPr/>
        </p:nvSpPr>
        <p:spPr>
          <a:xfrm>
            <a:off x="548640" y="3200400"/>
            <a:ext cx="6492240" cy="36576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29" name="Text 385"/>
          <p:cNvSpPr txBox="1"/>
          <p:nvPr/>
        </p:nvSpPr>
        <p:spPr>
          <a:xfrm>
            <a:off x="548640" y="3200400"/>
            <a:ext cx="649224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PRE-FLIGHT CHECKS</a:t>
            </a:r>
            <a:endParaRPr lang="en-US" sz="1100" dirty="0"/>
          </a:p>
        </p:txBody>
      </p:sp>
      <p:sp>
        <p:nvSpPr>
          <p:cNvPr id="30" name="Card 386"/>
          <p:cNvSpPr/>
          <p:nvPr/>
        </p:nvSpPr>
        <p:spPr>
          <a:xfrm>
            <a:off x="7406640" y="3200400"/>
            <a:ext cx="1920240" cy="36576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31" name="Text 387"/>
          <p:cNvSpPr txBox="1"/>
          <p:nvPr/>
        </p:nvSpPr>
        <p:spPr>
          <a:xfrm>
            <a:off x="7406640" y="3200400"/>
            <a:ext cx="192024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PROCESSING</a:t>
            </a:r>
            <a:endParaRPr lang="en-US" sz="1100" dirty="0"/>
          </a:p>
        </p:txBody>
      </p:sp>
      <p:sp>
        <p:nvSpPr>
          <p:cNvPr id="32" name="Card 388"/>
          <p:cNvSpPr/>
          <p:nvPr/>
        </p:nvSpPr>
        <p:spPr>
          <a:xfrm>
            <a:off x="9692640" y="3200400"/>
            <a:ext cx="1920240" cy="365760"/>
          </a:xfrm>
          <a:prstGeom prst="roundRect">
            <a:avLst>
              <a:gd name="adj" fmla="val 50000"/>
            </a:avLst>
          </a:prstGeom>
          <a:solidFill>
            <a:schemeClr val="accent2">
              <a:alpha val="18000"/>
            </a:schemeClr>
          </a:solidFill>
          <a:ln w="9525">
            <a:solidFill>
              <a:schemeClr val="accent1">
                <a:alpha val="40000"/>
              </a:schemeClr>
            </a:solidFill>
            <a:prstDash val="solid"/>
          </a:ln>
        </p:spPr>
      </p:sp>
      <p:sp>
        <p:nvSpPr>
          <p:cNvPr id="33" name="Text 389"/>
          <p:cNvSpPr txBox="1"/>
          <p:nvPr/>
        </p:nvSpPr>
        <p:spPr>
          <a:xfrm>
            <a:off x="9692640" y="3200400"/>
            <a:ext cx="1920240" cy="365760"/>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VALIDATION</a:t>
            </a:r>
            <a:endParaRPr lang="en-US" sz="1100" dirty="0"/>
          </a:p>
        </p:txBody>
      </p:sp>
      <p:sp>
        <p:nvSpPr>
          <p:cNvPr id="34" name="Text 390"/>
          <p:cNvSpPr txBox="1"/>
          <p:nvPr/>
        </p:nvSpPr>
        <p:spPr>
          <a:xfrm>
            <a:off x="548640" y="397764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ORCHESTRATION MATTERS</a:t>
            </a:r>
            <a:endParaRPr lang="en-US" sz="1200" dirty="0"/>
          </a:p>
        </p:txBody>
      </p:sp>
      <p:sp>
        <p:nvSpPr>
          <p:cNvPr id="35" name="Card 391"/>
          <p:cNvSpPr/>
          <p:nvPr/>
        </p:nvSpPr>
        <p:spPr>
          <a:xfrm>
            <a:off x="6400800" y="3913632"/>
            <a:ext cx="5239512" cy="384048"/>
          </a:xfrm>
          <a:prstGeom prst="roundRect">
            <a:avLst>
              <a:gd name="adj" fmla="val 23810"/>
            </a:avLst>
          </a:prstGeom>
          <a:solidFill>
            <a:schemeClr val="tx1"/>
          </a:solidFill>
          <a:ln w="9525">
            <a:solidFill>
              <a:schemeClr val="accent2">
                <a:alpha val="45000"/>
              </a:schemeClr>
            </a:solidFill>
            <a:prstDash val="solid"/>
          </a:ln>
        </p:spPr>
      </p:sp>
      <p:sp>
        <p:nvSpPr>
          <p:cNvPr id="36" name="Text 392"/>
          <p:cNvSpPr txBox="1"/>
          <p:nvPr/>
        </p:nvSpPr>
        <p:spPr>
          <a:xfrm>
            <a:off x="6400800" y="3913632"/>
            <a:ext cx="5239512"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airflow/dags/nyc_traffic_pipeline.py</a:t>
            </a:r>
            <a:endParaRPr lang="en-US" sz="1400" dirty="0"/>
          </a:p>
        </p:txBody>
      </p:sp>
      <p:sp>
        <p:nvSpPr>
          <p:cNvPr id="37" name="Card 393"/>
          <p:cNvSpPr/>
          <p:nvPr/>
        </p:nvSpPr>
        <p:spPr>
          <a:xfrm>
            <a:off x="548640" y="4526280"/>
            <a:ext cx="1920240" cy="1737360"/>
          </a:xfrm>
          <a:prstGeom prst="roundRect">
            <a:avLst>
              <a:gd name="adj" fmla="val 6316"/>
            </a:avLst>
          </a:prstGeom>
          <a:solidFill>
            <a:schemeClr val="tx2"/>
          </a:solidFill>
          <a:ln w="9525">
            <a:solidFill>
              <a:schemeClr val="accent2">
                <a:alpha val="45000"/>
              </a:schemeClr>
            </a:solidFill>
            <a:prstDash val="solid"/>
          </a:ln>
        </p:spPr>
      </p:sp>
      <p:sp>
        <p:nvSpPr>
          <p:cNvPr id="38" name="Icon circle 394"/>
          <p:cNvSpPr/>
          <p:nvPr/>
        </p:nvSpPr>
        <p:spPr>
          <a:xfrm>
            <a:off x="731520" y="4709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39" name="Icon 395" descr="Dependency management">    </p:cNvPr>
          <p:cNvPicPr>
            <a:picLocks noChangeAspect="1"/>
          </p:cNvPicPr>
          <p:nvPr/>
        </p:nvPicPr>
        <p:blipFill>
          <a:blip r:embed="rId1"/>
          <a:stretch>
            <a:fillRect/>
          </a:stretch>
        </p:blipFill>
        <p:spPr>
          <a:xfrm>
            <a:off x="868680" y="4846320"/>
            <a:ext cx="274320" cy="274320"/>
          </a:xfrm>
          <a:prstGeom prst="rect">
            <a:avLst/>
          </a:prstGeom>
        </p:spPr>
      </p:pic>
      <p:sp>
        <p:nvSpPr>
          <p:cNvPr id="40" name="Text 396"/>
          <p:cNvSpPr txBox="1"/>
          <p:nvPr/>
        </p:nvSpPr>
        <p:spPr>
          <a:xfrm>
            <a:off x="731520" y="5276088"/>
            <a:ext cx="1645920" cy="502920"/>
          </a:xfrm>
          <a:prstGeom prst="rect">
            <a:avLst/>
          </a:prstGeom>
          <a:noFill/>
          <a:ln/>
        </p:spPr>
        <p:txBody>
          <a:bodyPr wrap="square" lIns="0" tIns="0" rIns="0" bIns="0" rtlCol="0" anchor="t"/>
          <a:lstStyle/>
          <a:p>
            <a:pPr indent="0" marL="0">
              <a:buNone/>
            </a:pPr>
            <a:r>
              <a:rPr lang="en-US" sz="1400" b="1" dirty="0">
                <a:solidFill>
                  <a:schemeClr val="bg1"/>
                </a:solidFill>
              </a:rPr>
              <a:t>Dependency management</a:t>
            </a:r>
            <a:endParaRPr lang="en-US" sz="1400" dirty="0"/>
          </a:p>
        </p:txBody>
      </p:sp>
      <p:sp>
        <p:nvSpPr>
          <p:cNvPr id="41" name="Text 397"/>
          <p:cNvSpPr txBox="1"/>
          <p:nvPr/>
        </p:nvSpPr>
        <p:spPr>
          <a:xfrm>
            <a:off x="731520" y="5824728"/>
            <a:ext cx="1600200" cy="384048"/>
          </a:xfrm>
          <a:prstGeom prst="rect">
            <a:avLst/>
          </a:prstGeom>
          <a:noFill/>
          <a:ln/>
        </p:spPr>
        <p:txBody>
          <a:bodyPr wrap="square" lIns="0" tIns="0" rIns="0" bIns="0" rtlCol="0" anchor="t"/>
          <a:lstStyle/>
          <a:p>
            <a:pPr indent="0" marL="0">
              <a:buNone/>
            </a:pPr>
            <a:r>
              <a:rPr lang="en-US" sz="1200" dirty="0">
                <a:solidFill>
                  <a:schemeClr val="bg2"/>
                </a:solidFill>
              </a:rPr>
              <a:t>Tasks run in the right order</a:t>
            </a:r>
            <a:endParaRPr lang="en-US" sz="1200" dirty="0"/>
          </a:p>
        </p:txBody>
      </p:sp>
      <p:sp>
        <p:nvSpPr>
          <p:cNvPr id="42" name="Card 398"/>
          <p:cNvSpPr/>
          <p:nvPr/>
        </p:nvSpPr>
        <p:spPr>
          <a:xfrm>
            <a:off x="2834640" y="4526280"/>
            <a:ext cx="1920240" cy="1737360"/>
          </a:xfrm>
          <a:prstGeom prst="roundRect">
            <a:avLst>
              <a:gd name="adj" fmla="val 6316"/>
            </a:avLst>
          </a:prstGeom>
          <a:solidFill>
            <a:schemeClr val="tx2"/>
          </a:solidFill>
          <a:ln w="9525">
            <a:solidFill>
              <a:schemeClr val="accent2">
                <a:alpha val="45000"/>
              </a:schemeClr>
            </a:solidFill>
            <a:prstDash val="solid"/>
          </a:ln>
        </p:spPr>
      </p:sp>
      <p:sp>
        <p:nvSpPr>
          <p:cNvPr id="43" name="Icon circle 399"/>
          <p:cNvSpPr/>
          <p:nvPr/>
        </p:nvSpPr>
        <p:spPr>
          <a:xfrm>
            <a:off x="3017520" y="4709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44" name="Icon 400" descr="Automation">    </p:cNvPr>
          <p:cNvPicPr>
            <a:picLocks noChangeAspect="1"/>
          </p:cNvPicPr>
          <p:nvPr/>
        </p:nvPicPr>
        <p:blipFill>
          <a:blip r:embed="rId2"/>
          <a:stretch>
            <a:fillRect/>
          </a:stretch>
        </p:blipFill>
        <p:spPr>
          <a:xfrm>
            <a:off x="3154680" y="4846320"/>
            <a:ext cx="274320" cy="274320"/>
          </a:xfrm>
          <a:prstGeom prst="rect">
            <a:avLst/>
          </a:prstGeom>
        </p:spPr>
      </p:pic>
      <p:sp>
        <p:nvSpPr>
          <p:cNvPr id="45" name="Text 401"/>
          <p:cNvSpPr txBox="1"/>
          <p:nvPr/>
        </p:nvSpPr>
        <p:spPr>
          <a:xfrm>
            <a:off x="3017520" y="5276088"/>
            <a:ext cx="1645920" cy="502920"/>
          </a:xfrm>
          <a:prstGeom prst="rect">
            <a:avLst/>
          </a:prstGeom>
          <a:noFill/>
          <a:ln/>
        </p:spPr>
        <p:txBody>
          <a:bodyPr wrap="square" lIns="0" tIns="0" rIns="0" bIns="0" rtlCol="0" anchor="t"/>
          <a:lstStyle/>
          <a:p>
            <a:pPr indent="0" marL="0">
              <a:buNone/>
            </a:pPr>
            <a:r>
              <a:rPr lang="en-US" sz="1400" b="1" dirty="0">
                <a:solidFill>
                  <a:schemeClr val="bg1"/>
                </a:solidFill>
              </a:rPr>
              <a:t>Automation</a:t>
            </a:r>
            <a:endParaRPr lang="en-US" sz="1400" dirty="0"/>
          </a:p>
        </p:txBody>
      </p:sp>
      <p:sp>
        <p:nvSpPr>
          <p:cNvPr id="46" name="Text 402"/>
          <p:cNvSpPr txBox="1"/>
          <p:nvPr/>
        </p:nvSpPr>
        <p:spPr>
          <a:xfrm>
            <a:off x="3017520" y="5824728"/>
            <a:ext cx="1600200" cy="384048"/>
          </a:xfrm>
          <a:prstGeom prst="rect">
            <a:avLst/>
          </a:prstGeom>
          <a:noFill/>
          <a:ln/>
        </p:spPr>
        <p:txBody>
          <a:bodyPr wrap="square" lIns="0" tIns="0" rIns="0" bIns="0" rtlCol="0" anchor="t"/>
          <a:lstStyle/>
          <a:p>
            <a:pPr indent="0" marL="0">
              <a:buNone/>
            </a:pPr>
            <a:r>
              <a:rPr lang="en-US" sz="1200" dirty="0">
                <a:solidFill>
                  <a:schemeClr val="bg2"/>
                </a:solidFill>
              </a:rPr>
              <a:t>Runs without manual steps</a:t>
            </a:r>
            <a:endParaRPr lang="en-US" sz="1200" dirty="0"/>
          </a:p>
        </p:txBody>
      </p:sp>
      <p:sp>
        <p:nvSpPr>
          <p:cNvPr id="47" name="Card 403"/>
          <p:cNvSpPr/>
          <p:nvPr/>
        </p:nvSpPr>
        <p:spPr>
          <a:xfrm>
            <a:off x="5120640" y="4526280"/>
            <a:ext cx="1920240" cy="1737360"/>
          </a:xfrm>
          <a:prstGeom prst="roundRect">
            <a:avLst>
              <a:gd name="adj" fmla="val 6316"/>
            </a:avLst>
          </a:prstGeom>
          <a:solidFill>
            <a:schemeClr val="tx2"/>
          </a:solidFill>
          <a:ln w="9525">
            <a:solidFill>
              <a:schemeClr val="accent2">
                <a:alpha val="45000"/>
              </a:schemeClr>
            </a:solidFill>
            <a:prstDash val="solid"/>
          </a:ln>
        </p:spPr>
      </p:sp>
      <p:sp>
        <p:nvSpPr>
          <p:cNvPr id="48" name="Icon circle 404"/>
          <p:cNvSpPr/>
          <p:nvPr/>
        </p:nvSpPr>
        <p:spPr>
          <a:xfrm>
            <a:off x="5303520" y="4709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49" name="Icon 405" descr="Monitoring">    </p:cNvPr>
          <p:cNvPicPr>
            <a:picLocks noChangeAspect="1"/>
          </p:cNvPicPr>
          <p:nvPr/>
        </p:nvPicPr>
        <p:blipFill>
          <a:blip r:embed="rId3"/>
          <a:stretch>
            <a:fillRect/>
          </a:stretch>
        </p:blipFill>
        <p:spPr>
          <a:xfrm>
            <a:off x="5440680" y="4846320"/>
            <a:ext cx="274320" cy="274320"/>
          </a:xfrm>
          <a:prstGeom prst="rect">
            <a:avLst/>
          </a:prstGeom>
        </p:spPr>
      </p:pic>
      <p:sp>
        <p:nvSpPr>
          <p:cNvPr id="50" name="Text 406"/>
          <p:cNvSpPr txBox="1"/>
          <p:nvPr/>
        </p:nvSpPr>
        <p:spPr>
          <a:xfrm>
            <a:off x="5303520" y="5276088"/>
            <a:ext cx="1645920" cy="502920"/>
          </a:xfrm>
          <a:prstGeom prst="rect">
            <a:avLst/>
          </a:prstGeom>
          <a:noFill/>
          <a:ln/>
        </p:spPr>
        <p:txBody>
          <a:bodyPr wrap="square" lIns="0" tIns="0" rIns="0" bIns="0" rtlCol="0" anchor="t"/>
          <a:lstStyle/>
          <a:p>
            <a:pPr indent="0" marL="0">
              <a:buNone/>
            </a:pPr>
            <a:r>
              <a:rPr lang="en-US" sz="1400" b="1" dirty="0">
                <a:solidFill>
                  <a:schemeClr val="bg1"/>
                </a:solidFill>
              </a:rPr>
              <a:t>Monitoring</a:t>
            </a:r>
            <a:endParaRPr lang="en-US" sz="1400" dirty="0"/>
          </a:p>
        </p:txBody>
      </p:sp>
      <p:sp>
        <p:nvSpPr>
          <p:cNvPr id="51" name="Text 407"/>
          <p:cNvSpPr txBox="1"/>
          <p:nvPr/>
        </p:nvSpPr>
        <p:spPr>
          <a:xfrm>
            <a:off x="5303520" y="5824728"/>
            <a:ext cx="1600200" cy="384048"/>
          </a:xfrm>
          <a:prstGeom prst="rect">
            <a:avLst/>
          </a:prstGeom>
          <a:noFill/>
          <a:ln/>
        </p:spPr>
        <p:txBody>
          <a:bodyPr wrap="square" lIns="0" tIns="0" rIns="0" bIns="0" rtlCol="0" anchor="t"/>
          <a:lstStyle/>
          <a:p>
            <a:pPr indent="0" marL="0">
              <a:buNone/>
            </a:pPr>
            <a:r>
              <a:rPr lang="en-US" sz="1200" dirty="0">
                <a:solidFill>
                  <a:schemeClr val="bg2"/>
                </a:solidFill>
              </a:rPr>
              <a:t>Task status is visible in Airflow</a:t>
            </a:r>
            <a:endParaRPr lang="en-US" sz="1200" dirty="0"/>
          </a:p>
        </p:txBody>
      </p:sp>
      <p:sp>
        <p:nvSpPr>
          <p:cNvPr id="52" name="Card 408"/>
          <p:cNvSpPr/>
          <p:nvPr/>
        </p:nvSpPr>
        <p:spPr>
          <a:xfrm>
            <a:off x="7406640" y="4526280"/>
            <a:ext cx="1920240" cy="1737360"/>
          </a:xfrm>
          <a:prstGeom prst="roundRect">
            <a:avLst>
              <a:gd name="adj" fmla="val 6316"/>
            </a:avLst>
          </a:prstGeom>
          <a:solidFill>
            <a:schemeClr val="tx2"/>
          </a:solidFill>
          <a:ln w="9525">
            <a:solidFill>
              <a:schemeClr val="accent2">
                <a:alpha val="45000"/>
              </a:schemeClr>
            </a:solidFill>
            <a:prstDash val="solid"/>
          </a:ln>
        </p:spPr>
      </p:sp>
      <p:sp>
        <p:nvSpPr>
          <p:cNvPr id="53" name="Icon circle 409"/>
          <p:cNvSpPr/>
          <p:nvPr/>
        </p:nvSpPr>
        <p:spPr>
          <a:xfrm>
            <a:off x="7589520" y="4709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54" name="Icon 410" descr="Validation">    </p:cNvPr>
          <p:cNvPicPr>
            <a:picLocks noChangeAspect="1"/>
          </p:cNvPicPr>
          <p:nvPr/>
        </p:nvPicPr>
        <p:blipFill>
          <a:blip r:embed="rId4"/>
          <a:stretch>
            <a:fillRect/>
          </a:stretch>
        </p:blipFill>
        <p:spPr>
          <a:xfrm>
            <a:off x="7726680" y="4846320"/>
            <a:ext cx="274320" cy="274320"/>
          </a:xfrm>
          <a:prstGeom prst="rect">
            <a:avLst/>
          </a:prstGeom>
        </p:spPr>
      </p:pic>
      <p:sp>
        <p:nvSpPr>
          <p:cNvPr id="55" name="Text 411"/>
          <p:cNvSpPr txBox="1"/>
          <p:nvPr/>
        </p:nvSpPr>
        <p:spPr>
          <a:xfrm>
            <a:off x="7589520" y="5276088"/>
            <a:ext cx="1645920" cy="502920"/>
          </a:xfrm>
          <a:prstGeom prst="rect">
            <a:avLst/>
          </a:prstGeom>
          <a:noFill/>
          <a:ln/>
        </p:spPr>
        <p:txBody>
          <a:bodyPr wrap="square" lIns="0" tIns="0" rIns="0" bIns="0" rtlCol="0" anchor="t"/>
          <a:lstStyle/>
          <a:p>
            <a:pPr indent="0" marL="0">
              <a:buNone/>
            </a:pPr>
            <a:r>
              <a:rPr lang="en-US" sz="1400" b="1" dirty="0">
                <a:solidFill>
                  <a:schemeClr val="bg1"/>
                </a:solidFill>
              </a:rPr>
              <a:t>Validation</a:t>
            </a:r>
            <a:endParaRPr lang="en-US" sz="1400" dirty="0"/>
          </a:p>
        </p:txBody>
      </p:sp>
      <p:sp>
        <p:nvSpPr>
          <p:cNvPr id="56" name="Text 412"/>
          <p:cNvSpPr txBox="1"/>
          <p:nvPr/>
        </p:nvSpPr>
        <p:spPr>
          <a:xfrm>
            <a:off x="7589520" y="5824728"/>
            <a:ext cx="1600200" cy="384048"/>
          </a:xfrm>
          <a:prstGeom prst="rect">
            <a:avLst/>
          </a:prstGeom>
          <a:noFill/>
          <a:ln/>
        </p:spPr>
        <p:txBody>
          <a:bodyPr wrap="square" lIns="0" tIns="0" rIns="0" bIns="0" rtlCol="0" anchor="t"/>
          <a:lstStyle/>
          <a:p>
            <a:pPr indent="0" marL="0">
              <a:buNone/>
            </a:pPr>
            <a:r>
              <a:rPr lang="en-US" sz="1200" dirty="0">
                <a:solidFill>
                  <a:schemeClr val="bg2"/>
                </a:solidFill>
              </a:rPr>
              <a:t>Checks before and after the ETL</a:t>
            </a:r>
            <a:endParaRPr lang="en-US" sz="1200" dirty="0"/>
          </a:p>
        </p:txBody>
      </p:sp>
      <p:sp>
        <p:nvSpPr>
          <p:cNvPr id="57" name="Card 413"/>
          <p:cNvSpPr/>
          <p:nvPr/>
        </p:nvSpPr>
        <p:spPr>
          <a:xfrm>
            <a:off x="9692640" y="4526280"/>
            <a:ext cx="1920240" cy="1737360"/>
          </a:xfrm>
          <a:prstGeom prst="roundRect">
            <a:avLst>
              <a:gd name="adj" fmla="val 6316"/>
            </a:avLst>
          </a:prstGeom>
          <a:solidFill>
            <a:schemeClr val="tx2"/>
          </a:solidFill>
          <a:ln w="9525">
            <a:solidFill>
              <a:schemeClr val="accent2">
                <a:alpha val="45000"/>
              </a:schemeClr>
            </a:solidFill>
            <a:prstDash val="solid"/>
          </a:ln>
        </p:spPr>
      </p:sp>
      <p:sp>
        <p:nvSpPr>
          <p:cNvPr id="58" name="Icon circle 414"/>
          <p:cNvSpPr/>
          <p:nvPr/>
        </p:nvSpPr>
        <p:spPr>
          <a:xfrm>
            <a:off x="9875520" y="4709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59" name="Icon 415" descr="Reproducibility">    </p:cNvPr>
          <p:cNvPicPr>
            <a:picLocks noChangeAspect="1"/>
          </p:cNvPicPr>
          <p:nvPr/>
        </p:nvPicPr>
        <p:blipFill>
          <a:blip r:embed="rId5"/>
          <a:stretch>
            <a:fillRect/>
          </a:stretch>
        </p:blipFill>
        <p:spPr>
          <a:xfrm>
            <a:off x="10012680" y="4846320"/>
            <a:ext cx="274320" cy="274320"/>
          </a:xfrm>
          <a:prstGeom prst="rect">
            <a:avLst/>
          </a:prstGeom>
        </p:spPr>
      </p:pic>
      <p:sp>
        <p:nvSpPr>
          <p:cNvPr id="60" name="Text 416"/>
          <p:cNvSpPr txBox="1"/>
          <p:nvPr/>
        </p:nvSpPr>
        <p:spPr>
          <a:xfrm>
            <a:off x="9875520" y="5276088"/>
            <a:ext cx="1645920" cy="502920"/>
          </a:xfrm>
          <a:prstGeom prst="rect">
            <a:avLst/>
          </a:prstGeom>
          <a:noFill/>
          <a:ln/>
        </p:spPr>
        <p:txBody>
          <a:bodyPr wrap="square" lIns="0" tIns="0" rIns="0" bIns="0" rtlCol="0" anchor="t"/>
          <a:lstStyle/>
          <a:p>
            <a:pPr indent="0" marL="0">
              <a:buNone/>
            </a:pPr>
            <a:r>
              <a:rPr lang="en-US" sz="1400" b="1" dirty="0">
                <a:solidFill>
                  <a:schemeClr val="bg1"/>
                </a:solidFill>
              </a:rPr>
              <a:t>Reproducibility</a:t>
            </a:r>
            <a:endParaRPr lang="en-US" sz="1400" dirty="0"/>
          </a:p>
        </p:txBody>
      </p:sp>
      <p:sp>
        <p:nvSpPr>
          <p:cNvPr id="61" name="Text 417"/>
          <p:cNvSpPr txBox="1"/>
          <p:nvPr/>
        </p:nvSpPr>
        <p:spPr>
          <a:xfrm>
            <a:off x="9875520" y="5824728"/>
            <a:ext cx="1600200" cy="384048"/>
          </a:xfrm>
          <a:prstGeom prst="rect">
            <a:avLst/>
          </a:prstGeom>
          <a:noFill/>
          <a:ln/>
        </p:spPr>
        <p:txBody>
          <a:bodyPr wrap="square" lIns="0" tIns="0" rIns="0" bIns="0" rtlCol="0" anchor="t"/>
          <a:lstStyle/>
          <a:p>
            <a:pPr indent="0" marL="0">
              <a:buNone/>
            </a:pPr>
            <a:r>
              <a:rPr lang="en-US" sz="1200" dirty="0">
                <a:solidFill>
                  <a:schemeClr val="bg2"/>
                </a:solidFill>
              </a:rPr>
              <a:t>Same workflow on every run</a:t>
            </a:r>
            <a:endParaRPr lang="en-US" sz="12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18"/>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ANALYTICAL LAYER</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ClickHouse – Analytical Storage</a:t>
            </a:r>
            <a:endParaRPr lang="en-US" sz="3600" dirty="0"/>
          </a:p>
        </p:txBody>
      </p:sp>
      <p:sp>
        <p:nvSpPr>
          <p:cNvPr id="4" name="Card 419"/>
          <p:cNvSpPr/>
          <p:nvPr/>
        </p:nvSpPr>
        <p:spPr>
          <a:xfrm>
            <a:off x="548640" y="1508760"/>
            <a:ext cx="6400800" cy="4754880"/>
          </a:xfrm>
          <a:prstGeom prst="roundRect">
            <a:avLst>
              <a:gd name="adj" fmla="val 2308"/>
            </a:avLst>
          </a:prstGeom>
          <a:solidFill>
            <a:schemeClr val="tx2"/>
          </a:solidFill>
          <a:ln w="9525">
            <a:solidFill>
              <a:schemeClr val="accent2">
                <a:alpha val="45000"/>
              </a:schemeClr>
            </a:solidFill>
            <a:prstDash val="solid"/>
          </a:ln>
        </p:spPr>
      </p:sp>
      <p:sp>
        <p:nvSpPr>
          <p:cNvPr id="5" name="Icon circle 420"/>
          <p:cNvSpPr/>
          <p:nvPr/>
        </p:nvSpPr>
        <p:spPr>
          <a:xfrm>
            <a:off x="822960" y="1691640"/>
            <a:ext cx="566928" cy="566928"/>
          </a:xfrm>
          <a:prstGeom prst="ellipse">
            <a:avLst/>
          </a:prstGeom>
          <a:solidFill>
            <a:schemeClr val="accent2">
              <a:alpha val="28000"/>
            </a:schemeClr>
          </a:solidFill>
          <a:ln w="9525">
            <a:solidFill>
              <a:schemeClr val="accent1">
                <a:alpha val="55000"/>
              </a:schemeClr>
            </a:solidFill>
            <a:prstDash val="solid"/>
          </a:ln>
        </p:spPr>
      </p:sp>
      <p:pic>
        <p:nvPicPr>
          <p:cNvPr id="6" name="Icon 421" descr="ClickHouse">    </p:cNvPr>
          <p:cNvPicPr>
            <a:picLocks noChangeAspect="1"/>
          </p:cNvPicPr>
          <p:nvPr/>
        </p:nvPicPr>
        <p:blipFill>
          <a:blip r:embed="rId1"/>
          <a:stretch>
            <a:fillRect/>
          </a:stretch>
        </p:blipFill>
        <p:spPr>
          <a:xfrm>
            <a:off x="964692" y="1833372"/>
            <a:ext cx="283464" cy="283464"/>
          </a:xfrm>
          <a:prstGeom prst="rect">
            <a:avLst/>
          </a:prstGeom>
        </p:spPr>
      </p:pic>
      <p:sp>
        <p:nvSpPr>
          <p:cNvPr id="7" name="Text 422"/>
          <p:cNvSpPr txBox="1"/>
          <p:nvPr/>
        </p:nvSpPr>
        <p:spPr>
          <a:xfrm>
            <a:off x="1554480" y="1691640"/>
            <a:ext cx="5029200" cy="566928"/>
          </a:xfrm>
          <a:prstGeom prst="rect">
            <a:avLst/>
          </a:prstGeom>
          <a:noFill/>
          <a:ln/>
        </p:spPr>
        <p:txBody>
          <a:bodyPr wrap="square" lIns="0" tIns="0" rIns="0" bIns="0" rtlCol="0" anchor="ctr"/>
          <a:lstStyle/>
          <a:p>
            <a:pPr indent="0" marL="0">
              <a:buNone/>
            </a:pPr>
            <a:r>
              <a:rPr lang="en-US" sz="2200" b="1" dirty="0">
                <a:solidFill>
                  <a:schemeClr val="bg1"/>
                </a:solidFill>
                <a:latin typeface="Courier New" pitchFamily="34" charset="0"/>
                <a:ea typeface="Courier New" pitchFamily="34" charset="-122"/>
                <a:cs typeface="Courier New" pitchFamily="34" charset="-120"/>
              </a:rPr>
              <a:t>default.zone_hour</a:t>
            </a:r>
            <a:endParaRPr lang="en-US" sz="2200" dirty="0"/>
          </a:p>
        </p:txBody>
      </p:sp>
      <p:sp>
        <p:nvSpPr>
          <p:cNvPr id="8" name="Row tint 423"/>
          <p:cNvSpPr/>
          <p:nvPr/>
        </p:nvSpPr>
        <p:spPr>
          <a:xfrm>
            <a:off x="777240" y="2423160"/>
            <a:ext cx="5943600" cy="420624"/>
          </a:xfrm>
          <a:prstGeom prst="rect">
            <a:avLst/>
          </a:prstGeom>
          <a:solidFill>
            <a:schemeClr val="accent2">
              <a:alpha val="10000"/>
            </a:schemeClr>
          </a:solidFill>
          <a:ln w="12700">
            <a:solidFill>
              <a:schemeClr val="accent2">
                <a:alpha val="0"/>
              </a:schemeClr>
            </a:solidFill>
            <a:prstDash val="solid"/>
          </a:ln>
        </p:spPr>
      </p:sp>
      <p:sp>
        <p:nvSpPr>
          <p:cNvPr id="9" name="Text 424"/>
          <p:cNvSpPr txBox="1"/>
          <p:nvPr/>
        </p:nvSpPr>
        <p:spPr>
          <a:xfrm>
            <a:off x="914400" y="2423160"/>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pu_zone</a:t>
            </a:r>
            <a:endParaRPr lang="en-US" sz="1500" dirty="0"/>
          </a:p>
        </p:txBody>
      </p:sp>
      <p:sp>
        <p:nvSpPr>
          <p:cNvPr id="10" name="Text 425"/>
          <p:cNvSpPr txBox="1"/>
          <p:nvPr/>
        </p:nvSpPr>
        <p:spPr>
          <a:xfrm>
            <a:off x="3794760" y="2423160"/>
            <a:ext cx="2834640" cy="420624"/>
          </a:xfrm>
          <a:prstGeom prst="rect">
            <a:avLst/>
          </a:prstGeom>
          <a:noFill/>
          <a:ln/>
        </p:spPr>
        <p:txBody>
          <a:bodyPr wrap="square" lIns="0" tIns="0" rIns="0" bIns="0" rtlCol="0" anchor="ctr"/>
          <a:lstStyle/>
          <a:p>
            <a:pPr indent="0" marL="0">
              <a:buNone/>
            </a:pPr>
            <a:r>
              <a:rPr lang="en-US" sz="1400" dirty="0">
                <a:solidFill>
                  <a:schemeClr val="bg2"/>
                </a:solidFill>
              </a:rPr>
              <a:t>Pickup zone</a:t>
            </a:r>
            <a:endParaRPr lang="en-US" sz="1400" dirty="0"/>
          </a:p>
        </p:txBody>
      </p:sp>
      <p:sp>
        <p:nvSpPr>
          <p:cNvPr id="11" name="Text 426"/>
          <p:cNvSpPr txBox="1"/>
          <p:nvPr/>
        </p:nvSpPr>
        <p:spPr>
          <a:xfrm>
            <a:off x="914400" y="2843784"/>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pickup_date</a:t>
            </a:r>
            <a:endParaRPr lang="en-US" sz="1500" dirty="0"/>
          </a:p>
        </p:txBody>
      </p:sp>
      <p:sp>
        <p:nvSpPr>
          <p:cNvPr id="12" name="Text 427"/>
          <p:cNvSpPr txBox="1"/>
          <p:nvPr/>
        </p:nvSpPr>
        <p:spPr>
          <a:xfrm>
            <a:off x="3794760" y="2843784"/>
            <a:ext cx="2834640" cy="420624"/>
          </a:xfrm>
          <a:prstGeom prst="rect">
            <a:avLst/>
          </a:prstGeom>
          <a:noFill/>
          <a:ln/>
        </p:spPr>
        <p:txBody>
          <a:bodyPr wrap="square" lIns="0" tIns="0" rIns="0" bIns="0" rtlCol="0" anchor="ctr"/>
          <a:lstStyle/>
          <a:p>
            <a:pPr indent="0" marL="0">
              <a:buNone/>
            </a:pPr>
            <a:r>
              <a:rPr lang="en-US" sz="1400" dirty="0">
                <a:solidFill>
                  <a:schemeClr val="bg2"/>
                </a:solidFill>
              </a:rPr>
              <a:t>Pickup date</a:t>
            </a:r>
            <a:endParaRPr lang="en-US" sz="1400" dirty="0"/>
          </a:p>
        </p:txBody>
      </p:sp>
      <p:sp>
        <p:nvSpPr>
          <p:cNvPr id="13" name="Row tint 428"/>
          <p:cNvSpPr/>
          <p:nvPr/>
        </p:nvSpPr>
        <p:spPr>
          <a:xfrm>
            <a:off x="777240" y="3264408"/>
            <a:ext cx="5943600" cy="420624"/>
          </a:xfrm>
          <a:prstGeom prst="rect">
            <a:avLst/>
          </a:prstGeom>
          <a:solidFill>
            <a:schemeClr val="accent2">
              <a:alpha val="10000"/>
            </a:schemeClr>
          </a:solidFill>
          <a:ln w="12700">
            <a:solidFill>
              <a:schemeClr val="accent2">
                <a:alpha val="0"/>
              </a:schemeClr>
            </a:solidFill>
            <a:prstDash val="solid"/>
          </a:ln>
        </p:spPr>
      </p:sp>
      <p:sp>
        <p:nvSpPr>
          <p:cNvPr id="14" name="Text 429"/>
          <p:cNvSpPr txBox="1"/>
          <p:nvPr/>
        </p:nvSpPr>
        <p:spPr>
          <a:xfrm>
            <a:off x="914400" y="3264408"/>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pickup_hour</a:t>
            </a:r>
            <a:endParaRPr lang="en-US" sz="1500" dirty="0"/>
          </a:p>
        </p:txBody>
      </p:sp>
      <p:sp>
        <p:nvSpPr>
          <p:cNvPr id="15" name="Text 430"/>
          <p:cNvSpPr txBox="1"/>
          <p:nvPr/>
        </p:nvSpPr>
        <p:spPr>
          <a:xfrm>
            <a:off x="3794760" y="3264408"/>
            <a:ext cx="2834640" cy="420624"/>
          </a:xfrm>
          <a:prstGeom prst="rect">
            <a:avLst/>
          </a:prstGeom>
          <a:noFill/>
          <a:ln/>
        </p:spPr>
        <p:txBody>
          <a:bodyPr wrap="square" lIns="0" tIns="0" rIns="0" bIns="0" rtlCol="0" anchor="ctr"/>
          <a:lstStyle/>
          <a:p>
            <a:pPr indent="0" marL="0">
              <a:buNone/>
            </a:pPr>
            <a:r>
              <a:rPr lang="en-US" sz="1400" dirty="0">
                <a:solidFill>
                  <a:schemeClr val="bg2"/>
                </a:solidFill>
              </a:rPr>
              <a:t>Pickup hour</a:t>
            </a:r>
            <a:endParaRPr lang="en-US" sz="1400" dirty="0"/>
          </a:p>
        </p:txBody>
      </p:sp>
      <p:sp>
        <p:nvSpPr>
          <p:cNvPr id="16" name="Text 431"/>
          <p:cNvSpPr txBox="1"/>
          <p:nvPr/>
        </p:nvSpPr>
        <p:spPr>
          <a:xfrm>
            <a:off x="914400" y="3685032"/>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trips</a:t>
            </a:r>
            <a:endParaRPr lang="en-US" sz="1500" dirty="0"/>
          </a:p>
        </p:txBody>
      </p:sp>
      <p:sp>
        <p:nvSpPr>
          <p:cNvPr id="17" name="Text 432"/>
          <p:cNvSpPr txBox="1"/>
          <p:nvPr/>
        </p:nvSpPr>
        <p:spPr>
          <a:xfrm>
            <a:off x="3794760" y="3685032"/>
            <a:ext cx="2834640" cy="420624"/>
          </a:xfrm>
          <a:prstGeom prst="rect">
            <a:avLst/>
          </a:prstGeom>
          <a:noFill/>
          <a:ln/>
        </p:spPr>
        <p:txBody>
          <a:bodyPr wrap="square" lIns="0" tIns="0" rIns="0" bIns="0" rtlCol="0" anchor="ctr"/>
          <a:lstStyle/>
          <a:p>
            <a:pPr indent="0" marL="0">
              <a:buNone/>
            </a:pPr>
            <a:r>
              <a:rPr lang="en-US" sz="1400" dirty="0">
                <a:solidFill>
                  <a:schemeClr val="bg2"/>
                </a:solidFill>
              </a:rPr>
              <a:t>Number of trips</a:t>
            </a:r>
            <a:endParaRPr lang="en-US" sz="1400" dirty="0"/>
          </a:p>
        </p:txBody>
      </p:sp>
      <p:sp>
        <p:nvSpPr>
          <p:cNvPr id="18" name="Row tint 433"/>
          <p:cNvSpPr/>
          <p:nvPr/>
        </p:nvSpPr>
        <p:spPr>
          <a:xfrm>
            <a:off x="777240" y="4105656"/>
            <a:ext cx="5943600" cy="420624"/>
          </a:xfrm>
          <a:prstGeom prst="rect">
            <a:avLst/>
          </a:prstGeom>
          <a:solidFill>
            <a:schemeClr val="accent2">
              <a:alpha val="10000"/>
            </a:schemeClr>
          </a:solidFill>
          <a:ln w="12700">
            <a:solidFill>
              <a:schemeClr val="accent2">
                <a:alpha val="0"/>
              </a:schemeClr>
            </a:solidFill>
            <a:prstDash val="solid"/>
          </a:ln>
        </p:spPr>
      </p:sp>
      <p:sp>
        <p:nvSpPr>
          <p:cNvPr id="19" name="Text 434"/>
          <p:cNvSpPr txBox="1"/>
          <p:nvPr/>
        </p:nvSpPr>
        <p:spPr>
          <a:xfrm>
            <a:off x="914400" y="4105656"/>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avg_fare</a:t>
            </a:r>
            <a:endParaRPr lang="en-US" sz="1500" dirty="0"/>
          </a:p>
        </p:txBody>
      </p:sp>
      <p:sp>
        <p:nvSpPr>
          <p:cNvPr id="20" name="Text 435"/>
          <p:cNvSpPr txBox="1"/>
          <p:nvPr/>
        </p:nvSpPr>
        <p:spPr>
          <a:xfrm>
            <a:off x="3794760" y="4105656"/>
            <a:ext cx="2834640" cy="420624"/>
          </a:xfrm>
          <a:prstGeom prst="rect">
            <a:avLst/>
          </a:prstGeom>
          <a:noFill/>
          <a:ln/>
        </p:spPr>
        <p:txBody>
          <a:bodyPr wrap="square" lIns="0" tIns="0" rIns="0" bIns="0" rtlCol="0" anchor="ctr"/>
          <a:lstStyle/>
          <a:p>
            <a:pPr indent="0" marL="0">
              <a:buNone/>
            </a:pPr>
            <a:r>
              <a:rPr lang="en-US" sz="1400" dirty="0">
                <a:solidFill>
                  <a:schemeClr val="bg2"/>
                </a:solidFill>
              </a:rPr>
              <a:t>Average fare</a:t>
            </a:r>
            <a:endParaRPr lang="en-US" sz="1400" dirty="0"/>
          </a:p>
        </p:txBody>
      </p:sp>
      <p:sp>
        <p:nvSpPr>
          <p:cNvPr id="21" name="Text 436"/>
          <p:cNvSpPr txBox="1"/>
          <p:nvPr/>
        </p:nvSpPr>
        <p:spPr>
          <a:xfrm>
            <a:off x="914400" y="4526280"/>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avg_distance</a:t>
            </a:r>
            <a:endParaRPr lang="en-US" sz="1500" dirty="0"/>
          </a:p>
        </p:txBody>
      </p:sp>
      <p:sp>
        <p:nvSpPr>
          <p:cNvPr id="22" name="Text 437"/>
          <p:cNvSpPr txBox="1"/>
          <p:nvPr/>
        </p:nvSpPr>
        <p:spPr>
          <a:xfrm>
            <a:off x="3794760" y="4526280"/>
            <a:ext cx="2834640" cy="420624"/>
          </a:xfrm>
          <a:prstGeom prst="rect">
            <a:avLst/>
          </a:prstGeom>
          <a:noFill/>
          <a:ln/>
        </p:spPr>
        <p:txBody>
          <a:bodyPr wrap="square" lIns="0" tIns="0" rIns="0" bIns="0" rtlCol="0" anchor="ctr"/>
          <a:lstStyle/>
          <a:p>
            <a:pPr indent="0" marL="0">
              <a:buNone/>
            </a:pPr>
            <a:r>
              <a:rPr lang="en-US" sz="1400" dirty="0">
                <a:solidFill>
                  <a:schemeClr val="bg2"/>
                </a:solidFill>
              </a:rPr>
              <a:t>Average distance</a:t>
            </a:r>
            <a:endParaRPr lang="en-US" sz="1400" dirty="0"/>
          </a:p>
        </p:txBody>
      </p:sp>
      <p:sp>
        <p:nvSpPr>
          <p:cNvPr id="23" name="Row tint 438"/>
          <p:cNvSpPr/>
          <p:nvPr/>
        </p:nvSpPr>
        <p:spPr>
          <a:xfrm>
            <a:off x="777240" y="4946904"/>
            <a:ext cx="5943600" cy="420624"/>
          </a:xfrm>
          <a:prstGeom prst="rect">
            <a:avLst/>
          </a:prstGeom>
          <a:solidFill>
            <a:schemeClr val="accent2">
              <a:alpha val="10000"/>
            </a:schemeClr>
          </a:solidFill>
          <a:ln w="12700">
            <a:solidFill>
              <a:schemeClr val="accent2">
                <a:alpha val="0"/>
              </a:schemeClr>
            </a:solidFill>
            <a:prstDash val="solid"/>
          </a:ln>
        </p:spPr>
      </p:sp>
      <p:sp>
        <p:nvSpPr>
          <p:cNvPr id="24" name="Text 439"/>
          <p:cNvSpPr txBox="1"/>
          <p:nvPr/>
        </p:nvSpPr>
        <p:spPr>
          <a:xfrm>
            <a:off x="914400" y="4946904"/>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avg_duration_min</a:t>
            </a:r>
            <a:endParaRPr lang="en-US" sz="1500" dirty="0"/>
          </a:p>
        </p:txBody>
      </p:sp>
      <p:sp>
        <p:nvSpPr>
          <p:cNvPr id="25" name="Text 440"/>
          <p:cNvSpPr txBox="1"/>
          <p:nvPr/>
        </p:nvSpPr>
        <p:spPr>
          <a:xfrm>
            <a:off x="3794760" y="4946904"/>
            <a:ext cx="2834640" cy="420624"/>
          </a:xfrm>
          <a:prstGeom prst="rect">
            <a:avLst/>
          </a:prstGeom>
          <a:noFill/>
          <a:ln/>
        </p:spPr>
        <p:txBody>
          <a:bodyPr wrap="square" lIns="0" tIns="0" rIns="0" bIns="0" rtlCol="0" anchor="ctr"/>
          <a:lstStyle/>
          <a:p>
            <a:pPr indent="0" marL="0">
              <a:buNone/>
            </a:pPr>
            <a:r>
              <a:rPr lang="en-US" sz="1400" dirty="0">
                <a:solidFill>
                  <a:schemeClr val="bg2"/>
                </a:solidFill>
              </a:rPr>
              <a:t>Average trip duration (min)</a:t>
            </a:r>
            <a:endParaRPr lang="en-US" sz="1400" dirty="0"/>
          </a:p>
        </p:txBody>
      </p:sp>
      <p:sp>
        <p:nvSpPr>
          <p:cNvPr id="26" name="Text 441"/>
          <p:cNvSpPr txBox="1"/>
          <p:nvPr/>
        </p:nvSpPr>
        <p:spPr>
          <a:xfrm>
            <a:off x="914400" y="5367528"/>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avg_speed_mph</a:t>
            </a:r>
            <a:endParaRPr lang="en-US" sz="1500" dirty="0"/>
          </a:p>
        </p:txBody>
      </p:sp>
      <p:sp>
        <p:nvSpPr>
          <p:cNvPr id="27" name="Text 442"/>
          <p:cNvSpPr txBox="1"/>
          <p:nvPr/>
        </p:nvSpPr>
        <p:spPr>
          <a:xfrm>
            <a:off x="3794760" y="5367528"/>
            <a:ext cx="2834640" cy="420624"/>
          </a:xfrm>
          <a:prstGeom prst="rect">
            <a:avLst/>
          </a:prstGeom>
          <a:noFill/>
          <a:ln/>
        </p:spPr>
        <p:txBody>
          <a:bodyPr wrap="square" lIns="0" tIns="0" rIns="0" bIns="0" rtlCol="0" anchor="ctr"/>
          <a:lstStyle/>
          <a:p>
            <a:pPr indent="0" marL="0">
              <a:buNone/>
            </a:pPr>
            <a:r>
              <a:rPr lang="en-US" sz="1400" dirty="0">
                <a:solidFill>
                  <a:schemeClr val="bg2"/>
                </a:solidFill>
              </a:rPr>
              <a:t>Average speed (mph)</a:t>
            </a:r>
            <a:endParaRPr lang="en-US" sz="1400" dirty="0"/>
          </a:p>
        </p:txBody>
      </p:sp>
      <p:sp>
        <p:nvSpPr>
          <p:cNvPr id="28" name="Row tint 443"/>
          <p:cNvSpPr/>
          <p:nvPr/>
        </p:nvSpPr>
        <p:spPr>
          <a:xfrm>
            <a:off x="777240" y="5788152"/>
            <a:ext cx="5943600" cy="420624"/>
          </a:xfrm>
          <a:prstGeom prst="rect">
            <a:avLst/>
          </a:prstGeom>
          <a:solidFill>
            <a:schemeClr val="accent2">
              <a:alpha val="10000"/>
            </a:schemeClr>
          </a:solidFill>
          <a:ln w="12700">
            <a:solidFill>
              <a:schemeClr val="accent2">
                <a:alpha val="0"/>
              </a:schemeClr>
            </a:solidFill>
            <a:prstDash val="solid"/>
          </a:ln>
        </p:spPr>
      </p:sp>
      <p:sp>
        <p:nvSpPr>
          <p:cNvPr id="29" name="Text 444"/>
          <p:cNvSpPr txBox="1"/>
          <p:nvPr/>
        </p:nvSpPr>
        <p:spPr>
          <a:xfrm>
            <a:off x="914400" y="5788152"/>
            <a:ext cx="2743200" cy="420624"/>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total_revenue</a:t>
            </a:r>
            <a:endParaRPr lang="en-US" sz="1500" dirty="0"/>
          </a:p>
        </p:txBody>
      </p:sp>
      <p:sp>
        <p:nvSpPr>
          <p:cNvPr id="30" name="Text 445"/>
          <p:cNvSpPr txBox="1"/>
          <p:nvPr/>
        </p:nvSpPr>
        <p:spPr>
          <a:xfrm>
            <a:off x="3794760" y="5788152"/>
            <a:ext cx="2834640" cy="420624"/>
          </a:xfrm>
          <a:prstGeom prst="rect">
            <a:avLst/>
          </a:prstGeom>
          <a:noFill/>
          <a:ln/>
        </p:spPr>
        <p:txBody>
          <a:bodyPr wrap="square" lIns="0" tIns="0" rIns="0" bIns="0" rtlCol="0" anchor="ctr"/>
          <a:lstStyle/>
          <a:p>
            <a:pPr indent="0" marL="0">
              <a:buNone/>
            </a:pPr>
            <a:r>
              <a:rPr lang="en-US" sz="1400" dirty="0">
                <a:solidFill>
                  <a:schemeClr val="bg2"/>
                </a:solidFill>
              </a:rPr>
              <a:t>Total revenue</a:t>
            </a:r>
            <a:endParaRPr lang="en-US" sz="1400" dirty="0"/>
          </a:p>
        </p:txBody>
      </p:sp>
      <p:sp>
        <p:nvSpPr>
          <p:cNvPr id="31" name="Text 446"/>
          <p:cNvSpPr txBox="1"/>
          <p:nvPr/>
        </p:nvSpPr>
        <p:spPr>
          <a:xfrm>
            <a:off x="7269480" y="160020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CLICKHOUSE?</a:t>
            </a:r>
            <a:endParaRPr lang="en-US" sz="1200" dirty="0"/>
          </a:p>
        </p:txBody>
      </p:sp>
      <p:sp>
        <p:nvSpPr>
          <p:cNvPr id="32" name="Card 447"/>
          <p:cNvSpPr/>
          <p:nvPr/>
        </p:nvSpPr>
        <p:spPr>
          <a:xfrm>
            <a:off x="7269480" y="2011680"/>
            <a:ext cx="4370832" cy="969264"/>
          </a:xfrm>
          <a:prstGeom prst="roundRect">
            <a:avLst>
              <a:gd name="adj" fmla="val 11321"/>
            </a:avLst>
          </a:prstGeom>
          <a:solidFill>
            <a:schemeClr val="tx2"/>
          </a:solidFill>
          <a:ln w="9525">
            <a:solidFill>
              <a:schemeClr val="accent2">
                <a:alpha val="45000"/>
              </a:schemeClr>
            </a:solidFill>
            <a:prstDash val="solid"/>
          </a:ln>
        </p:spPr>
      </p:sp>
      <p:sp>
        <p:nvSpPr>
          <p:cNvPr id="33" name="Icon circle 448"/>
          <p:cNvSpPr/>
          <p:nvPr/>
        </p:nvSpPr>
        <p:spPr>
          <a:xfrm>
            <a:off x="7452360" y="2203704"/>
            <a:ext cx="585216" cy="585216"/>
          </a:xfrm>
          <a:prstGeom prst="ellipse">
            <a:avLst/>
          </a:prstGeom>
          <a:solidFill>
            <a:schemeClr val="accent2">
              <a:alpha val="28000"/>
            </a:schemeClr>
          </a:solidFill>
          <a:ln w="9525">
            <a:solidFill>
              <a:schemeClr val="accent1">
                <a:alpha val="55000"/>
              </a:schemeClr>
            </a:solidFill>
            <a:prstDash val="solid"/>
          </a:ln>
        </p:spPr>
      </p:sp>
      <p:pic>
        <p:nvPicPr>
          <p:cNvPr id="34" name="Icon 449" descr="Fast analytical queries">    </p:cNvPr>
          <p:cNvPicPr>
            <a:picLocks noChangeAspect="1"/>
          </p:cNvPicPr>
          <p:nvPr/>
        </p:nvPicPr>
        <p:blipFill>
          <a:blip r:embed="rId2"/>
          <a:stretch>
            <a:fillRect/>
          </a:stretch>
        </p:blipFill>
        <p:spPr>
          <a:xfrm>
            <a:off x="7598664" y="2350008"/>
            <a:ext cx="292608" cy="292608"/>
          </a:xfrm>
          <a:prstGeom prst="rect">
            <a:avLst/>
          </a:prstGeom>
        </p:spPr>
      </p:pic>
      <p:sp>
        <p:nvSpPr>
          <p:cNvPr id="35" name="Text 450"/>
          <p:cNvSpPr txBox="1"/>
          <p:nvPr/>
        </p:nvSpPr>
        <p:spPr>
          <a:xfrm>
            <a:off x="8229600" y="2194560"/>
            <a:ext cx="3291840" cy="320040"/>
          </a:xfrm>
          <a:prstGeom prst="rect">
            <a:avLst/>
          </a:prstGeom>
          <a:noFill/>
          <a:ln/>
        </p:spPr>
        <p:txBody>
          <a:bodyPr wrap="square" lIns="0" tIns="0" rIns="0" bIns="0" rtlCol="0" anchor="t"/>
          <a:lstStyle/>
          <a:p>
            <a:pPr indent="0" marL="0">
              <a:buNone/>
            </a:pPr>
            <a:r>
              <a:rPr lang="en-US" sz="1700" b="1" dirty="0">
                <a:solidFill>
                  <a:schemeClr val="bg1"/>
                </a:solidFill>
              </a:rPr>
              <a:t>Fast analytical queries</a:t>
            </a:r>
            <a:endParaRPr lang="en-US" sz="1700" dirty="0"/>
          </a:p>
        </p:txBody>
      </p:sp>
      <p:sp>
        <p:nvSpPr>
          <p:cNvPr id="36" name="Text 451"/>
          <p:cNvSpPr txBox="1"/>
          <p:nvPr/>
        </p:nvSpPr>
        <p:spPr>
          <a:xfrm>
            <a:off x="8229600" y="2532888"/>
            <a:ext cx="3291840" cy="365760"/>
          </a:xfrm>
          <a:prstGeom prst="rect">
            <a:avLst/>
          </a:prstGeom>
          <a:noFill/>
          <a:ln/>
        </p:spPr>
        <p:txBody>
          <a:bodyPr wrap="square" lIns="0" tIns="0" rIns="0" bIns="0" rtlCol="0" anchor="t"/>
          <a:lstStyle/>
          <a:p>
            <a:pPr indent="0" marL="0">
              <a:buNone/>
            </a:pPr>
            <a:r>
              <a:rPr lang="en-US" sz="1400" dirty="0">
                <a:solidFill>
                  <a:schemeClr val="bg2"/>
                </a:solidFill>
              </a:rPr>
              <a:t>Efficient for dashboard queries</a:t>
            </a:r>
            <a:endParaRPr lang="en-US" sz="1400" dirty="0"/>
          </a:p>
        </p:txBody>
      </p:sp>
      <p:sp>
        <p:nvSpPr>
          <p:cNvPr id="37" name="Card 452"/>
          <p:cNvSpPr/>
          <p:nvPr/>
        </p:nvSpPr>
        <p:spPr>
          <a:xfrm>
            <a:off x="7269480" y="3090672"/>
            <a:ext cx="4370832" cy="969264"/>
          </a:xfrm>
          <a:prstGeom prst="roundRect">
            <a:avLst>
              <a:gd name="adj" fmla="val 11321"/>
            </a:avLst>
          </a:prstGeom>
          <a:solidFill>
            <a:schemeClr val="tx2"/>
          </a:solidFill>
          <a:ln w="9525">
            <a:solidFill>
              <a:schemeClr val="accent2">
                <a:alpha val="45000"/>
              </a:schemeClr>
            </a:solidFill>
            <a:prstDash val="solid"/>
          </a:ln>
        </p:spPr>
      </p:sp>
      <p:sp>
        <p:nvSpPr>
          <p:cNvPr id="38" name="Icon circle 453"/>
          <p:cNvSpPr/>
          <p:nvPr/>
        </p:nvSpPr>
        <p:spPr>
          <a:xfrm>
            <a:off x="7452360" y="3282696"/>
            <a:ext cx="585216" cy="585216"/>
          </a:xfrm>
          <a:prstGeom prst="ellipse">
            <a:avLst/>
          </a:prstGeom>
          <a:solidFill>
            <a:schemeClr val="accent2">
              <a:alpha val="28000"/>
            </a:schemeClr>
          </a:solidFill>
          <a:ln w="9525">
            <a:solidFill>
              <a:schemeClr val="accent1">
                <a:alpha val="55000"/>
              </a:schemeClr>
            </a:solidFill>
            <a:prstDash val="solid"/>
          </a:ln>
        </p:spPr>
      </p:sp>
      <p:pic>
        <p:nvPicPr>
          <p:cNvPr id="39" name="Icon 454" descr="Aggregation performance">    </p:cNvPr>
          <p:cNvPicPr>
            <a:picLocks noChangeAspect="1"/>
          </p:cNvPicPr>
          <p:nvPr/>
        </p:nvPicPr>
        <p:blipFill>
          <a:blip r:embed="rId3"/>
          <a:stretch>
            <a:fillRect/>
          </a:stretch>
        </p:blipFill>
        <p:spPr>
          <a:xfrm>
            <a:off x="7598664" y="3429000"/>
            <a:ext cx="292608" cy="292608"/>
          </a:xfrm>
          <a:prstGeom prst="rect">
            <a:avLst/>
          </a:prstGeom>
        </p:spPr>
      </p:pic>
      <p:sp>
        <p:nvSpPr>
          <p:cNvPr id="40" name="Text 455"/>
          <p:cNvSpPr txBox="1"/>
          <p:nvPr/>
        </p:nvSpPr>
        <p:spPr>
          <a:xfrm>
            <a:off x="8229600" y="3273552"/>
            <a:ext cx="3291840" cy="320040"/>
          </a:xfrm>
          <a:prstGeom prst="rect">
            <a:avLst/>
          </a:prstGeom>
          <a:noFill/>
          <a:ln/>
        </p:spPr>
        <p:txBody>
          <a:bodyPr wrap="square" lIns="0" tIns="0" rIns="0" bIns="0" rtlCol="0" anchor="t"/>
          <a:lstStyle/>
          <a:p>
            <a:pPr indent="0" marL="0">
              <a:buNone/>
            </a:pPr>
            <a:r>
              <a:rPr lang="en-US" sz="1700" b="1" dirty="0">
                <a:solidFill>
                  <a:schemeClr val="bg1"/>
                </a:solidFill>
              </a:rPr>
              <a:t>Aggregation performance</a:t>
            </a:r>
            <a:endParaRPr lang="en-US" sz="1700" dirty="0"/>
          </a:p>
        </p:txBody>
      </p:sp>
      <p:sp>
        <p:nvSpPr>
          <p:cNvPr id="41" name="Text 456"/>
          <p:cNvSpPr txBox="1"/>
          <p:nvPr/>
        </p:nvSpPr>
        <p:spPr>
          <a:xfrm>
            <a:off x="8229600" y="3611880"/>
            <a:ext cx="3291840" cy="365760"/>
          </a:xfrm>
          <a:prstGeom prst="rect">
            <a:avLst/>
          </a:prstGeom>
          <a:noFill/>
          <a:ln/>
        </p:spPr>
        <p:txBody>
          <a:bodyPr wrap="square" lIns="0" tIns="0" rIns="0" bIns="0" rtlCol="0" anchor="t"/>
          <a:lstStyle/>
          <a:p>
            <a:pPr indent="0" marL="0">
              <a:buNone/>
            </a:pPr>
            <a:r>
              <a:rPr lang="en-US" sz="1400" dirty="0">
                <a:solidFill>
                  <a:schemeClr val="bg2"/>
                </a:solidFill>
              </a:rPr>
              <a:t>Very fast aggregations over large tables</a:t>
            </a:r>
            <a:endParaRPr lang="en-US" sz="1400" dirty="0"/>
          </a:p>
        </p:txBody>
      </p:sp>
      <p:sp>
        <p:nvSpPr>
          <p:cNvPr id="42" name="Card 457"/>
          <p:cNvSpPr/>
          <p:nvPr/>
        </p:nvSpPr>
        <p:spPr>
          <a:xfrm>
            <a:off x="7269480" y="4169664"/>
            <a:ext cx="4370832" cy="969264"/>
          </a:xfrm>
          <a:prstGeom prst="roundRect">
            <a:avLst>
              <a:gd name="adj" fmla="val 11321"/>
            </a:avLst>
          </a:prstGeom>
          <a:solidFill>
            <a:schemeClr val="tx2"/>
          </a:solidFill>
          <a:ln w="9525">
            <a:solidFill>
              <a:schemeClr val="accent2">
                <a:alpha val="45000"/>
              </a:schemeClr>
            </a:solidFill>
            <a:prstDash val="solid"/>
          </a:ln>
        </p:spPr>
      </p:sp>
      <p:sp>
        <p:nvSpPr>
          <p:cNvPr id="43" name="Icon circle 458"/>
          <p:cNvSpPr/>
          <p:nvPr/>
        </p:nvSpPr>
        <p:spPr>
          <a:xfrm>
            <a:off x="7452360" y="4361688"/>
            <a:ext cx="585216" cy="585216"/>
          </a:xfrm>
          <a:prstGeom prst="ellipse">
            <a:avLst/>
          </a:prstGeom>
          <a:solidFill>
            <a:schemeClr val="accent2">
              <a:alpha val="28000"/>
            </a:schemeClr>
          </a:solidFill>
          <a:ln w="9525">
            <a:solidFill>
              <a:schemeClr val="accent1">
                <a:alpha val="55000"/>
              </a:schemeClr>
            </a:solidFill>
            <a:prstDash val="solid"/>
          </a:ln>
        </p:spPr>
      </p:sp>
      <p:pic>
        <p:nvPicPr>
          <p:cNvPr id="44" name="Icon 459" descr="Built for OLAP workloads">    </p:cNvPr>
          <p:cNvPicPr>
            <a:picLocks noChangeAspect="1"/>
          </p:cNvPicPr>
          <p:nvPr/>
        </p:nvPicPr>
        <p:blipFill>
          <a:blip r:embed="rId4"/>
          <a:stretch>
            <a:fillRect/>
          </a:stretch>
        </p:blipFill>
        <p:spPr>
          <a:xfrm>
            <a:off x="7598664" y="4507992"/>
            <a:ext cx="292608" cy="292608"/>
          </a:xfrm>
          <a:prstGeom prst="rect">
            <a:avLst/>
          </a:prstGeom>
        </p:spPr>
      </p:pic>
      <p:sp>
        <p:nvSpPr>
          <p:cNvPr id="45" name="Text 460"/>
          <p:cNvSpPr txBox="1"/>
          <p:nvPr/>
        </p:nvSpPr>
        <p:spPr>
          <a:xfrm>
            <a:off x="8229600" y="4352544"/>
            <a:ext cx="3291840" cy="320040"/>
          </a:xfrm>
          <a:prstGeom prst="rect">
            <a:avLst/>
          </a:prstGeom>
          <a:noFill/>
          <a:ln/>
        </p:spPr>
        <p:txBody>
          <a:bodyPr wrap="square" lIns="0" tIns="0" rIns="0" bIns="0" rtlCol="0" anchor="t"/>
          <a:lstStyle/>
          <a:p>
            <a:pPr indent="0" marL="0">
              <a:buNone/>
            </a:pPr>
            <a:r>
              <a:rPr lang="en-US" sz="1700" b="1" dirty="0">
                <a:solidFill>
                  <a:schemeClr val="bg1"/>
                </a:solidFill>
              </a:rPr>
              <a:t>Built for OLAP workloads</a:t>
            </a:r>
            <a:endParaRPr lang="en-US" sz="1700" dirty="0"/>
          </a:p>
        </p:txBody>
      </p:sp>
      <p:sp>
        <p:nvSpPr>
          <p:cNvPr id="46" name="Text 461"/>
          <p:cNvSpPr txBox="1"/>
          <p:nvPr/>
        </p:nvSpPr>
        <p:spPr>
          <a:xfrm>
            <a:off x="8229600" y="4690872"/>
            <a:ext cx="3291840" cy="365760"/>
          </a:xfrm>
          <a:prstGeom prst="rect">
            <a:avLst/>
          </a:prstGeom>
          <a:noFill/>
          <a:ln/>
        </p:spPr>
        <p:txBody>
          <a:bodyPr wrap="square" lIns="0" tIns="0" rIns="0" bIns="0" rtlCol="0" anchor="t"/>
          <a:lstStyle/>
          <a:p>
            <a:pPr indent="0" marL="0">
              <a:buNone/>
            </a:pPr>
            <a:r>
              <a:rPr lang="en-US" sz="1400" dirty="0">
                <a:solidFill>
                  <a:schemeClr val="bg2"/>
                </a:solidFill>
              </a:rPr>
              <a:t>Optimized for analytical, read-heavy queries</a:t>
            </a:r>
            <a:endParaRPr lang="en-US" sz="1400" dirty="0"/>
          </a:p>
        </p:txBody>
      </p:sp>
      <p:sp>
        <p:nvSpPr>
          <p:cNvPr id="47" name="Card 462"/>
          <p:cNvSpPr/>
          <p:nvPr/>
        </p:nvSpPr>
        <p:spPr>
          <a:xfrm>
            <a:off x="7269480" y="5248656"/>
            <a:ext cx="4370832" cy="969264"/>
          </a:xfrm>
          <a:prstGeom prst="roundRect">
            <a:avLst>
              <a:gd name="adj" fmla="val 11321"/>
            </a:avLst>
          </a:prstGeom>
          <a:solidFill>
            <a:schemeClr val="tx2"/>
          </a:solidFill>
          <a:ln w="9525">
            <a:solidFill>
              <a:schemeClr val="accent2">
                <a:alpha val="45000"/>
              </a:schemeClr>
            </a:solidFill>
            <a:prstDash val="solid"/>
          </a:ln>
        </p:spPr>
      </p:sp>
      <p:sp>
        <p:nvSpPr>
          <p:cNvPr id="48" name="Icon circle 463"/>
          <p:cNvSpPr/>
          <p:nvPr/>
        </p:nvSpPr>
        <p:spPr>
          <a:xfrm>
            <a:off x="7452360" y="5440680"/>
            <a:ext cx="585216" cy="585216"/>
          </a:xfrm>
          <a:prstGeom prst="ellipse">
            <a:avLst/>
          </a:prstGeom>
          <a:solidFill>
            <a:schemeClr val="accent2">
              <a:alpha val="28000"/>
            </a:schemeClr>
          </a:solidFill>
          <a:ln w="9525">
            <a:solidFill>
              <a:schemeClr val="accent1">
                <a:alpha val="55000"/>
              </a:schemeClr>
            </a:solidFill>
            <a:prstDash val="solid"/>
          </a:ln>
        </p:spPr>
      </p:sp>
      <p:pic>
        <p:nvPicPr>
          <p:cNvPr id="49" name="Icon 464" descr="Dashboard backend">    </p:cNvPr>
          <p:cNvPicPr>
            <a:picLocks noChangeAspect="1"/>
          </p:cNvPicPr>
          <p:nvPr/>
        </p:nvPicPr>
        <p:blipFill>
          <a:blip r:embed="rId5"/>
          <a:stretch>
            <a:fillRect/>
          </a:stretch>
        </p:blipFill>
        <p:spPr>
          <a:xfrm>
            <a:off x="7598664" y="5586984"/>
            <a:ext cx="292608" cy="292608"/>
          </a:xfrm>
          <a:prstGeom prst="rect">
            <a:avLst/>
          </a:prstGeom>
        </p:spPr>
      </p:pic>
      <p:sp>
        <p:nvSpPr>
          <p:cNvPr id="50" name="Text 465"/>
          <p:cNvSpPr txBox="1"/>
          <p:nvPr/>
        </p:nvSpPr>
        <p:spPr>
          <a:xfrm>
            <a:off x="8229600" y="5431536"/>
            <a:ext cx="3291840" cy="320040"/>
          </a:xfrm>
          <a:prstGeom prst="rect">
            <a:avLst/>
          </a:prstGeom>
          <a:noFill/>
          <a:ln/>
        </p:spPr>
        <p:txBody>
          <a:bodyPr wrap="square" lIns="0" tIns="0" rIns="0" bIns="0" rtlCol="0" anchor="t"/>
          <a:lstStyle/>
          <a:p>
            <a:pPr indent="0" marL="0">
              <a:buNone/>
            </a:pPr>
            <a:r>
              <a:rPr lang="en-US" sz="1700" b="1" dirty="0">
                <a:solidFill>
                  <a:schemeClr val="bg1"/>
                </a:solidFill>
              </a:rPr>
              <a:t>Dashboard backend</a:t>
            </a:r>
            <a:endParaRPr lang="en-US" sz="1700" dirty="0"/>
          </a:p>
        </p:txBody>
      </p:sp>
      <p:sp>
        <p:nvSpPr>
          <p:cNvPr id="51" name="Text 466"/>
          <p:cNvSpPr txBox="1"/>
          <p:nvPr/>
        </p:nvSpPr>
        <p:spPr>
          <a:xfrm>
            <a:off x="8229600" y="5769864"/>
            <a:ext cx="3291840" cy="365760"/>
          </a:xfrm>
          <a:prstGeom prst="rect">
            <a:avLst/>
          </a:prstGeom>
          <a:noFill/>
          <a:ln/>
        </p:spPr>
        <p:txBody>
          <a:bodyPr wrap="square" lIns="0" tIns="0" rIns="0" bIns="0" rtlCol="0" anchor="t"/>
          <a:lstStyle/>
          <a:p>
            <a:pPr indent="0" marL="0">
              <a:buNone/>
            </a:pPr>
            <a:r>
              <a:rPr lang="en-US" sz="1400" dirty="0">
                <a:solidFill>
                  <a:schemeClr val="bg2"/>
                </a:solidFill>
              </a:rPr>
              <a:t>Powers every Superset chart</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67"/>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DATA ENRICHMENT</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Taxi Zone Lookup</a:t>
            </a:r>
            <a:endParaRPr lang="en-US" sz="3600" dirty="0"/>
          </a:p>
        </p:txBody>
      </p:sp>
      <p:sp>
        <p:nvSpPr>
          <p:cNvPr id="4" name="Card 468"/>
          <p:cNvSpPr/>
          <p:nvPr/>
        </p:nvSpPr>
        <p:spPr>
          <a:xfrm>
            <a:off x="548640" y="1508760"/>
            <a:ext cx="2926080" cy="2011680"/>
          </a:xfrm>
          <a:prstGeom prst="roundRect">
            <a:avLst>
              <a:gd name="adj" fmla="val 5455"/>
            </a:avLst>
          </a:prstGeom>
          <a:solidFill>
            <a:schemeClr val="tx2"/>
          </a:solidFill>
          <a:ln w="9525">
            <a:solidFill>
              <a:schemeClr val="accent2">
                <a:alpha val="45000"/>
              </a:schemeClr>
            </a:solidFill>
            <a:prstDash val="solid"/>
          </a:ln>
        </p:spPr>
      </p:sp>
      <p:sp>
        <p:nvSpPr>
          <p:cNvPr id="5" name="Text 469"/>
          <p:cNvSpPr txBox="1"/>
          <p:nvPr/>
        </p:nvSpPr>
        <p:spPr>
          <a:xfrm>
            <a:off x="548640" y="1691640"/>
            <a:ext cx="2926080" cy="274320"/>
          </a:xfrm>
          <a:prstGeom prst="rect">
            <a:avLst/>
          </a:prstGeom>
          <a:noFill/>
          <a:ln/>
        </p:spPr>
        <p:txBody>
          <a:bodyPr wrap="square" lIns="0" tIns="0" rIns="0" bIns="0" rtlCol="0" anchor="t"/>
          <a:lstStyle/>
          <a:p>
            <a:pPr algn="ctr" indent="0" marL="0">
              <a:buNone/>
            </a:pPr>
            <a:r>
              <a:rPr lang="en-US" sz="1200" b="1" spc="300" kern="0" dirty="0">
                <a:solidFill>
                  <a:schemeClr val="bg2"/>
                </a:solidFill>
              </a:rPr>
              <a:t>BEFORE</a:t>
            </a:r>
            <a:endParaRPr lang="en-US" sz="1200" dirty="0"/>
          </a:p>
        </p:txBody>
      </p:sp>
      <p:sp>
        <p:nvSpPr>
          <p:cNvPr id="6" name="Text 470"/>
          <p:cNvSpPr txBox="1"/>
          <p:nvPr/>
        </p:nvSpPr>
        <p:spPr>
          <a:xfrm>
            <a:off x="548640" y="2103120"/>
            <a:ext cx="2926080" cy="731520"/>
          </a:xfrm>
          <a:prstGeom prst="rect">
            <a:avLst/>
          </a:prstGeom>
          <a:noFill/>
          <a:ln/>
        </p:spPr>
        <p:txBody>
          <a:bodyPr wrap="square" lIns="0" tIns="0" rIns="0" bIns="0" rtlCol="0" anchor="ctr"/>
          <a:lstStyle/>
          <a:p>
            <a:pPr algn="ctr" indent="0" marL="0">
              <a:buNone/>
            </a:pPr>
            <a:r>
              <a:rPr lang="en-US" sz="3600" b="1" dirty="0">
                <a:solidFill>
                  <a:schemeClr val="bg2"/>
                </a:solidFill>
              </a:rPr>
              <a:t>Zone 132</a:t>
            </a:r>
            <a:endParaRPr lang="en-US" sz="3600" dirty="0"/>
          </a:p>
        </p:txBody>
      </p:sp>
      <p:sp>
        <p:nvSpPr>
          <p:cNvPr id="7" name="Text 471"/>
          <p:cNvSpPr txBox="1"/>
          <p:nvPr/>
        </p:nvSpPr>
        <p:spPr>
          <a:xfrm>
            <a:off x="548640" y="2926080"/>
            <a:ext cx="2926080" cy="274320"/>
          </a:xfrm>
          <a:prstGeom prst="rect">
            <a:avLst/>
          </a:prstGeom>
          <a:noFill/>
          <a:ln/>
        </p:spPr>
        <p:txBody>
          <a:bodyPr wrap="square" lIns="0" tIns="0" rIns="0" bIns="0" rtlCol="0" anchor="t"/>
          <a:lstStyle/>
          <a:p>
            <a:pPr algn="ctr" indent="0" marL="0">
              <a:buNone/>
            </a:pPr>
            <a:r>
              <a:rPr lang="en-US" sz="1400" dirty="0">
                <a:solidFill>
                  <a:schemeClr val="bg2"/>
                </a:solidFill>
              </a:rPr>
              <a:t>Numeric LocationID</a:t>
            </a:r>
            <a:endParaRPr lang="en-US" sz="1400" dirty="0"/>
          </a:p>
        </p:txBody>
      </p:sp>
      <p:sp>
        <p:nvSpPr>
          <p:cNvPr id="8" name="Connector 472"/>
          <p:cNvSpPr/>
          <p:nvPr/>
        </p:nvSpPr>
        <p:spPr>
          <a:xfrm>
            <a:off x="3566160" y="2514600"/>
            <a:ext cx="594360" cy="0"/>
          </a:xfrm>
          <a:prstGeom prst="line">
            <a:avLst/>
          </a:prstGeom>
          <a:noFill/>
          <a:ln w="38100">
            <a:solidFill>
              <a:schemeClr val="accent1"/>
            </a:solidFill>
            <a:prstDash val="solid"/>
            <a:tailEnd type="triangle"/>
          </a:ln>
        </p:spPr>
      </p:sp>
      <p:sp>
        <p:nvSpPr>
          <p:cNvPr id="9" name="Card 473"/>
          <p:cNvSpPr/>
          <p:nvPr/>
        </p:nvSpPr>
        <p:spPr>
          <a:xfrm>
            <a:off x="4251960" y="1508760"/>
            <a:ext cx="2926080" cy="2011680"/>
          </a:xfrm>
          <a:prstGeom prst="roundRect">
            <a:avLst>
              <a:gd name="adj" fmla="val 5455"/>
            </a:avLst>
          </a:prstGeom>
          <a:solidFill>
            <a:schemeClr val="tx2"/>
          </a:solidFill>
          <a:ln w="9525">
            <a:solidFill>
              <a:schemeClr val="accent1">
                <a:alpha val="85000"/>
              </a:schemeClr>
            </a:solidFill>
            <a:prstDash val="solid"/>
          </a:ln>
        </p:spPr>
      </p:sp>
      <p:sp>
        <p:nvSpPr>
          <p:cNvPr id="10" name="Text 474"/>
          <p:cNvSpPr txBox="1"/>
          <p:nvPr/>
        </p:nvSpPr>
        <p:spPr>
          <a:xfrm>
            <a:off x="4251960" y="1691640"/>
            <a:ext cx="2926080"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AFTER</a:t>
            </a:r>
            <a:endParaRPr lang="en-US" sz="1200" dirty="0"/>
          </a:p>
        </p:txBody>
      </p:sp>
      <p:sp>
        <p:nvSpPr>
          <p:cNvPr id="11" name="Text 475"/>
          <p:cNvSpPr txBox="1"/>
          <p:nvPr/>
        </p:nvSpPr>
        <p:spPr>
          <a:xfrm>
            <a:off x="4251960" y="2103120"/>
            <a:ext cx="2926080" cy="731520"/>
          </a:xfrm>
          <a:prstGeom prst="rect">
            <a:avLst/>
          </a:prstGeom>
          <a:noFill/>
          <a:ln/>
        </p:spPr>
        <p:txBody>
          <a:bodyPr wrap="square" lIns="0" tIns="0" rIns="0" bIns="0" rtlCol="0" anchor="ctr"/>
          <a:lstStyle/>
          <a:p>
            <a:pPr algn="ctr" indent="0" marL="0">
              <a:buNone/>
            </a:pPr>
            <a:r>
              <a:rPr lang="en-US" sz="3600" b="1" dirty="0">
                <a:solidFill>
                  <a:schemeClr val="bg1"/>
                </a:solidFill>
              </a:rPr>
              <a:t>JFK Airport</a:t>
            </a:r>
            <a:endParaRPr lang="en-US" sz="3600" dirty="0"/>
          </a:p>
        </p:txBody>
      </p:sp>
      <p:sp>
        <p:nvSpPr>
          <p:cNvPr id="12" name="Text 476"/>
          <p:cNvSpPr txBox="1"/>
          <p:nvPr/>
        </p:nvSpPr>
        <p:spPr>
          <a:xfrm>
            <a:off x="4251960" y="2926080"/>
            <a:ext cx="2926080" cy="274320"/>
          </a:xfrm>
          <a:prstGeom prst="rect">
            <a:avLst/>
          </a:prstGeom>
          <a:noFill/>
          <a:ln/>
        </p:spPr>
        <p:txBody>
          <a:bodyPr wrap="square" lIns="0" tIns="0" rIns="0" bIns="0" rtlCol="0" anchor="t"/>
          <a:lstStyle/>
          <a:p>
            <a:pPr algn="ctr" indent="0" marL="0">
              <a:buNone/>
            </a:pPr>
            <a:r>
              <a:rPr lang="en-US" sz="1400" dirty="0">
                <a:solidFill>
                  <a:schemeClr val="accent1"/>
                </a:solidFill>
              </a:rPr>
              <a:t>Readable zone name</a:t>
            </a:r>
            <a:endParaRPr lang="en-US" sz="1400" dirty="0"/>
          </a:p>
        </p:txBody>
      </p:sp>
      <p:sp>
        <p:nvSpPr>
          <p:cNvPr id="13" name="Card 477"/>
          <p:cNvSpPr/>
          <p:nvPr/>
        </p:nvSpPr>
        <p:spPr>
          <a:xfrm>
            <a:off x="548640" y="3794760"/>
            <a:ext cx="6629400" cy="2468880"/>
          </a:xfrm>
          <a:prstGeom prst="roundRect">
            <a:avLst>
              <a:gd name="adj" fmla="val 4444"/>
            </a:avLst>
          </a:prstGeom>
          <a:solidFill>
            <a:schemeClr val="tx2"/>
          </a:solidFill>
          <a:ln w="9525">
            <a:solidFill>
              <a:schemeClr val="accent2">
                <a:alpha val="45000"/>
              </a:schemeClr>
            </a:solidFill>
            <a:prstDash val="solid"/>
          </a:ln>
        </p:spPr>
      </p:sp>
      <p:sp>
        <p:nvSpPr>
          <p:cNvPr id="14" name="Icon circle 478"/>
          <p:cNvSpPr/>
          <p:nvPr/>
        </p:nvSpPr>
        <p:spPr>
          <a:xfrm>
            <a:off x="822960" y="3977640"/>
            <a:ext cx="548640" cy="548640"/>
          </a:xfrm>
          <a:prstGeom prst="ellipse">
            <a:avLst/>
          </a:prstGeom>
          <a:solidFill>
            <a:schemeClr val="accent2">
              <a:alpha val="28000"/>
            </a:schemeClr>
          </a:solidFill>
          <a:ln w="9525">
            <a:solidFill>
              <a:schemeClr val="accent1">
                <a:alpha val="55000"/>
              </a:schemeClr>
            </a:solidFill>
            <a:prstDash val="solid"/>
          </a:ln>
        </p:spPr>
      </p:sp>
      <p:pic>
        <p:nvPicPr>
          <p:cNvPr id="15" name="Icon 479" descr="CSV file">    </p:cNvPr>
          <p:cNvPicPr>
            <a:picLocks noChangeAspect="1"/>
          </p:cNvPicPr>
          <p:nvPr/>
        </p:nvPicPr>
        <p:blipFill>
          <a:blip r:embed="rId1"/>
          <a:stretch>
            <a:fillRect/>
          </a:stretch>
        </p:blipFill>
        <p:spPr>
          <a:xfrm>
            <a:off x="960120" y="4114800"/>
            <a:ext cx="274320" cy="274320"/>
          </a:xfrm>
          <a:prstGeom prst="rect">
            <a:avLst/>
          </a:prstGeom>
        </p:spPr>
      </p:pic>
      <p:sp>
        <p:nvSpPr>
          <p:cNvPr id="16" name="Text 480"/>
          <p:cNvSpPr txBox="1"/>
          <p:nvPr/>
        </p:nvSpPr>
        <p:spPr>
          <a:xfrm>
            <a:off x="1554480" y="3977640"/>
            <a:ext cx="5029200" cy="54864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taxi_zone_lookup.csv</a:t>
            </a:r>
            <a:endParaRPr lang="en-US" sz="2000" dirty="0"/>
          </a:p>
        </p:txBody>
      </p:sp>
      <p:sp>
        <p:nvSpPr>
          <p:cNvPr id="17" name="Table header 481"/>
          <p:cNvSpPr/>
          <p:nvPr/>
        </p:nvSpPr>
        <p:spPr>
          <a:xfrm>
            <a:off x="822960" y="4754880"/>
            <a:ext cx="6080760" cy="411480"/>
          </a:xfrm>
          <a:prstGeom prst="rect">
            <a:avLst/>
          </a:prstGeom>
          <a:solidFill>
            <a:schemeClr val="accent2">
              <a:alpha val="25000"/>
            </a:schemeClr>
          </a:solidFill>
          <a:ln w="12700">
            <a:solidFill>
              <a:schemeClr val="accent2">
                <a:alpha val="0"/>
              </a:schemeClr>
            </a:solidFill>
            <a:prstDash val="solid"/>
          </a:ln>
        </p:spPr>
      </p:sp>
      <p:sp>
        <p:nvSpPr>
          <p:cNvPr id="18" name="Text 482"/>
          <p:cNvSpPr txBox="1"/>
          <p:nvPr/>
        </p:nvSpPr>
        <p:spPr>
          <a:xfrm>
            <a:off x="960120" y="4754880"/>
            <a:ext cx="2286000" cy="411480"/>
          </a:xfrm>
          <a:prstGeom prst="rect">
            <a:avLst/>
          </a:prstGeom>
          <a:noFill/>
          <a:ln/>
        </p:spPr>
        <p:txBody>
          <a:bodyPr wrap="square" lIns="0" tIns="0" rIns="0" bIns="0" rtlCol="0" anchor="ctr"/>
          <a:lstStyle/>
          <a:p>
            <a:pPr indent="0" marL="0">
              <a:buNone/>
            </a:pPr>
            <a:r>
              <a:rPr lang="en-US" sz="1400" b="1" dirty="0">
                <a:solidFill>
                  <a:schemeClr val="accent1"/>
                </a:solidFill>
              </a:rPr>
              <a:t>LocationID</a:t>
            </a:r>
            <a:endParaRPr lang="en-US" sz="1400" dirty="0"/>
          </a:p>
        </p:txBody>
      </p:sp>
      <p:sp>
        <p:nvSpPr>
          <p:cNvPr id="19" name="Text 483"/>
          <p:cNvSpPr txBox="1"/>
          <p:nvPr/>
        </p:nvSpPr>
        <p:spPr>
          <a:xfrm>
            <a:off x="3566160" y="4754880"/>
            <a:ext cx="3200400" cy="411480"/>
          </a:xfrm>
          <a:prstGeom prst="rect">
            <a:avLst/>
          </a:prstGeom>
          <a:noFill/>
          <a:ln/>
        </p:spPr>
        <p:txBody>
          <a:bodyPr wrap="square" lIns="0" tIns="0" rIns="0" bIns="0" rtlCol="0" anchor="ctr"/>
          <a:lstStyle/>
          <a:p>
            <a:pPr indent="0" marL="0">
              <a:buNone/>
            </a:pPr>
            <a:r>
              <a:rPr lang="en-US" sz="1400" b="1" dirty="0">
                <a:solidFill>
                  <a:schemeClr val="accent1"/>
                </a:solidFill>
              </a:rPr>
              <a:t>Zone Name</a:t>
            </a:r>
            <a:endParaRPr lang="en-US" sz="1400" dirty="0"/>
          </a:p>
        </p:txBody>
      </p:sp>
      <p:sp>
        <p:nvSpPr>
          <p:cNvPr id="20" name="Text 484"/>
          <p:cNvSpPr txBox="1"/>
          <p:nvPr/>
        </p:nvSpPr>
        <p:spPr>
          <a:xfrm>
            <a:off x="960120" y="5212080"/>
            <a:ext cx="2286000" cy="41148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132</a:t>
            </a:r>
            <a:endParaRPr lang="en-US" sz="1500" dirty="0"/>
          </a:p>
        </p:txBody>
      </p:sp>
      <p:sp>
        <p:nvSpPr>
          <p:cNvPr id="21" name="Text 485"/>
          <p:cNvSpPr txBox="1"/>
          <p:nvPr/>
        </p:nvSpPr>
        <p:spPr>
          <a:xfrm>
            <a:off x="3566160" y="5212080"/>
            <a:ext cx="3200400" cy="411480"/>
          </a:xfrm>
          <a:prstGeom prst="rect">
            <a:avLst/>
          </a:prstGeom>
          <a:noFill/>
          <a:ln/>
        </p:spPr>
        <p:txBody>
          <a:bodyPr wrap="square" lIns="0" tIns="0" rIns="0" bIns="0" rtlCol="0" anchor="ctr"/>
          <a:lstStyle/>
          <a:p>
            <a:pPr indent="0" marL="0">
              <a:buNone/>
            </a:pPr>
            <a:r>
              <a:rPr lang="en-US" sz="1500" dirty="0">
                <a:solidFill>
                  <a:schemeClr val="bg1"/>
                </a:solidFill>
              </a:rPr>
              <a:t>JFK Airport</a:t>
            </a:r>
            <a:endParaRPr lang="en-US" sz="1500" dirty="0"/>
          </a:p>
        </p:txBody>
      </p:sp>
      <p:sp>
        <p:nvSpPr>
          <p:cNvPr id="22" name="Text 486"/>
          <p:cNvSpPr txBox="1"/>
          <p:nvPr/>
        </p:nvSpPr>
        <p:spPr>
          <a:xfrm>
            <a:off x="960120" y="5669280"/>
            <a:ext cx="2286000" cy="411480"/>
          </a:xfrm>
          <a:prstGeom prst="rect">
            <a:avLst/>
          </a:prstGeom>
          <a:noFill/>
          <a:ln/>
        </p:spPr>
        <p:txBody>
          <a:bodyPr wrap="square" lIns="0" tIns="0" rIns="0" bIns="0" rtlCol="0" anchor="ctr"/>
          <a:lstStyle/>
          <a:p>
            <a:pPr indent="0" marL="0">
              <a:buNone/>
            </a:pPr>
            <a:r>
              <a:rPr lang="en-US" sz="1500" dirty="0">
                <a:solidFill>
                  <a:schemeClr val="bg2"/>
                </a:solidFill>
              </a:rPr>
              <a:t>…</a:t>
            </a:r>
            <a:endParaRPr lang="en-US" sz="1500" dirty="0"/>
          </a:p>
        </p:txBody>
      </p:sp>
      <p:sp>
        <p:nvSpPr>
          <p:cNvPr id="23" name="Text 487"/>
          <p:cNvSpPr txBox="1"/>
          <p:nvPr/>
        </p:nvSpPr>
        <p:spPr>
          <a:xfrm>
            <a:off x="3566160" y="5669280"/>
            <a:ext cx="3200400" cy="411480"/>
          </a:xfrm>
          <a:prstGeom prst="rect">
            <a:avLst/>
          </a:prstGeom>
          <a:noFill/>
          <a:ln/>
        </p:spPr>
        <p:txBody>
          <a:bodyPr wrap="square" lIns="0" tIns="0" rIns="0" bIns="0" rtlCol="0" anchor="ctr"/>
          <a:lstStyle/>
          <a:p>
            <a:pPr indent="0" marL="0">
              <a:buNone/>
            </a:pPr>
            <a:r>
              <a:rPr lang="en-US" sz="1500" dirty="0">
                <a:solidFill>
                  <a:schemeClr val="bg2"/>
                </a:solidFill>
              </a:rPr>
              <a:t>…</a:t>
            </a:r>
            <a:endParaRPr lang="en-US" sz="1500" dirty="0"/>
          </a:p>
        </p:txBody>
      </p:sp>
      <p:sp>
        <p:nvSpPr>
          <p:cNvPr id="24" name="Text 488"/>
          <p:cNvSpPr txBox="1"/>
          <p:nvPr/>
        </p:nvSpPr>
        <p:spPr>
          <a:xfrm>
            <a:off x="7635240" y="160020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WHY WE USED IT</a:t>
            </a:r>
            <a:endParaRPr lang="en-US" sz="1200" dirty="0"/>
          </a:p>
        </p:txBody>
      </p:sp>
      <p:sp>
        <p:nvSpPr>
          <p:cNvPr id="25" name="Card 489"/>
          <p:cNvSpPr/>
          <p:nvPr/>
        </p:nvSpPr>
        <p:spPr>
          <a:xfrm>
            <a:off x="7635240" y="2011680"/>
            <a:ext cx="4005072" cy="1280160"/>
          </a:xfrm>
          <a:prstGeom prst="roundRect">
            <a:avLst>
              <a:gd name="adj" fmla="val 8571"/>
            </a:avLst>
          </a:prstGeom>
          <a:solidFill>
            <a:schemeClr val="tx2"/>
          </a:solidFill>
          <a:ln w="9525">
            <a:solidFill>
              <a:schemeClr val="accent2">
                <a:alpha val="45000"/>
              </a:schemeClr>
            </a:solidFill>
            <a:prstDash val="solid"/>
          </a:ln>
        </p:spPr>
      </p:sp>
      <p:sp>
        <p:nvSpPr>
          <p:cNvPr id="26" name="Icon circle 490"/>
          <p:cNvSpPr/>
          <p:nvPr/>
        </p:nvSpPr>
        <p:spPr>
          <a:xfrm>
            <a:off x="7818120" y="2148840"/>
            <a:ext cx="548640" cy="548640"/>
          </a:xfrm>
          <a:prstGeom prst="ellipse">
            <a:avLst/>
          </a:prstGeom>
          <a:solidFill>
            <a:schemeClr val="accent2">
              <a:alpha val="28000"/>
            </a:schemeClr>
          </a:solidFill>
          <a:ln w="9525">
            <a:solidFill>
              <a:schemeClr val="accent1">
                <a:alpha val="55000"/>
              </a:schemeClr>
            </a:solidFill>
            <a:prstDash val="solid"/>
          </a:ln>
        </p:spPr>
      </p:sp>
      <p:pic>
        <p:nvPicPr>
          <p:cNvPr id="27" name="Icon 491" descr="IDs are hard to interpret">    </p:cNvPr>
          <p:cNvPicPr>
            <a:picLocks noChangeAspect="1"/>
          </p:cNvPicPr>
          <p:nvPr/>
        </p:nvPicPr>
        <p:blipFill>
          <a:blip r:embed="rId2"/>
          <a:stretch>
            <a:fillRect/>
          </a:stretch>
        </p:blipFill>
        <p:spPr>
          <a:xfrm>
            <a:off x="7955280" y="2286000"/>
            <a:ext cx="274320" cy="274320"/>
          </a:xfrm>
          <a:prstGeom prst="rect">
            <a:avLst/>
          </a:prstGeom>
        </p:spPr>
      </p:pic>
      <p:sp>
        <p:nvSpPr>
          <p:cNvPr id="28" name="Text 492"/>
          <p:cNvSpPr txBox="1"/>
          <p:nvPr/>
        </p:nvSpPr>
        <p:spPr>
          <a:xfrm>
            <a:off x="8549640" y="2194560"/>
            <a:ext cx="2971800" cy="457200"/>
          </a:xfrm>
          <a:prstGeom prst="rect">
            <a:avLst/>
          </a:prstGeom>
          <a:noFill/>
          <a:ln/>
        </p:spPr>
        <p:txBody>
          <a:bodyPr wrap="square" lIns="0" tIns="0" rIns="0" bIns="0" rtlCol="0" anchor="t"/>
          <a:lstStyle/>
          <a:p>
            <a:pPr indent="0" marL="0">
              <a:buNone/>
            </a:pPr>
            <a:r>
              <a:rPr lang="en-US" sz="1600" b="1" dirty="0">
                <a:solidFill>
                  <a:schemeClr val="bg1"/>
                </a:solidFill>
              </a:rPr>
              <a:t>IDs are hard to interpret</a:t>
            </a:r>
            <a:endParaRPr lang="en-US" sz="1600" dirty="0"/>
          </a:p>
        </p:txBody>
      </p:sp>
      <p:sp>
        <p:nvSpPr>
          <p:cNvPr id="29" name="Text 493"/>
          <p:cNvSpPr txBox="1"/>
          <p:nvPr/>
        </p:nvSpPr>
        <p:spPr>
          <a:xfrm>
            <a:off x="7818120" y="2761488"/>
            <a:ext cx="3657600" cy="457200"/>
          </a:xfrm>
          <a:prstGeom prst="rect">
            <a:avLst/>
          </a:prstGeom>
          <a:noFill/>
          <a:ln/>
        </p:spPr>
        <p:txBody>
          <a:bodyPr wrap="square" lIns="0" tIns="0" rIns="0" bIns="0" rtlCol="0" anchor="t"/>
          <a:lstStyle/>
          <a:p>
            <a:pPr indent="0" marL="0">
              <a:buNone/>
            </a:pPr>
            <a:r>
              <a:rPr lang="en-US" sz="1400" dirty="0">
                <a:solidFill>
                  <a:schemeClr val="bg2"/>
                </a:solidFill>
              </a:rPr>
              <a:t>Numeric zone IDs say little in a dashboard</a:t>
            </a:r>
            <a:endParaRPr lang="en-US" sz="1400" dirty="0"/>
          </a:p>
        </p:txBody>
      </p:sp>
      <p:sp>
        <p:nvSpPr>
          <p:cNvPr id="30" name="Card 494"/>
          <p:cNvSpPr/>
          <p:nvPr/>
        </p:nvSpPr>
        <p:spPr>
          <a:xfrm>
            <a:off x="7635240" y="3429000"/>
            <a:ext cx="4005072" cy="1280160"/>
          </a:xfrm>
          <a:prstGeom prst="roundRect">
            <a:avLst>
              <a:gd name="adj" fmla="val 8571"/>
            </a:avLst>
          </a:prstGeom>
          <a:solidFill>
            <a:schemeClr val="tx2"/>
          </a:solidFill>
          <a:ln w="9525">
            <a:solidFill>
              <a:schemeClr val="accent2">
                <a:alpha val="45000"/>
              </a:schemeClr>
            </a:solidFill>
            <a:prstDash val="solid"/>
          </a:ln>
        </p:spPr>
      </p:sp>
      <p:sp>
        <p:nvSpPr>
          <p:cNvPr id="31" name="Icon circle 495"/>
          <p:cNvSpPr/>
          <p:nvPr/>
        </p:nvSpPr>
        <p:spPr>
          <a:xfrm>
            <a:off x="7818120" y="3566160"/>
            <a:ext cx="548640" cy="548640"/>
          </a:xfrm>
          <a:prstGeom prst="ellipse">
            <a:avLst/>
          </a:prstGeom>
          <a:solidFill>
            <a:schemeClr val="accent2">
              <a:alpha val="28000"/>
            </a:schemeClr>
          </a:solidFill>
          <a:ln w="9525">
            <a:solidFill>
              <a:schemeClr val="accent1">
                <a:alpha val="55000"/>
              </a:schemeClr>
            </a:solidFill>
            <a:prstDash val="solid"/>
          </a:ln>
        </p:spPr>
      </p:sp>
      <p:pic>
        <p:nvPicPr>
          <p:cNvPr id="32" name="Icon 496" descr="Readable dashboards">    </p:cNvPr>
          <p:cNvPicPr>
            <a:picLocks noChangeAspect="1"/>
          </p:cNvPicPr>
          <p:nvPr/>
        </p:nvPicPr>
        <p:blipFill>
          <a:blip r:embed="rId3"/>
          <a:stretch>
            <a:fillRect/>
          </a:stretch>
        </p:blipFill>
        <p:spPr>
          <a:xfrm>
            <a:off x="7955280" y="3703320"/>
            <a:ext cx="274320" cy="274320"/>
          </a:xfrm>
          <a:prstGeom prst="rect">
            <a:avLst/>
          </a:prstGeom>
        </p:spPr>
      </p:pic>
      <p:sp>
        <p:nvSpPr>
          <p:cNvPr id="33" name="Text 497"/>
          <p:cNvSpPr txBox="1"/>
          <p:nvPr/>
        </p:nvSpPr>
        <p:spPr>
          <a:xfrm>
            <a:off x="8549640" y="3611880"/>
            <a:ext cx="2971800" cy="457200"/>
          </a:xfrm>
          <a:prstGeom prst="rect">
            <a:avLst/>
          </a:prstGeom>
          <a:noFill/>
          <a:ln/>
        </p:spPr>
        <p:txBody>
          <a:bodyPr wrap="square" lIns="0" tIns="0" rIns="0" bIns="0" rtlCol="0" anchor="t"/>
          <a:lstStyle/>
          <a:p>
            <a:pPr indent="0" marL="0">
              <a:buNone/>
            </a:pPr>
            <a:r>
              <a:rPr lang="en-US" sz="1600" b="1" dirty="0">
                <a:solidFill>
                  <a:schemeClr val="bg1"/>
                </a:solidFill>
              </a:rPr>
              <a:t>Readable dashboards</a:t>
            </a:r>
            <a:endParaRPr lang="en-US" sz="1600" dirty="0"/>
          </a:p>
        </p:txBody>
      </p:sp>
      <p:sp>
        <p:nvSpPr>
          <p:cNvPr id="34" name="Text 498"/>
          <p:cNvSpPr txBox="1"/>
          <p:nvPr/>
        </p:nvSpPr>
        <p:spPr>
          <a:xfrm>
            <a:off x="7818120" y="4178808"/>
            <a:ext cx="3657600" cy="457200"/>
          </a:xfrm>
          <a:prstGeom prst="rect">
            <a:avLst/>
          </a:prstGeom>
          <a:noFill/>
          <a:ln/>
        </p:spPr>
        <p:txBody>
          <a:bodyPr wrap="square" lIns="0" tIns="0" rIns="0" bIns="0" rtlCol="0" anchor="t"/>
          <a:lstStyle/>
          <a:p>
            <a:pPr indent="0" marL="0">
              <a:buNone/>
            </a:pPr>
            <a:r>
              <a:rPr lang="en-US" sz="1400" dirty="0">
                <a:solidFill>
                  <a:schemeClr val="bg2"/>
                </a:solidFill>
              </a:rPr>
              <a:t>Zone names make every chart self-explanatory</a:t>
            </a:r>
            <a:endParaRPr lang="en-US" sz="1400" dirty="0"/>
          </a:p>
        </p:txBody>
      </p:sp>
      <p:sp>
        <p:nvSpPr>
          <p:cNvPr id="35" name="Card 499"/>
          <p:cNvSpPr/>
          <p:nvPr/>
        </p:nvSpPr>
        <p:spPr>
          <a:xfrm>
            <a:off x="7635240" y="4846320"/>
            <a:ext cx="4005072" cy="1280160"/>
          </a:xfrm>
          <a:prstGeom prst="roundRect">
            <a:avLst>
              <a:gd name="adj" fmla="val 8571"/>
            </a:avLst>
          </a:prstGeom>
          <a:solidFill>
            <a:schemeClr val="tx2"/>
          </a:solidFill>
          <a:ln w="9525">
            <a:solidFill>
              <a:schemeClr val="accent2">
                <a:alpha val="45000"/>
              </a:schemeClr>
            </a:solidFill>
            <a:prstDash val="solid"/>
          </a:ln>
        </p:spPr>
      </p:sp>
      <p:sp>
        <p:nvSpPr>
          <p:cNvPr id="36" name="Icon circle 500"/>
          <p:cNvSpPr/>
          <p:nvPr/>
        </p:nvSpPr>
        <p:spPr>
          <a:xfrm>
            <a:off x="7818120" y="4983480"/>
            <a:ext cx="548640" cy="548640"/>
          </a:xfrm>
          <a:prstGeom prst="ellipse">
            <a:avLst/>
          </a:prstGeom>
          <a:solidFill>
            <a:schemeClr val="accent2">
              <a:alpha val="28000"/>
            </a:schemeClr>
          </a:solidFill>
          <a:ln w="9525">
            <a:solidFill>
              <a:schemeClr val="accent1">
                <a:alpha val="55000"/>
              </a:schemeClr>
            </a:solidFill>
            <a:prstDash val="solid"/>
          </a:ln>
        </p:spPr>
      </p:sp>
      <p:pic>
        <p:nvPicPr>
          <p:cNvPr id="37" name="Icon 501" descr="Business interpretation">    </p:cNvPr>
          <p:cNvPicPr>
            <a:picLocks noChangeAspect="1"/>
          </p:cNvPicPr>
          <p:nvPr/>
        </p:nvPicPr>
        <p:blipFill>
          <a:blip r:embed="rId4"/>
          <a:stretch>
            <a:fillRect/>
          </a:stretch>
        </p:blipFill>
        <p:spPr>
          <a:xfrm>
            <a:off x="7955280" y="5120640"/>
            <a:ext cx="274320" cy="274320"/>
          </a:xfrm>
          <a:prstGeom prst="rect">
            <a:avLst/>
          </a:prstGeom>
        </p:spPr>
      </p:pic>
      <p:sp>
        <p:nvSpPr>
          <p:cNvPr id="38" name="Text 502"/>
          <p:cNvSpPr txBox="1"/>
          <p:nvPr/>
        </p:nvSpPr>
        <p:spPr>
          <a:xfrm>
            <a:off x="8549640" y="5029200"/>
            <a:ext cx="2971800" cy="457200"/>
          </a:xfrm>
          <a:prstGeom prst="rect">
            <a:avLst/>
          </a:prstGeom>
          <a:noFill/>
          <a:ln/>
        </p:spPr>
        <p:txBody>
          <a:bodyPr wrap="square" lIns="0" tIns="0" rIns="0" bIns="0" rtlCol="0" anchor="t"/>
          <a:lstStyle/>
          <a:p>
            <a:pPr indent="0" marL="0">
              <a:buNone/>
            </a:pPr>
            <a:r>
              <a:rPr lang="en-US" sz="1600" b="1" dirty="0">
                <a:solidFill>
                  <a:schemeClr val="bg1"/>
                </a:solidFill>
              </a:rPr>
              <a:t>Business interpretation</a:t>
            </a:r>
            <a:endParaRPr lang="en-US" sz="1600" dirty="0"/>
          </a:p>
        </p:txBody>
      </p:sp>
      <p:sp>
        <p:nvSpPr>
          <p:cNvPr id="39" name="Text 503"/>
          <p:cNvSpPr txBox="1"/>
          <p:nvPr/>
        </p:nvSpPr>
        <p:spPr>
          <a:xfrm>
            <a:off x="7818120" y="5596128"/>
            <a:ext cx="3657600" cy="457200"/>
          </a:xfrm>
          <a:prstGeom prst="rect">
            <a:avLst/>
          </a:prstGeom>
          <a:noFill/>
          <a:ln/>
        </p:spPr>
        <p:txBody>
          <a:bodyPr wrap="square" lIns="0" tIns="0" rIns="0" bIns="0" rtlCol="0" anchor="t"/>
          <a:lstStyle/>
          <a:p>
            <a:pPr indent="0" marL="0">
              <a:buNone/>
            </a:pPr>
            <a:r>
              <a:rPr lang="en-US" sz="1400" dirty="0">
                <a:solidFill>
                  <a:schemeClr val="bg2"/>
                </a:solidFill>
              </a:rPr>
              <a:t>Easier to see which zones drive trips and revenue</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04"/>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VISUALIZATION LAYER</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Superset Dashboard</a:t>
            </a:r>
            <a:endParaRPr lang="en-US" sz="3600" dirty="0"/>
          </a:p>
        </p:txBody>
      </p:sp>
      <p:pic>
        <p:nvPicPr>
          <p:cNvPr id="4" name="Dashboard screenshot" descr="Apache Superset dashboard: NYC Traffic Analytics with KPI cards and four charts">    </p:cNvPr>
          <p:cNvPicPr>
            <a:picLocks noChangeAspect="1"/>
          </p:cNvPicPr>
          <p:nvPr/>
        </p:nvPicPr>
        <p:blipFill>
          <a:blip r:embed="rId1"/>
          <a:stretch>
            <a:fillRect/>
          </a:stretch>
        </p:blipFill>
        <p:spPr>
          <a:xfrm>
            <a:off x="548640" y="1508760"/>
            <a:ext cx="5120640" cy="4568206"/>
          </a:xfrm>
          <a:prstGeom prst="rect">
            <a:avLst/>
          </a:prstGeom>
        </p:spPr>
      </p:pic>
      <p:sp>
        <p:nvSpPr>
          <p:cNvPr id="5" name="Text 505"/>
          <p:cNvSpPr txBox="1"/>
          <p:nvPr/>
        </p:nvSpPr>
        <p:spPr>
          <a:xfrm>
            <a:off x="548640" y="6163056"/>
            <a:ext cx="5120640" cy="274320"/>
          </a:xfrm>
          <a:prstGeom prst="rect">
            <a:avLst/>
          </a:prstGeom>
          <a:noFill/>
          <a:ln/>
        </p:spPr>
        <p:txBody>
          <a:bodyPr wrap="square" lIns="0" tIns="0" rIns="0" bIns="0" rtlCol="0" anchor="t"/>
          <a:lstStyle/>
          <a:p>
            <a:pPr indent="0" marL="0">
              <a:buNone/>
            </a:pPr>
            <a:r>
              <a:rPr lang="en-US" sz="1200" dirty="0">
                <a:solidFill>
                  <a:schemeClr val="bg2"/>
                </a:solidFill>
              </a:rPr>
              <a:t>Current results from our processed dataset, not universal NYC statistics.</a:t>
            </a:r>
            <a:endParaRPr lang="en-US" sz="1200" dirty="0"/>
          </a:p>
        </p:txBody>
      </p:sp>
      <p:sp>
        <p:nvSpPr>
          <p:cNvPr id="6" name="Text 506"/>
          <p:cNvSpPr txBox="1"/>
          <p:nvPr/>
        </p:nvSpPr>
        <p:spPr>
          <a:xfrm>
            <a:off x="6080760" y="1508760"/>
            <a:ext cx="54864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NYC TRAFFIC ANALYTICS · KPIs</a:t>
            </a:r>
            <a:endParaRPr lang="en-US" sz="1100" dirty="0"/>
          </a:p>
        </p:txBody>
      </p:sp>
      <p:sp>
        <p:nvSpPr>
          <p:cNvPr id="7" name="Card 507"/>
          <p:cNvSpPr/>
          <p:nvPr/>
        </p:nvSpPr>
        <p:spPr>
          <a:xfrm>
            <a:off x="6080760" y="1874520"/>
            <a:ext cx="2724912" cy="1097280"/>
          </a:xfrm>
          <a:prstGeom prst="roundRect">
            <a:avLst>
              <a:gd name="adj" fmla="val 10000"/>
            </a:avLst>
          </a:prstGeom>
          <a:solidFill>
            <a:schemeClr val="tx2"/>
          </a:solidFill>
          <a:ln w="9525">
            <a:solidFill>
              <a:schemeClr val="accent1">
                <a:alpha val="55000"/>
              </a:schemeClr>
            </a:solidFill>
            <a:prstDash val="solid"/>
          </a:ln>
        </p:spPr>
      </p:sp>
      <p:sp>
        <p:nvSpPr>
          <p:cNvPr id="8" name="Text 508"/>
          <p:cNvSpPr txBox="1"/>
          <p:nvPr/>
        </p:nvSpPr>
        <p:spPr>
          <a:xfrm>
            <a:off x="6263640" y="198424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≈147M</a:t>
            </a:r>
            <a:endParaRPr lang="en-US" sz="3200" dirty="0"/>
          </a:p>
        </p:txBody>
      </p:sp>
      <p:sp>
        <p:nvSpPr>
          <p:cNvPr id="9" name="Text 509"/>
          <p:cNvSpPr txBox="1"/>
          <p:nvPr/>
        </p:nvSpPr>
        <p:spPr>
          <a:xfrm>
            <a:off x="6263640" y="2606040"/>
            <a:ext cx="2377440" cy="274320"/>
          </a:xfrm>
          <a:prstGeom prst="rect">
            <a:avLst/>
          </a:prstGeom>
          <a:noFill/>
          <a:ln/>
        </p:spPr>
        <p:txBody>
          <a:bodyPr wrap="square" lIns="0" tIns="0" rIns="0" bIns="0" rtlCol="0" anchor="t"/>
          <a:lstStyle/>
          <a:p>
            <a:pPr indent="0" marL="0">
              <a:buNone/>
            </a:pPr>
            <a:r>
              <a:rPr lang="en-US" sz="1400" dirty="0">
                <a:solidFill>
                  <a:schemeClr val="bg2"/>
                </a:solidFill>
              </a:rPr>
              <a:t>Total Trips</a:t>
            </a:r>
            <a:endParaRPr lang="en-US" sz="1400" dirty="0"/>
          </a:p>
        </p:txBody>
      </p:sp>
      <p:sp>
        <p:nvSpPr>
          <p:cNvPr id="10" name="Card 510"/>
          <p:cNvSpPr/>
          <p:nvPr/>
        </p:nvSpPr>
        <p:spPr>
          <a:xfrm>
            <a:off x="8915400" y="1874520"/>
            <a:ext cx="2724912" cy="1097280"/>
          </a:xfrm>
          <a:prstGeom prst="roundRect">
            <a:avLst>
              <a:gd name="adj" fmla="val 10000"/>
            </a:avLst>
          </a:prstGeom>
          <a:solidFill>
            <a:schemeClr val="tx2"/>
          </a:solidFill>
          <a:ln w="9525">
            <a:solidFill>
              <a:schemeClr val="accent1">
                <a:alpha val="55000"/>
              </a:schemeClr>
            </a:solidFill>
            <a:prstDash val="solid"/>
          </a:ln>
        </p:spPr>
      </p:sp>
      <p:sp>
        <p:nvSpPr>
          <p:cNvPr id="11" name="Text 511"/>
          <p:cNvSpPr txBox="1"/>
          <p:nvPr/>
        </p:nvSpPr>
        <p:spPr>
          <a:xfrm>
            <a:off x="9098280" y="198424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≈4.01B</a:t>
            </a:r>
            <a:endParaRPr lang="en-US" sz="3200" dirty="0"/>
          </a:p>
        </p:txBody>
      </p:sp>
      <p:sp>
        <p:nvSpPr>
          <p:cNvPr id="12" name="Text 512"/>
          <p:cNvSpPr txBox="1"/>
          <p:nvPr/>
        </p:nvSpPr>
        <p:spPr>
          <a:xfrm>
            <a:off x="9098280" y="2606040"/>
            <a:ext cx="2377440" cy="274320"/>
          </a:xfrm>
          <a:prstGeom prst="rect">
            <a:avLst/>
          </a:prstGeom>
          <a:noFill/>
          <a:ln/>
        </p:spPr>
        <p:txBody>
          <a:bodyPr wrap="square" lIns="0" tIns="0" rIns="0" bIns="0" rtlCol="0" anchor="t"/>
          <a:lstStyle/>
          <a:p>
            <a:pPr indent="0" marL="0">
              <a:buNone/>
            </a:pPr>
            <a:r>
              <a:rPr lang="en-US" sz="1400" dirty="0">
                <a:solidFill>
                  <a:schemeClr val="bg2"/>
                </a:solidFill>
              </a:rPr>
              <a:t>Total Revenue</a:t>
            </a:r>
            <a:endParaRPr lang="en-US" sz="1400" dirty="0"/>
          </a:p>
        </p:txBody>
      </p:sp>
      <p:sp>
        <p:nvSpPr>
          <p:cNvPr id="13" name="Card 513"/>
          <p:cNvSpPr/>
          <p:nvPr/>
        </p:nvSpPr>
        <p:spPr>
          <a:xfrm>
            <a:off x="6080760" y="3108960"/>
            <a:ext cx="2724912" cy="1097280"/>
          </a:xfrm>
          <a:prstGeom prst="roundRect">
            <a:avLst>
              <a:gd name="adj" fmla="val 10000"/>
            </a:avLst>
          </a:prstGeom>
          <a:solidFill>
            <a:schemeClr val="tx2"/>
          </a:solidFill>
          <a:ln w="9525">
            <a:solidFill>
              <a:schemeClr val="accent1">
                <a:alpha val="55000"/>
              </a:schemeClr>
            </a:solidFill>
            <a:prstDash val="solid"/>
          </a:ln>
        </p:spPr>
      </p:sp>
      <p:sp>
        <p:nvSpPr>
          <p:cNvPr id="14" name="Text 514"/>
          <p:cNvSpPr txBox="1"/>
          <p:nvPr/>
        </p:nvSpPr>
        <p:spPr>
          <a:xfrm>
            <a:off x="6263640" y="321868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≈11.23</a:t>
            </a:r>
            <a:endParaRPr lang="en-US" sz="3200" dirty="0"/>
          </a:p>
        </p:txBody>
      </p:sp>
      <p:sp>
        <p:nvSpPr>
          <p:cNvPr id="15" name="Text 515"/>
          <p:cNvSpPr txBox="1"/>
          <p:nvPr/>
        </p:nvSpPr>
        <p:spPr>
          <a:xfrm>
            <a:off x="6263640" y="3840480"/>
            <a:ext cx="2377440" cy="274320"/>
          </a:xfrm>
          <a:prstGeom prst="rect">
            <a:avLst/>
          </a:prstGeom>
          <a:noFill/>
          <a:ln/>
        </p:spPr>
        <p:txBody>
          <a:bodyPr wrap="square" lIns="0" tIns="0" rIns="0" bIns="0" rtlCol="0" anchor="t"/>
          <a:lstStyle/>
          <a:p>
            <a:pPr indent="0" marL="0">
              <a:buNone/>
            </a:pPr>
            <a:r>
              <a:rPr lang="en-US" sz="1400" dirty="0">
                <a:solidFill>
                  <a:schemeClr val="bg2"/>
                </a:solidFill>
              </a:rPr>
              <a:t>Average Speed (mph)</a:t>
            </a:r>
            <a:endParaRPr lang="en-US" sz="1400" dirty="0"/>
          </a:p>
        </p:txBody>
      </p:sp>
      <p:sp>
        <p:nvSpPr>
          <p:cNvPr id="16" name="Card 516"/>
          <p:cNvSpPr/>
          <p:nvPr/>
        </p:nvSpPr>
        <p:spPr>
          <a:xfrm>
            <a:off x="8915400" y="3108960"/>
            <a:ext cx="2724912" cy="1097280"/>
          </a:xfrm>
          <a:prstGeom prst="roundRect">
            <a:avLst>
              <a:gd name="adj" fmla="val 10000"/>
            </a:avLst>
          </a:prstGeom>
          <a:solidFill>
            <a:schemeClr val="tx2"/>
          </a:solidFill>
          <a:ln w="9525">
            <a:solidFill>
              <a:schemeClr val="accent1">
                <a:alpha val="55000"/>
              </a:schemeClr>
            </a:solidFill>
            <a:prstDash val="solid"/>
          </a:ln>
        </p:spPr>
      </p:sp>
      <p:sp>
        <p:nvSpPr>
          <p:cNvPr id="17" name="Text 517"/>
          <p:cNvSpPr txBox="1"/>
          <p:nvPr/>
        </p:nvSpPr>
        <p:spPr>
          <a:xfrm>
            <a:off x="9098280" y="3218688"/>
            <a:ext cx="2377440" cy="594360"/>
          </a:xfrm>
          <a:prstGeom prst="rect">
            <a:avLst/>
          </a:prstGeom>
          <a:noFill/>
          <a:ln/>
        </p:spPr>
        <p:txBody>
          <a:bodyPr wrap="square" lIns="0" tIns="0" rIns="0" bIns="0" rtlCol="0" anchor="ctr"/>
          <a:lstStyle/>
          <a:p>
            <a:pPr indent="0" marL="0">
              <a:buNone/>
            </a:pPr>
            <a:r>
              <a:rPr lang="en-US" sz="3200" b="1" dirty="0">
                <a:solidFill>
                  <a:schemeClr val="accent1"/>
                </a:solidFill>
              </a:rPr>
              <a:t>≈16.57</a:t>
            </a:r>
            <a:endParaRPr lang="en-US" sz="3200" dirty="0"/>
          </a:p>
        </p:txBody>
      </p:sp>
      <p:sp>
        <p:nvSpPr>
          <p:cNvPr id="18" name="Text 518"/>
          <p:cNvSpPr txBox="1"/>
          <p:nvPr/>
        </p:nvSpPr>
        <p:spPr>
          <a:xfrm>
            <a:off x="9098280" y="3840480"/>
            <a:ext cx="2377440" cy="274320"/>
          </a:xfrm>
          <a:prstGeom prst="rect">
            <a:avLst/>
          </a:prstGeom>
          <a:noFill/>
          <a:ln/>
        </p:spPr>
        <p:txBody>
          <a:bodyPr wrap="square" lIns="0" tIns="0" rIns="0" bIns="0" rtlCol="0" anchor="t"/>
          <a:lstStyle/>
          <a:p>
            <a:pPr indent="0" marL="0">
              <a:buNone/>
            </a:pPr>
            <a:r>
              <a:rPr lang="en-US" sz="1400" dirty="0">
                <a:solidFill>
                  <a:schemeClr val="bg2"/>
                </a:solidFill>
              </a:rPr>
              <a:t>Avg Trip Duration (min)</a:t>
            </a:r>
            <a:endParaRPr lang="en-US" sz="1400" dirty="0"/>
          </a:p>
        </p:txBody>
      </p:sp>
      <p:sp>
        <p:nvSpPr>
          <p:cNvPr id="19" name="Card 519"/>
          <p:cNvSpPr/>
          <p:nvPr/>
        </p:nvSpPr>
        <p:spPr>
          <a:xfrm>
            <a:off x="6080760" y="4434840"/>
            <a:ext cx="3108960" cy="1828800"/>
          </a:xfrm>
          <a:prstGeom prst="roundRect">
            <a:avLst>
              <a:gd name="adj" fmla="val 6000"/>
            </a:avLst>
          </a:prstGeom>
          <a:solidFill>
            <a:schemeClr val="tx2"/>
          </a:solidFill>
          <a:ln w="9525">
            <a:solidFill>
              <a:schemeClr val="accent2">
                <a:alpha val="45000"/>
              </a:schemeClr>
            </a:solidFill>
            <a:prstDash val="solid"/>
          </a:ln>
        </p:spPr>
      </p:sp>
      <p:sp>
        <p:nvSpPr>
          <p:cNvPr id="20" name="Card 520"/>
          <p:cNvSpPr/>
          <p:nvPr/>
        </p:nvSpPr>
        <p:spPr>
          <a:xfrm>
            <a:off x="9326880" y="4434840"/>
            <a:ext cx="2313432" cy="1828800"/>
          </a:xfrm>
          <a:prstGeom prst="roundRect">
            <a:avLst>
              <a:gd name="adj" fmla="val 6000"/>
            </a:avLst>
          </a:prstGeom>
          <a:solidFill>
            <a:schemeClr val="tx2"/>
          </a:solidFill>
          <a:ln w="9525">
            <a:solidFill>
              <a:schemeClr val="accent2">
                <a:alpha val="45000"/>
              </a:schemeClr>
            </a:solidFill>
            <a:prstDash val="solid"/>
          </a:ln>
        </p:spPr>
      </p:sp>
      <p:sp>
        <p:nvSpPr>
          <p:cNvPr id="21" name="Text 521"/>
          <p:cNvSpPr txBox="1"/>
          <p:nvPr/>
        </p:nvSpPr>
        <p:spPr>
          <a:xfrm>
            <a:off x="6263640" y="4572000"/>
            <a:ext cx="18288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CHARTS</a:t>
            </a:r>
            <a:endParaRPr lang="en-US" sz="1100" dirty="0"/>
          </a:p>
        </p:txBody>
      </p:sp>
      <p:sp>
        <p:nvSpPr>
          <p:cNvPr id="22" name="Text 522"/>
          <p:cNvSpPr txBox="1"/>
          <p:nvPr/>
        </p:nvSpPr>
        <p:spPr>
          <a:xfrm>
            <a:off x="6263640" y="4846320"/>
            <a:ext cx="283464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bg1"/>
                </a:solidFill>
              </a:rPr>
              <a:t>Daily Trips Trend</a:t>
            </a:r>
            <a:endParaRPr lang="en-US" sz="1300" dirty="0"/>
          </a:p>
          <a:p>
            <a:pPr marL="342900" indent="-342900">
              <a:spcAft>
                <a:spcPts val="300"/>
              </a:spcAft>
              <a:buSzPct val="100000"/>
              <a:buChar char="•"/>
            </a:pPr>
            <a:r>
              <a:rPr lang="en-US" sz="1300" dirty="0">
                <a:solidFill>
                  <a:schemeClr val="bg1"/>
                </a:solidFill>
              </a:rPr>
              <a:t>Trips by Hour</a:t>
            </a:r>
            <a:endParaRPr lang="en-US" sz="1300" dirty="0"/>
          </a:p>
          <a:p>
            <a:pPr marL="342900" indent="-342900">
              <a:spcAft>
                <a:spcPts val="300"/>
              </a:spcAft>
              <a:buSzPct val="100000"/>
              <a:buChar char="•"/>
            </a:pPr>
            <a:r>
              <a:rPr lang="en-US" sz="1300" dirty="0">
                <a:solidFill>
                  <a:schemeClr val="bg1"/>
                </a:solidFill>
              </a:rPr>
              <a:t>Top 10 Pickup Zones by Trips</a:t>
            </a:r>
            <a:endParaRPr lang="en-US" sz="1300" dirty="0"/>
          </a:p>
          <a:p>
            <a:pPr marL="342900" indent="-342900">
              <a:spcAft>
                <a:spcPts val="300"/>
              </a:spcAft>
              <a:buSzPct val="100000"/>
              <a:buChar char="•"/>
            </a:pPr>
            <a:r>
              <a:rPr lang="en-US" sz="1300" dirty="0">
                <a:solidFill>
                  <a:schemeClr val="bg1"/>
                </a:solidFill>
              </a:rPr>
              <a:t>Top 10 Zones by Revenue</a:t>
            </a:r>
            <a:endParaRPr lang="en-US" sz="1300" dirty="0"/>
          </a:p>
        </p:txBody>
      </p:sp>
      <p:sp>
        <p:nvSpPr>
          <p:cNvPr id="23" name="Text 523"/>
          <p:cNvSpPr txBox="1"/>
          <p:nvPr/>
        </p:nvSpPr>
        <p:spPr>
          <a:xfrm>
            <a:off x="9509760" y="4572000"/>
            <a:ext cx="18288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FILTERS</a:t>
            </a:r>
            <a:endParaRPr lang="en-US" sz="1100" dirty="0"/>
          </a:p>
        </p:txBody>
      </p:sp>
      <p:sp>
        <p:nvSpPr>
          <p:cNvPr id="24" name="Text 524"/>
          <p:cNvSpPr txBox="1"/>
          <p:nvPr/>
        </p:nvSpPr>
        <p:spPr>
          <a:xfrm>
            <a:off x="9509760" y="4846320"/>
            <a:ext cx="201168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bg1"/>
                </a:solidFill>
              </a:rPr>
              <a:t>Time Range</a:t>
            </a:r>
            <a:endParaRPr lang="en-US" sz="1300" dirty="0"/>
          </a:p>
          <a:p>
            <a:pPr marL="342900" indent="-342900">
              <a:spcAft>
                <a:spcPts val="300"/>
              </a:spcAft>
              <a:buSzPct val="100000"/>
              <a:buChar char="•"/>
            </a:pPr>
            <a:r>
              <a:rPr lang="en-US" sz="1300" dirty="0">
                <a:solidFill>
                  <a:schemeClr val="bg1"/>
                </a:solidFill>
              </a:rPr>
              <a:t>Pickup Hour</a:t>
            </a:r>
            <a:endParaRPr lang="en-US" sz="1300" dirty="0"/>
          </a:p>
          <a:p>
            <a:pPr marL="342900" indent="-342900">
              <a:spcAft>
                <a:spcPts val="300"/>
              </a:spcAft>
              <a:buSzPct val="100000"/>
              <a:buChar char="•"/>
            </a:pPr>
            <a:r>
              <a:rPr lang="en-US" sz="1300" dirty="0">
                <a:solidFill>
                  <a:schemeClr val="bg1"/>
                </a:solidFill>
              </a:rPr>
              <a:t>Pickup Zone</a:t>
            </a:r>
            <a:endParaRPr lang="en-US" sz="13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25"/>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INSIGHTS</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Dashboard Insights</a:t>
            </a:r>
            <a:endParaRPr lang="en-US" sz="3600" dirty="0"/>
          </a:p>
        </p:txBody>
      </p:sp>
      <p:sp>
        <p:nvSpPr>
          <p:cNvPr id="4" name="Card 526"/>
          <p:cNvSpPr/>
          <p:nvPr/>
        </p:nvSpPr>
        <p:spPr>
          <a:xfrm>
            <a:off x="548640" y="1508760"/>
            <a:ext cx="5943600" cy="4754880"/>
          </a:xfrm>
          <a:prstGeom prst="roundRect">
            <a:avLst>
              <a:gd name="adj" fmla="val 2308"/>
            </a:avLst>
          </a:prstGeom>
          <a:solidFill>
            <a:schemeClr val="tx2"/>
          </a:solidFill>
          <a:ln w="9525">
            <a:solidFill>
              <a:schemeClr val="accent2">
                <a:alpha val="45000"/>
              </a:schemeClr>
            </a:solidFill>
            <a:prstDash val="solid"/>
          </a:ln>
        </p:spPr>
      </p:sp>
      <p:sp>
        <p:nvSpPr>
          <p:cNvPr id="5" name="Text 527"/>
          <p:cNvSpPr txBox="1"/>
          <p:nvPr/>
        </p:nvSpPr>
        <p:spPr>
          <a:xfrm>
            <a:off x="822960" y="1691640"/>
            <a:ext cx="5394960" cy="274320"/>
          </a:xfrm>
          <a:prstGeom prst="rect">
            <a:avLst/>
          </a:prstGeom>
          <a:noFill/>
          <a:ln/>
        </p:spPr>
        <p:txBody>
          <a:bodyPr wrap="square" lIns="0" tIns="0" rIns="0" bIns="0" rtlCol="0" anchor="t"/>
          <a:lstStyle/>
          <a:p>
            <a:pPr indent="0" marL="0">
              <a:buNone/>
            </a:pPr>
            <a:r>
              <a:rPr lang="en-US" sz="1400" b="1" dirty="0">
                <a:solidFill>
                  <a:schemeClr val="bg1"/>
                </a:solidFill>
              </a:rPr>
              <a:t>Top 10 pickup zones by trips (millions)</a:t>
            </a:r>
            <a:endParaRPr lang="en-US" sz="1400" dirty="0"/>
          </a:p>
        </p:txBody>
      </p:sp>
      <p:graphicFrame>
        <p:nvGraphicFramePr>
          <p:cNvPr id="6" name="Chart 0" descr=""/>
          <p:cNvGraphicFramePr/>
          <p:nvPr/>
        </p:nvGraphicFramePr>
        <p:xfrm>
          <a:off x="731520" y="2011680"/>
          <a:ext cx="5669280" cy="3840480"/>
        </p:xfrm>
        <a:graphic xmlns:a="http://schemas.openxmlformats.org/drawingml/2006/main">
          <a:graphicData uri="http://schemas.openxmlformats.org/drawingml/2006/chart">
            <c:chart xmlns:c="http://schemas.openxmlformats.org/drawingml/2006/chart" r:id="rId1"/>
          </a:graphicData>
        </a:graphic>
      </p:graphicFrame>
      <p:sp>
        <p:nvSpPr>
          <p:cNvPr id="7" name="Text 528"/>
          <p:cNvSpPr txBox="1"/>
          <p:nvPr/>
        </p:nvSpPr>
        <p:spPr>
          <a:xfrm>
            <a:off x="822960" y="5897880"/>
            <a:ext cx="5394960" cy="274320"/>
          </a:xfrm>
          <a:prstGeom prst="rect">
            <a:avLst/>
          </a:prstGeom>
          <a:noFill/>
          <a:ln/>
        </p:spPr>
        <p:txBody>
          <a:bodyPr wrap="square" lIns="0" tIns="0" rIns="0" bIns="0" rtlCol="0" anchor="t"/>
          <a:lstStyle/>
          <a:p>
            <a:pPr indent="0" marL="0">
              <a:buNone/>
            </a:pPr>
            <a:r>
              <a:rPr lang="en-US" sz="1200" dirty="0">
                <a:solidFill>
                  <a:schemeClr val="bg2"/>
                </a:solidFill>
              </a:rPr>
              <a:t>Values as labelled on the dashboard.</a:t>
            </a:r>
            <a:endParaRPr lang="en-US" sz="1200" dirty="0"/>
          </a:p>
        </p:txBody>
      </p:sp>
      <p:sp>
        <p:nvSpPr>
          <p:cNvPr id="8" name="Card 529"/>
          <p:cNvSpPr/>
          <p:nvPr/>
        </p:nvSpPr>
        <p:spPr>
          <a:xfrm>
            <a:off x="6675120" y="1508760"/>
            <a:ext cx="4965192" cy="877824"/>
          </a:xfrm>
          <a:prstGeom prst="roundRect">
            <a:avLst>
              <a:gd name="adj" fmla="val 12500"/>
            </a:avLst>
          </a:prstGeom>
          <a:solidFill>
            <a:schemeClr val="tx2"/>
          </a:solidFill>
          <a:ln w="9525">
            <a:solidFill>
              <a:schemeClr val="accent2">
                <a:alpha val="45000"/>
              </a:schemeClr>
            </a:solidFill>
            <a:prstDash val="solid"/>
          </a:ln>
        </p:spPr>
      </p:sp>
      <p:sp>
        <p:nvSpPr>
          <p:cNvPr id="9" name="Icon circle 530"/>
          <p:cNvSpPr/>
          <p:nvPr/>
        </p:nvSpPr>
        <p:spPr>
          <a:xfrm>
            <a:off x="6858000" y="1691640"/>
            <a:ext cx="512064" cy="512064"/>
          </a:xfrm>
          <a:prstGeom prst="ellipse">
            <a:avLst/>
          </a:prstGeom>
          <a:solidFill>
            <a:schemeClr val="accent2">
              <a:alpha val="28000"/>
            </a:schemeClr>
          </a:solidFill>
          <a:ln w="9525">
            <a:solidFill>
              <a:schemeClr val="accent1">
                <a:alpha val="55000"/>
              </a:schemeClr>
            </a:solidFill>
            <a:prstDash val="solid"/>
          </a:ln>
        </p:spPr>
      </p:sp>
      <p:pic>
        <p:nvPicPr>
          <p:cNvPr id="10" name="Icon 531" descr="insight">    </p:cNvPr>
          <p:cNvPicPr>
            <a:picLocks noChangeAspect="1"/>
          </p:cNvPicPr>
          <p:nvPr/>
        </p:nvPicPr>
        <p:blipFill>
          <a:blip r:embed="rId2"/>
          <a:stretch>
            <a:fillRect/>
          </a:stretch>
        </p:blipFill>
        <p:spPr>
          <a:xfrm>
            <a:off x="6986016" y="1819656"/>
            <a:ext cx="256032" cy="256032"/>
          </a:xfrm>
          <a:prstGeom prst="rect">
            <a:avLst/>
          </a:prstGeom>
        </p:spPr>
      </p:pic>
      <p:sp>
        <p:nvSpPr>
          <p:cNvPr id="11" name="Text 532"/>
          <p:cNvSpPr txBox="1"/>
          <p:nvPr/>
        </p:nvSpPr>
        <p:spPr>
          <a:xfrm>
            <a:off x="7589520" y="1554480"/>
            <a:ext cx="3931920" cy="786384"/>
          </a:xfrm>
          <a:prstGeom prst="rect">
            <a:avLst/>
          </a:prstGeom>
          <a:noFill/>
          <a:ln/>
        </p:spPr>
        <p:txBody>
          <a:bodyPr wrap="square" lIns="0" tIns="0" rIns="0" bIns="0" rtlCol="0" anchor="ctr"/>
          <a:lstStyle/>
          <a:p>
            <a:pPr indent="0" marL="0">
              <a:buNone/>
            </a:pPr>
            <a:r>
              <a:rPr lang="en-US" sz="1400" dirty="0">
                <a:solidFill>
                  <a:schemeClr val="bg1"/>
                </a:solidFill>
              </a:rPr>
              <a:t>JFK Airport is the top pickup zone by trips (7.59M), ahead of Upper East Side South (7.31M)</a:t>
            </a:r>
            <a:endParaRPr lang="en-US" sz="1400" dirty="0"/>
          </a:p>
        </p:txBody>
      </p:sp>
      <p:sp>
        <p:nvSpPr>
          <p:cNvPr id="12" name="Card 533"/>
          <p:cNvSpPr/>
          <p:nvPr/>
        </p:nvSpPr>
        <p:spPr>
          <a:xfrm>
            <a:off x="6675120" y="2478024"/>
            <a:ext cx="4965192" cy="877824"/>
          </a:xfrm>
          <a:prstGeom prst="roundRect">
            <a:avLst>
              <a:gd name="adj" fmla="val 12500"/>
            </a:avLst>
          </a:prstGeom>
          <a:solidFill>
            <a:schemeClr val="tx2"/>
          </a:solidFill>
          <a:ln w="9525">
            <a:solidFill>
              <a:schemeClr val="accent2">
                <a:alpha val="45000"/>
              </a:schemeClr>
            </a:solidFill>
            <a:prstDash val="solid"/>
          </a:ln>
        </p:spPr>
      </p:sp>
      <p:sp>
        <p:nvSpPr>
          <p:cNvPr id="13" name="Icon circle 534"/>
          <p:cNvSpPr/>
          <p:nvPr/>
        </p:nvSpPr>
        <p:spPr>
          <a:xfrm>
            <a:off x="6858000" y="2660904"/>
            <a:ext cx="512064" cy="512064"/>
          </a:xfrm>
          <a:prstGeom prst="ellipse">
            <a:avLst/>
          </a:prstGeom>
          <a:solidFill>
            <a:schemeClr val="accent2">
              <a:alpha val="28000"/>
            </a:schemeClr>
          </a:solidFill>
          <a:ln w="9525">
            <a:solidFill>
              <a:schemeClr val="accent1">
                <a:alpha val="55000"/>
              </a:schemeClr>
            </a:solidFill>
            <a:prstDash val="solid"/>
          </a:ln>
        </p:spPr>
      </p:sp>
      <p:pic>
        <p:nvPicPr>
          <p:cNvPr id="14" name="Icon 535" descr="insight">    </p:cNvPr>
          <p:cNvPicPr>
            <a:picLocks noChangeAspect="1"/>
          </p:cNvPicPr>
          <p:nvPr/>
        </p:nvPicPr>
        <p:blipFill>
          <a:blip r:embed="rId3"/>
          <a:stretch>
            <a:fillRect/>
          </a:stretch>
        </p:blipFill>
        <p:spPr>
          <a:xfrm>
            <a:off x="6986016" y="2788920"/>
            <a:ext cx="256032" cy="256032"/>
          </a:xfrm>
          <a:prstGeom prst="rect">
            <a:avLst/>
          </a:prstGeom>
        </p:spPr>
      </p:pic>
      <p:sp>
        <p:nvSpPr>
          <p:cNvPr id="15" name="Text 536"/>
          <p:cNvSpPr txBox="1"/>
          <p:nvPr/>
        </p:nvSpPr>
        <p:spPr>
          <a:xfrm>
            <a:off x="7589520" y="2523744"/>
            <a:ext cx="3931920" cy="786384"/>
          </a:xfrm>
          <a:prstGeom prst="rect">
            <a:avLst/>
          </a:prstGeom>
          <a:noFill/>
          <a:ln/>
        </p:spPr>
        <p:txBody>
          <a:bodyPr wrap="square" lIns="0" tIns="0" rIns="0" bIns="0" rtlCol="0" anchor="ctr"/>
          <a:lstStyle/>
          <a:p>
            <a:pPr indent="0" marL="0">
              <a:buNone/>
            </a:pPr>
            <a:r>
              <a:rPr lang="en-US" sz="1400" dirty="0">
                <a:solidFill>
                  <a:schemeClr val="bg1"/>
                </a:solidFill>
              </a:rPr>
              <a:t>Airport zones contribute significantly to revenue; JFK Airport leads the revenue chart</a:t>
            </a:r>
            <a:endParaRPr lang="en-US" sz="1400" dirty="0"/>
          </a:p>
        </p:txBody>
      </p:sp>
      <p:sp>
        <p:nvSpPr>
          <p:cNvPr id="16" name="Card 537"/>
          <p:cNvSpPr/>
          <p:nvPr/>
        </p:nvSpPr>
        <p:spPr>
          <a:xfrm>
            <a:off x="6675120" y="3447288"/>
            <a:ext cx="4965192" cy="877824"/>
          </a:xfrm>
          <a:prstGeom prst="roundRect">
            <a:avLst>
              <a:gd name="adj" fmla="val 12500"/>
            </a:avLst>
          </a:prstGeom>
          <a:solidFill>
            <a:schemeClr val="tx2"/>
          </a:solidFill>
          <a:ln w="9525">
            <a:solidFill>
              <a:schemeClr val="accent2">
                <a:alpha val="45000"/>
              </a:schemeClr>
            </a:solidFill>
            <a:prstDash val="solid"/>
          </a:ln>
        </p:spPr>
      </p:sp>
      <p:sp>
        <p:nvSpPr>
          <p:cNvPr id="17" name="Icon circle 538"/>
          <p:cNvSpPr/>
          <p:nvPr/>
        </p:nvSpPr>
        <p:spPr>
          <a:xfrm>
            <a:off x="6858000" y="3630168"/>
            <a:ext cx="512064" cy="512064"/>
          </a:xfrm>
          <a:prstGeom prst="ellipse">
            <a:avLst/>
          </a:prstGeom>
          <a:solidFill>
            <a:schemeClr val="accent2">
              <a:alpha val="28000"/>
            </a:schemeClr>
          </a:solidFill>
          <a:ln w="9525">
            <a:solidFill>
              <a:schemeClr val="accent1">
                <a:alpha val="55000"/>
              </a:schemeClr>
            </a:solidFill>
            <a:prstDash val="solid"/>
          </a:ln>
        </p:spPr>
      </p:sp>
      <p:pic>
        <p:nvPicPr>
          <p:cNvPr id="18" name="Icon 539" descr="insight">    </p:cNvPr>
          <p:cNvPicPr>
            <a:picLocks noChangeAspect="1"/>
          </p:cNvPicPr>
          <p:nvPr/>
        </p:nvPicPr>
        <p:blipFill>
          <a:blip r:embed="rId4"/>
          <a:stretch>
            <a:fillRect/>
          </a:stretch>
        </p:blipFill>
        <p:spPr>
          <a:xfrm>
            <a:off x="6986016" y="3758184"/>
            <a:ext cx="256032" cy="256032"/>
          </a:xfrm>
          <a:prstGeom prst="rect">
            <a:avLst/>
          </a:prstGeom>
        </p:spPr>
      </p:pic>
      <p:sp>
        <p:nvSpPr>
          <p:cNvPr id="19" name="Text 540"/>
          <p:cNvSpPr txBox="1"/>
          <p:nvPr/>
        </p:nvSpPr>
        <p:spPr>
          <a:xfrm>
            <a:off x="7589520" y="3493008"/>
            <a:ext cx="3931920" cy="786384"/>
          </a:xfrm>
          <a:prstGeom prst="rect">
            <a:avLst/>
          </a:prstGeom>
          <a:noFill/>
          <a:ln/>
        </p:spPr>
        <p:txBody>
          <a:bodyPr wrap="square" lIns="0" tIns="0" rIns="0" bIns="0" rtlCol="0" anchor="ctr"/>
          <a:lstStyle/>
          <a:p>
            <a:pPr indent="0" marL="0">
              <a:buNone/>
            </a:pPr>
            <a:r>
              <a:rPr lang="en-US" sz="1400" dirty="0">
                <a:solidFill>
                  <a:schemeClr val="bg1"/>
                </a:solidFill>
              </a:rPr>
              <a:t>Trip volume varies strongly by hour: low in the early morning, highest in the evening</a:t>
            </a:r>
            <a:endParaRPr lang="en-US" sz="1400" dirty="0"/>
          </a:p>
        </p:txBody>
      </p:sp>
      <p:sp>
        <p:nvSpPr>
          <p:cNvPr id="20" name="Card 541"/>
          <p:cNvSpPr/>
          <p:nvPr/>
        </p:nvSpPr>
        <p:spPr>
          <a:xfrm>
            <a:off x="6675120" y="4416552"/>
            <a:ext cx="4965192" cy="877824"/>
          </a:xfrm>
          <a:prstGeom prst="roundRect">
            <a:avLst>
              <a:gd name="adj" fmla="val 12500"/>
            </a:avLst>
          </a:prstGeom>
          <a:solidFill>
            <a:schemeClr val="tx2"/>
          </a:solidFill>
          <a:ln w="9525">
            <a:solidFill>
              <a:schemeClr val="accent2">
                <a:alpha val="45000"/>
              </a:schemeClr>
            </a:solidFill>
            <a:prstDash val="solid"/>
          </a:ln>
        </p:spPr>
      </p:sp>
      <p:sp>
        <p:nvSpPr>
          <p:cNvPr id="21" name="Icon circle 542"/>
          <p:cNvSpPr/>
          <p:nvPr/>
        </p:nvSpPr>
        <p:spPr>
          <a:xfrm>
            <a:off x="6858000" y="4599432"/>
            <a:ext cx="512064" cy="512064"/>
          </a:xfrm>
          <a:prstGeom prst="ellipse">
            <a:avLst/>
          </a:prstGeom>
          <a:solidFill>
            <a:schemeClr val="accent2">
              <a:alpha val="28000"/>
            </a:schemeClr>
          </a:solidFill>
          <a:ln w="9525">
            <a:solidFill>
              <a:schemeClr val="accent1">
                <a:alpha val="55000"/>
              </a:schemeClr>
            </a:solidFill>
            <a:prstDash val="solid"/>
          </a:ln>
        </p:spPr>
      </p:sp>
      <p:pic>
        <p:nvPicPr>
          <p:cNvPr id="22" name="Icon 543" descr="insight">    </p:cNvPr>
          <p:cNvPicPr>
            <a:picLocks noChangeAspect="1"/>
          </p:cNvPicPr>
          <p:nvPr/>
        </p:nvPicPr>
        <p:blipFill>
          <a:blip r:embed="rId5"/>
          <a:stretch>
            <a:fillRect/>
          </a:stretch>
        </p:blipFill>
        <p:spPr>
          <a:xfrm>
            <a:off x="6986016" y="4727448"/>
            <a:ext cx="256032" cy="256032"/>
          </a:xfrm>
          <a:prstGeom prst="rect">
            <a:avLst/>
          </a:prstGeom>
        </p:spPr>
      </p:pic>
      <p:sp>
        <p:nvSpPr>
          <p:cNvPr id="23" name="Text 544"/>
          <p:cNvSpPr txBox="1"/>
          <p:nvPr/>
        </p:nvSpPr>
        <p:spPr>
          <a:xfrm>
            <a:off x="7589520" y="4462272"/>
            <a:ext cx="3931920" cy="786384"/>
          </a:xfrm>
          <a:prstGeom prst="rect">
            <a:avLst/>
          </a:prstGeom>
          <a:noFill/>
          <a:ln/>
        </p:spPr>
        <p:txBody>
          <a:bodyPr wrap="square" lIns="0" tIns="0" rIns="0" bIns="0" rtlCol="0" anchor="ctr"/>
          <a:lstStyle/>
          <a:p>
            <a:pPr indent="0" marL="0">
              <a:buNone/>
            </a:pPr>
            <a:r>
              <a:rPr lang="en-US" sz="1400" dirty="0">
                <a:solidFill>
                  <a:schemeClr val="bg1"/>
                </a:solidFill>
              </a:rPr>
              <a:t>Pickup zones can be compared on both trips and revenue</a:t>
            </a:r>
            <a:endParaRPr lang="en-US" sz="1400" dirty="0"/>
          </a:p>
        </p:txBody>
      </p:sp>
      <p:sp>
        <p:nvSpPr>
          <p:cNvPr id="24" name="Card 545"/>
          <p:cNvSpPr/>
          <p:nvPr/>
        </p:nvSpPr>
        <p:spPr>
          <a:xfrm>
            <a:off x="6675120" y="5385816"/>
            <a:ext cx="4965192" cy="877824"/>
          </a:xfrm>
          <a:prstGeom prst="roundRect">
            <a:avLst>
              <a:gd name="adj" fmla="val 12500"/>
            </a:avLst>
          </a:prstGeom>
          <a:solidFill>
            <a:schemeClr val="tx2"/>
          </a:solidFill>
          <a:ln w="9525">
            <a:solidFill>
              <a:schemeClr val="accent2">
                <a:alpha val="45000"/>
              </a:schemeClr>
            </a:solidFill>
            <a:prstDash val="solid"/>
          </a:ln>
        </p:spPr>
      </p:sp>
      <p:sp>
        <p:nvSpPr>
          <p:cNvPr id="25" name="Icon circle 546"/>
          <p:cNvSpPr/>
          <p:nvPr/>
        </p:nvSpPr>
        <p:spPr>
          <a:xfrm>
            <a:off x="6858000" y="5568696"/>
            <a:ext cx="512064" cy="512064"/>
          </a:xfrm>
          <a:prstGeom prst="ellipse">
            <a:avLst/>
          </a:prstGeom>
          <a:solidFill>
            <a:schemeClr val="accent2">
              <a:alpha val="28000"/>
            </a:schemeClr>
          </a:solidFill>
          <a:ln w="9525">
            <a:solidFill>
              <a:schemeClr val="accent1">
                <a:alpha val="55000"/>
              </a:schemeClr>
            </a:solidFill>
            <a:prstDash val="solid"/>
          </a:ln>
        </p:spPr>
      </p:sp>
      <p:pic>
        <p:nvPicPr>
          <p:cNvPr id="26" name="Icon 547" descr="insight">    </p:cNvPr>
          <p:cNvPicPr>
            <a:picLocks noChangeAspect="1"/>
          </p:cNvPicPr>
          <p:nvPr/>
        </p:nvPicPr>
        <p:blipFill>
          <a:blip r:embed="rId6"/>
          <a:stretch>
            <a:fillRect/>
          </a:stretch>
        </p:blipFill>
        <p:spPr>
          <a:xfrm>
            <a:off x="6986016" y="5696712"/>
            <a:ext cx="256032" cy="256032"/>
          </a:xfrm>
          <a:prstGeom prst="rect">
            <a:avLst/>
          </a:prstGeom>
        </p:spPr>
      </p:pic>
      <p:sp>
        <p:nvSpPr>
          <p:cNvPr id="27" name="Text 548"/>
          <p:cNvSpPr txBox="1"/>
          <p:nvPr/>
        </p:nvSpPr>
        <p:spPr>
          <a:xfrm>
            <a:off x="7589520" y="5431536"/>
            <a:ext cx="3931920" cy="786384"/>
          </a:xfrm>
          <a:prstGeom prst="rect">
            <a:avLst/>
          </a:prstGeom>
          <a:noFill/>
          <a:ln/>
        </p:spPr>
        <p:txBody>
          <a:bodyPr wrap="square" lIns="0" tIns="0" rIns="0" bIns="0" rtlCol="0" anchor="ctr"/>
          <a:lstStyle/>
          <a:p>
            <a:pPr indent="0" marL="0">
              <a:buNone/>
            </a:pPr>
            <a:r>
              <a:rPr lang="en-US" sz="1400" dirty="0">
                <a:solidFill>
                  <a:schemeClr val="bg1"/>
                </a:solidFill>
              </a:rPr>
              <a:t>Daily trip volume varies over time across the period shown</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49"/>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ANALYTICS EXTENSIONS</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Machine Learning &amp; Analytics</a:t>
            </a:r>
            <a:endParaRPr lang="en-US" sz="3600" dirty="0"/>
          </a:p>
        </p:txBody>
      </p:sp>
      <p:sp>
        <p:nvSpPr>
          <p:cNvPr id="4" name="Card 550"/>
          <p:cNvSpPr/>
          <p:nvPr/>
        </p:nvSpPr>
        <p:spPr>
          <a:xfrm>
            <a:off x="548640" y="1508760"/>
            <a:ext cx="2651760" cy="548640"/>
          </a:xfrm>
          <a:prstGeom prst="roundRect">
            <a:avLst>
              <a:gd name="adj" fmla="val 50000"/>
            </a:avLst>
          </a:prstGeom>
          <a:solidFill>
            <a:schemeClr val="accent2">
              <a:alpha val="18000"/>
            </a:schemeClr>
          </a:solidFill>
          <a:ln w="9525">
            <a:solidFill>
              <a:schemeClr val="accent1">
                <a:alpha val="50000"/>
              </a:schemeClr>
            </a:solidFill>
            <a:prstDash val="solid"/>
          </a:ln>
        </p:spPr>
      </p:sp>
      <p:sp>
        <p:nvSpPr>
          <p:cNvPr id="5" name="Text 551"/>
          <p:cNvSpPr txBox="1"/>
          <p:nvPr/>
        </p:nvSpPr>
        <p:spPr>
          <a:xfrm>
            <a:off x="548640" y="1508760"/>
            <a:ext cx="2651760" cy="548640"/>
          </a:xfrm>
          <a:prstGeom prst="rect">
            <a:avLst/>
          </a:prstGeom>
          <a:noFill/>
          <a:ln/>
        </p:spPr>
        <p:txBody>
          <a:bodyPr wrap="square" lIns="0" tIns="0" rIns="0" bIns="0" rtlCol="0" anchor="ctr"/>
          <a:lstStyle/>
          <a:p>
            <a:pPr algn="ctr" indent="0" marL="0">
              <a:buNone/>
            </a:pPr>
            <a:r>
              <a:rPr lang="en-US" sz="1400" b="1" dirty="0">
                <a:solidFill>
                  <a:schemeClr val="accent1"/>
                </a:solidFill>
              </a:rPr>
              <a:t>Mobility pattern analysis</a:t>
            </a:r>
            <a:endParaRPr lang="en-US" sz="1400" dirty="0"/>
          </a:p>
        </p:txBody>
      </p:sp>
      <p:sp>
        <p:nvSpPr>
          <p:cNvPr id="6" name="Card 552"/>
          <p:cNvSpPr/>
          <p:nvPr/>
        </p:nvSpPr>
        <p:spPr>
          <a:xfrm>
            <a:off x="3355848" y="1508760"/>
            <a:ext cx="2651760" cy="548640"/>
          </a:xfrm>
          <a:prstGeom prst="roundRect">
            <a:avLst>
              <a:gd name="adj" fmla="val 50000"/>
            </a:avLst>
          </a:prstGeom>
          <a:solidFill>
            <a:schemeClr val="accent2">
              <a:alpha val="18000"/>
            </a:schemeClr>
          </a:solidFill>
          <a:ln w="9525">
            <a:solidFill>
              <a:schemeClr val="accent1">
                <a:alpha val="50000"/>
              </a:schemeClr>
            </a:solidFill>
            <a:prstDash val="solid"/>
          </a:ln>
        </p:spPr>
      </p:sp>
      <p:sp>
        <p:nvSpPr>
          <p:cNvPr id="7" name="Text 553"/>
          <p:cNvSpPr txBox="1"/>
          <p:nvPr/>
        </p:nvSpPr>
        <p:spPr>
          <a:xfrm>
            <a:off x="3355848" y="1508760"/>
            <a:ext cx="2651760" cy="548640"/>
          </a:xfrm>
          <a:prstGeom prst="rect">
            <a:avLst/>
          </a:prstGeom>
          <a:noFill/>
          <a:ln/>
        </p:spPr>
        <p:txBody>
          <a:bodyPr wrap="square" lIns="0" tIns="0" rIns="0" bIns="0" rtlCol="0" anchor="ctr"/>
          <a:lstStyle/>
          <a:p>
            <a:pPr algn="ctr" indent="0" marL="0">
              <a:buNone/>
            </a:pPr>
            <a:r>
              <a:rPr lang="en-US" sz="1400" b="1" dirty="0">
                <a:solidFill>
                  <a:schemeClr val="accent1"/>
                </a:solidFill>
              </a:rPr>
              <a:t>Clustering</a:t>
            </a:r>
            <a:endParaRPr lang="en-US" sz="1400" dirty="0"/>
          </a:p>
        </p:txBody>
      </p:sp>
      <p:sp>
        <p:nvSpPr>
          <p:cNvPr id="8" name="Card 554"/>
          <p:cNvSpPr/>
          <p:nvPr/>
        </p:nvSpPr>
        <p:spPr>
          <a:xfrm>
            <a:off x="6163056" y="1508760"/>
            <a:ext cx="2651760" cy="548640"/>
          </a:xfrm>
          <a:prstGeom prst="roundRect">
            <a:avLst>
              <a:gd name="adj" fmla="val 50000"/>
            </a:avLst>
          </a:prstGeom>
          <a:solidFill>
            <a:schemeClr val="accent2">
              <a:alpha val="18000"/>
            </a:schemeClr>
          </a:solidFill>
          <a:ln w="9525">
            <a:solidFill>
              <a:schemeClr val="accent1">
                <a:alpha val="50000"/>
              </a:schemeClr>
            </a:solidFill>
            <a:prstDash val="solid"/>
          </a:ln>
        </p:spPr>
      </p:sp>
      <p:sp>
        <p:nvSpPr>
          <p:cNvPr id="9" name="Text 555"/>
          <p:cNvSpPr txBox="1"/>
          <p:nvPr/>
        </p:nvSpPr>
        <p:spPr>
          <a:xfrm>
            <a:off x="6163056" y="1508760"/>
            <a:ext cx="2651760" cy="548640"/>
          </a:xfrm>
          <a:prstGeom prst="rect">
            <a:avLst/>
          </a:prstGeom>
          <a:noFill/>
          <a:ln/>
        </p:spPr>
        <p:txBody>
          <a:bodyPr wrap="square" lIns="0" tIns="0" rIns="0" bIns="0" rtlCol="0" anchor="ctr"/>
          <a:lstStyle/>
          <a:p>
            <a:pPr algn="ctr" indent="0" marL="0">
              <a:buNone/>
            </a:pPr>
            <a:r>
              <a:rPr lang="en-US" sz="1400" b="1" dirty="0">
                <a:solidFill>
                  <a:schemeClr val="accent1"/>
                </a:solidFill>
              </a:rPr>
              <a:t>Trip prediction</a:t>
            </a:r>
            <a:endParaRPr lang="en-US" sz="1400" dirty="0"/>
          </a:p>
        </p:txBody>
      </p:sp>
      <p:sp>
        <p:nvSpPr>
          <p:cNvPr id="10" name="Card 556"/>
          <p:cNvSpPr/>
          <p:nvPr/>
        </p:nvSpPr>
        <p:spPr>
          <a:xfrm>
            <a:off x="8970264" y="1508760"/>
            <a:ext cx="2651760" cy="548640"/>
          </a:xfrm>
          <a:prstGeom prst="roundRect">
            <a:avLst>
              <a:gd name="adj" fmla="val 50000"/>
            </a:avLst>
          </a:prstGeom>
          <a:solidFill>
            <a:schemeClr val="accent2">
              <a:alpha val="18000"/>
            </a:schemeClr>
          </a:solidFill>
          <a:ln w="9525">
            <a:solidFill>
              <a:schemeClr val="accent1">
                <a:alpha val="50000"/>
              </a:schemeClr>
            </a:solidFill>
            <a:prstDash val="solid"/>
          </a:ln>
        </p:spPr>
      </p:sp>
      <p:sp>
        <p:nvSpPr>
          <p:cNvPr id="11" name="Text 557"/>
          <p:cNvSpPr txBox="1"/>
          <p:nvPr/>
        </p:nvSpPr>
        <p:spPr>
          <a:xfrm>
            <a:off x="8970264" y="1508760"/>
            <a:ext cx="2651760" cy="548640"/>
          </a:xfrm>
          <a:prstGeom prst="rect">
            <a:avLst/>
          </a:prstGeom>
          <a:noFill/>
          <a:ln/>
        </p:spPr>
        <p:txBody>
          <a:bodyPr wrap="square" lIns="0" tIns="0" rIns="0" bIns="0" rtlCol="0" anchor="ctr"/>
          <a:lstStyle/>
          <a:p>
            <a:pPr algn="ctr" indent="0" marL="0">
              <a:buNone/>
            </a:pPr>
            <a:r>
              <a:rPr lang="en-US" sz="1400" b="1" dirty="0">
                <a:solidFill>
                  <a:schemeClr val="accent1"/>
                </a:solidFill>
              </a:rPr>
              <a:t>ML experiments</a:t>
            </a:r>
            <a:endParaRPr lang="en-US" sz="1400" dirty="0"/>
          </a:p>
        </p:txBody>
      </p:sp>
      <p:sp>
        <p:nvSpPr>
          <p:cNvPr id="12" name="Card 558"/>
          <p:cNvSpPr/>
          <p:nvPr/>
        </p:nvSpPr>
        <p:spPr>
          <a:xfrm>
            <a:off x="548640" y="2377440"/>
            <a:ext cx="5458968" cy="1508760"/>
          </a:xfrm>
          <a:prstGeom prst="roundRect">
            <a:avLst>
              <a:gd name="adj" fmla="val 7273"/>
            </a:avLst>
          </a:prstGeom>
          <a:solidFill>
            <a:schemeClr val="tx2"/>
          </a:solidFill>
          <a:ln w="9525">
            <a:solidFill>
              <a:schemeClr val="accent2">
                <a:alpha val="45000"/>
              </a:schemeClr>
            </a:solidFill>
            <a:prstDash val="solid"/>
          </a:ln>
        </p:spPr>
      </p:sp>
      <p:sp>
        <p:nvSpPr>
          <p:cNvPr id="13" name="Icon circle 559"/>
          <p:cNvSpPr/>
          <p:nvPr/>
        </p:nvSpPr>
        <p:spPr>
          <a:xfrm>
            <a:off x="777240" y="2788920"/>
            <a:ext cx="685800" cy="685800"/>
          </a:xfrm>
          <a:prstGeom prst="ellipse">
            <a:avLst/>
          </a:prstGeom>
          <a:solidFill>
            <a:schemeClr val="accent2">
              <a:alpha val="28000"/>
            </a:schemeClr>
          </a:solidFill>
          <a:ln w="9525">
            <a:solidFill>
              <a:schemeClr val="accent1">
                <a:alpha val="55000"/>
              </a:schemeClr>
            </a:solidFill>
            <a:prstDash val="solid"/>
          </a:ln>
        </p:spPr>
      </p:sp>
      <p:pic>
        <p:nvPicPr>
          <p:cNvPr id="14" name="Icon 560" descr="sparkml_clustering.py">    </p:cNvPr>
          <p:cNvPicPr>
            <a:picLocks noChangeAspect="1"/>
          </p:cNvPicPr>
          <p:nvPr/>
        </p:nvPicPr>
        <p:blipFill>
          <a:blip r:embed="rId1"/>
          <a:stretch>
            <a:fillRect/>
          </a:stretch>
        </p:blipFill>
        <p:spPr>
          <a:xfrm>
            <a:off x="948690" y="2960370"/>
            <a:ext cx="342900" cy="342900"/>
          </a:xfrm>
          <a:prstGeom prst="rect">
            <a:avLst/>
          </a:prstGeom>
        </p:spPr>
      </p:pic>
      <p:sp>
        <p:nvSpPr>
          <p:cNvPr id="15" name="Text 561"/>
          <p:cNvSpPr txBox="1"/>
          <p:nvPr/>
        </p:nvSpPr>
        <p:spPr>
          <a:xfrm>
            <a:off x="1691640" y="2651760"/>
            <a:ext cx="4206240"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sparkml_clustering.py</a:t>
            </a:r>
            <a:endParaRPr lang="en-US" sz="1600" dirty="0"/>
          </a:p>
        </p:txBody>
      </p:sp>
      <p:sp>
        <p:nvSpPr>
          <p:cNvPr id="16" name="Text 562"/>
          <p:cNvSpPr txBox="1"/>
          <p:nvPr/>
        </p:nvSpPr>
        <p:spPr>
          <a:xfrm>
            <a:off x="1691640" y="3108960"/>
            <a:ext cx="4114800" cy="594360"/>
          </a:xfrm>
          <a:prstGeom prst="rect">
            <a:avLst/>
          </a:prstGeom>
          <a:noFill/>
          <a:ln/>
        </p:spPr>
        <p:txBody>
          <a:bodyPr wrap="square" lIns="0" tIns="0" rIns="0" bIns="0" rtlCol="0" anchor="t"/>
          <a:lstStyle/>
          <a:p>
            <a:pPr indent="0" marL="0">
              <a:buNone/>
            </a:pPr>
            <a:r>
              <a:rPr lang="en-US" sz="1400" dirty="0">
                <a:solidFill>
                  <a:schemeClr val="bg2"/>
                </a:solidFill>
              </a:rPr>
              <a:t>Spark ML clustering for mobility pattern analysis</a:t>
            </a:r>
            <a:endParaRPr lang="en-US" sz="1400" dirty="0"/>
          </a:p>
        </p:txBody>
      </p:sp>
      <p:sp>
        <p:nvSpPr>
          <p:cNvPr id="17" name="Card 563"/>
          <p:cNvSpPr/>
          <p:nvPr/>
        </p:nvSpPr>
        <p:spPr>
          <a:xfrm>
            <a:off x="6190488" y="2377440"/>
            <a:ext cx="5458968" cy="1508760"/>
          </a:xfrm>
          <a:prstGeom prst="roundRect">
            <a:avLst>
              <a:gd name="adj" fmla="val 7273"/>
            </a:avLst>
          </a:prstGeom>
          <a:solidFill>
            <a:schemeClr val="tx2"/>
          </a:solidFill>
          <a:ln w="9525">
            <a:solidFill>
              <a:schemeClr val="accent2">
                <a:alpha val="45000"/>
              </a:schemeClr>
            </a:solidFill>
            <a:prstDash val="solid"/>
          </a:ln>
        </p:spPr>
      </p:sp>
      <p:sp>
        <p:nvSpPr>
          <p:cNvPr id="18" name="Icon circle 564"/>
          <p:cNvSpPr/>
          <p:nvPr/>
        </p:nvSpPr>
        <p:spPr>
          <a:xfrm>
            <a:off x="6419088" y="2788920"/>
            <a:ext cx="685800" cy="685800"/>
          </a:xfrm>
          <a:prstGeom prst="ellipse">
            <a:avLst/>
          </a:prstGeom>
          <a:solidFill>
            <a:schemeClr val="accent2">
              <a:alpha val="28000"/>
            </a:schemeClr>
          </a:solidFill>
          <a:ln w="9525">
            <a:solidFill>
              <a:schemeClr val="accent1">
                <a:alpha val="55000"/>
              </a:schemeClr>
            </a:solidFill>
            <a:prstDash val="solid"/>
          </a:ln>
        </p:spPr>
      </p:sp>
      <p:pic>
        <p:nvPicPr>
          <p:cNvPr id="19" name="Icon 565" descr="train_xgboost.py">    </p:cNvPr>
          <p:cNvPicPr>
            <a:picLocks noChangeAspect="1"/>
          </p:cNvPicPr>
          <p:nvPr/>
        </p:nvPicPr>
        <p:blipFill>
          <a:blip r:embed="rId2"/>
          <a:stretch>
            <a:fillRect/>
          </a:stretch>
        </p:blipFill>
        <p:spPr>
          <a:xfrm>
            <a:off x="6590538" y="2960370"/>
            <a:ext cx="342900" cy="342900"/>
          </a:xfrm>
          <a:prstGeom prst="rect">
            <a:avLst/>
          </a:prstGeom>
        </p:spPr>
      </p:pic>
      <p:sp>
        <p:nvSpPr>
          <p:cNvPr id="20" name="Text 566"/>
          <p:cNvSpPr txBox="1"/>
          <p:nvPr/>
        </p:nvSpPr>
        <p:spPr>
          <a:xfrm>
            <a:off x="7333488" y="2651760"/>
            <a:ext cx="4206240"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train_xgboost.py</a:t>
            </a:r>
            <a:endParaRPr lang="en-US" sz="1600" dirty="0"/>
          </a:p>
        </p:txBody>
      </p:sp>
      <p:sp>
        <p:nvSpPr>
          <p:cNvPr id="21" name="Text 567"/>
          <p:cNvSpPr txBox="1"/>
          <p:nvPr/>
        </p:nvSpPr>
        <p:spPr>
          <a:xfrm>
            <a:off x="7333488" y="3108960"/>
            <a:ext cx="4114800" cy="594360"/>
          </a:xfrm>
          <a:prstGeom prst="rect">
            <a:avLst/>
          </a:prstGeom>
          <a:noFill/>
          <a:ln/>
        </p:spPr>
        <p:txBody>
          <a:bodyPr wrap="square" lIns="0" tIns="0" rIns="0" bIns="0" rtlCol="0" anchor="t"/>
          <a:lstStyle/>
          <a:p>
            <a:pPr indent="0" marL="0">
              <a:buNone/>
            </a:pPr>
            <a:r>
              <a:rPr lang="en-US" sz="1400" dirty="0">
                <a:solidFill>
                  <a:schemeClr val="bg2"/>
                </a:solidFill>
              </a:rPr>
              <a:t>XGBoost model training for trip prediction experiments</a:t>
            </a:r>
            <a:endParaRPr lang="en-US" sz="1400" dirty="0"/>
          </a:p>
        </p:txBody>
      </p:sp>
      <p:sp>
        <p:nvSpPr>
          <p:cNvPr id="22" name="Card 568"/>
          <p:cNvSpPr/>
          <p:nvPr/>
        </p:nvSpPr>
        <p:spPr>
          <a:xfrm>
            <a:off x="548640" y="4069080"/>
            <a:ext cx="5458968" cy="1508760"/>
          </a:xfrm>
          <a:prstGeom prst="roundRect">
            <a:avLst>
              <a:gd name="adj" fmla="val 7273"/>
            </a:avLst>
          </a:prstGeom>
          <a:solidFill>
            <a:schemeClr val="tx2"/>
          </a:solidFill>
          <a:ln w="9525">
            <a:solidFill>
              <a:schemeClr val="accent2">
                <a:alpha val="45000"/>
              </a:schemeClr>
            </a:solidFill>
            <a:prstDash val="solid"/>
          </a:ln>
        </p:spPr>
      </p:sp>
      <p:sp>
        <p:nvSpPr>
          <p:cNvPr id="23" name="Icon circle 569"/>
          <p:cNvSpPr/>
          <p:nvPr/>
        </p:nvSpPr>
        <p:spPr>
          <a:xfrm>
            <a:off x="777240" y="4480560"/>
            <a:ext cx="685800" cy="685800"/>
          </a:xfrm>
          <a:prstGeom prst="ellipse">
            <a:avLst/>
          </a:prstGeom>
          <a:solidFill>
            <a:schemeClr val="accent2">
              <a:alpha val="28000"/>
            </a:schemeClr>
          </a:solidFill>
          <a:ln w="9525">
            <a:solidFill>
              <a:schemeClr val="accent1">
                <a:alpha val="55000"/>
              </a:schemeClr>
            </a:solidFill>
            <a:prstDash val="solid"/>
          </a:ln>
        </p:spPr>
      </p:sp>
      <p:pic>
        <p:nvPicPr>
          <p:cNvPr id="24" name="Icon 570" descr="train_trip_models.py">    </p:cNvPr>
          <p:cNvPicPr>
            <a:picLocks noChangeAspect="1"/>
          </p:cNvPicPr>
          <p:nvPr/>
        </p:nvPicPr>
        <p:blipFill>
          <a:blip r:embed="rId3"/>
          <a:stretch>
            <a:fillRect/>
          </a:stretch>
        </p:blipFill>
        <p:spPr>
          <a:xfrm>
            <a:off x="948690" y="4652010"/>
            <a:ext cx="342900" cy="342900"/>
          </a:xfrm>
          <a:prstGeom prst="rect">
            <a:avLst/>
          </a:prstGeom>
        </p:spPr>
      </p:pic>
      <p:sp>
        <p:nvSpPr>
          <p:cNvPr id="25" name="Text 571"/>
          <p:cNvSpPr txBox="1"/>
          <p:nvPr/>
        </p:nvSpPr>
        <p:spPr>
          <a:xfrm>
            <a:off x="1691640" y="4343400"/>
            <a:ext cx="4206240"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train_trip_models.py</a:t>
            </a:r>
            <a:endParaRPr lang="en-US" sz="1600" dirty="0"/>
          </a:p>
        </p:txBody>
      </p:sp>
      <p:sp>
        <p:nvSpPr>
          <p:cNvPr id="26" name="Text 572"/>
          <p:cNvSpPr txBox="1"/>
          <p:nvPr/>
        </p:nvSpPr>
        <p:spPr>
          <a:xfrm>
            <a:off x="1691640" y="4800600"/>
            <a:ext cx="4114800" cy="594360"/>
          </a:xfrm>
          <a:prstGeom prst="rect">
            <a:avLst/>
          </a:prstGeom>
          <a:noFill/>
          <a:ln/>
        </p:spPr>
        <p:txBody>
          <a:bodyPr wrap="square" lIns="0" tIns="0" rIns="0" bIns="0" rtlCol="0" anchor="t"/>
          <a:lstStyle/>
          <a:p>
            <a:pPr indent="0" marL="0">
              <a:buNone/>
            </a:pPr>
            <a:r>
              <a:rPr lang="en-US" sz="1400" dirty="0">
                <a:solidFill>
                  <a:schemeClr val="bg2"/>
                </a:solidFill>
              </a:rPr>
              <a:t>Trip prediction model training and comparison</a:t>
            </a:r>
            <a:endParaRPr lang="en-US" sz="1400" dirty="0"/>
          </a:p>
        </p:txBody>
      </p:sp>
      <p:sp>
        <p:nvSpPr>
          <p:cNvPr id="27" name="Card 573"/>
          <p:cNvSpPr/>
          <p:nvPr/>
        </p:nvSpPr>
        <p:spPr>
          <a:xfrm>
            <a:off x="6190488" y="4069080"/>
            <a:ext cx="5458968" cy="1508760"/>
          </a:xfrm>
          <a:prstGeom prst="roundRect">
            <a:avLst>
              <a:gd name="adj" fmla="val 7273"/>
            </a:avLst>
          </a:prstGeom>
          <a:solidFill>
            <a:schemeClr val="tx2"/>
          </a:solidFill>
          <a:ln w="9525">
            <a:solidFill>
              <a:schemeClr val="accent2">
                <a:alpha val="45000"/>
              </a:schemeClr>
            </a:solidFill>
            <a:prstDash val="solid"/>
          </a:ln>
        </p:spPr>
      </p:sp>
      <p:sp>
        <p:nvSpPr>
          <p:cNvPr id="28" name="Icon circle 574"/>
          <p:cNvSpPr/>
          <p:nvPr/>
        </p:nvSpPr>
        <p:spPr>
          <a:xfrm>
            <a:off x="6419088" y="4480560"/>
            <a:ext cx="685800" cy="685800"/>
          </a:xfrm>
          <a:prstGeom prst="ellipse">
            <a:avLst/>
          </a:prstGeom>
          <a:solidFill>
            <a:schemeClr val="accent2">
              <a:alpha val="28000"/>
            </a:schemeClr>
          </a:solidFill>
          <a:ln w="9525">
            <a:solidFill>
              <a:schemeClr val="accent1">
                <a:alpha val="55000"/>
              </a:schemeClr>
            </a:solidFill>
            <a:prstDash val="solid"/>
          </a:ln>
        </p:spPr>
      </p:sp>
      <p:pic>
        <p:nvPicPr>
          <p:cNvPr id="29" name="Icon 575" descr="train_trip_models_no_distance.py">    </p:cNvPr>
          <p:cNvPicPr>
            <a:picLocks noChangeAspect="1"/>
          </p:cNvPicPr>
          <p:nvPr/>
        </p:nvPicPr>
        <p:blipFill>
          <a:blip r:embed="rId4"/>
          <a:stretch>
            <a:fillRect/>
          </a:stretch>
        </p:blipFill>
        <p:spPr>
          <a:xfrm>
            <a:off x="6590538" y="4652010"/>
            <a:ext cx="342900" cy="342900"/>
          </a:xfrm>
          <a:prstGeom prst="rect">
            <a:avLst/>
          </a:prstGeom>
        </p:spPr>
      </p:pic>
      <p:sp>
        <p:nvSpPr>
          <p:cNvPr id="30" name="Text 576"/>
          <p:cNvSpPr txBox="1"/>
          <p:nvPr/>
        </p:nvSpPr>
        <p:spPr>
          <a:xfrm>
            <a:off x="7333488" y="4343400"/>
            <a:ext cx="4206240"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train_trip_models_no_distance.py</a:t>
            </a:r>
            <a:endParaRPr lang="en-US" sz="1600" dirty="0"/>
          </a:p>
        </p:txBody>
      </p:sp>
      <p:sp>
        <p:nvSpPr>
          <p:cNvPr id="31" name="Text 577"/>
          <p:cNvSpPr txBox="1"/>
          <p:nvPr/>
        </p:nvSpPr>
        <p:spPr>
          <a:xfrm>
            <a:off x="7333488" y="4800600"/>
            <a:ext cx="4114800" cy="594360"/>
          </a:xfrm>
          <a:prstGeom prst="rect">
            <a:avLst/>
          </a:prstGeom>
          <a:noFill/>
          <a:ln/>
        </p:spPr>
        <p:txBody>
          <a:bodyPr wrap="square" lIns="0" tIns="0" rIns="0" bIns="0" rtlCol="0" anchor="t"/>
          <a:lstStyle/>
          <a:p>
            <a:pPr indent="0" marL="0">
              <a:buNone/>
            </a:pPr>
            <a:r>
              <a:rPr lang="en-US" sz="1400" dirty="0">
                <a:solidFill>
                  <a:schemeClr val="bg2"/>
                </a:solidFill>
              </a:rPr>
              <a:t>Trip model variant trained without the distance feature</a:t>
            </a:r>
            <a:endParaRPr lang="en-US" sz="1400" dirty="0"/>
          </a:p>
        </p:txBody>
      </p:sp>
      <p:sp>
        <p:nvSpPr>
          <p:cNvPr id="32" name="Text 578"/>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400" dirty="0">
                <a:solidFill>
                  <a:schemeClr val="bg2"/>
                </a:solidFill>
              </a:rPr>
              <a:t>Experimental components that extend the pipeline; no model accuracy figures are claimed in this presentation.</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79"/>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ML APPLICATION</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Streamlit – Trip Predictor App</a:t>
            </a:r>
            <a:endParaRPr lang="en-US" sz="3600" dirty="0"/>
          </a:p>
        </p:txBody>
      </p:sp>
      <p:sp>
        <p:nvSpPr>
          <p:cNvPr id="4" name="Card 580"/>
          <p:cNvSpPr/>
          <p:nvPr/>
        </p:nvSpPr>
        <p:spPr>
          <a:xfrm>
            <a:off x="512064" y="1472184"/>
            <a:ext cx="5513832" cy="2899922"/>
          </a:xfrm>
          <a:prstGeom prst="roundRect">
            <a:avLst>
              <a:gd name="adj" fmla="val 1892"/>
            </a:avLst>
          </a:prstGeom>
          <a:solidFill>
            <a:schemeClr val="tx2"/>
          </a:solidFill>
          <a:ln w="9525">
            <a:solidFill>
              <a:schemeClr val="accent1">
                <a:alpha val="40000"/>
              </a:schemeClr>
            </a:solidFill>
            <a:prstDash val="solid"/>
          </a:ln>
        </p:spPr>
      </p:sp>
      <p:pic>
        <p:nvPicPr>
          <p:cNvPr id="5" name="Streamlit screenshot 1" descr="Streamlit app NYC Taxi Trip Predictor: trip input form">    </p:cNvPr>
          <p:cNvPicPr>
            <a:picLocks noChangeAspect="1"/>
          </p:cNvPicPr>
          <p:nvPr/>
        </p:nvPicPr>
        <p:blipFill>
          <a:blip r:embed="rId1"/>
          <a:stretch>
            <a:fillRect/>
          </a:stretch>
        </p:blipFill>
        <p:spPr>
          <a:xfrm>
            <a:off x="548640" y="1508760"/>
            <a:ext cx="5440680" cy="2826770"/>
          </a:xfrm>
          <a:prstGeom prst="rect">
            <a:avLst/>
          </a:prstGeom>
        </p:spPr>
      </p:pic>
      <p:sp>
        <p:nvSpPr>
          <p:cNvPr id="6" name="Card 581"/>
          <p:cNvSpPr/>
          <p:nvPr/>
        </p:nvSpPr>
        <p:spPr>
          <a:xfrm>
            <a:off x="6163056" y="1472184"/>
            <a:ext cx="5513832" cy="2571540"/>
          </a:xfrm>
          <a:prstGeom prst="roundRect">
            <a:avLst>
              <a:gd name="adj" fmla="val 2134"/>
            </a:avLst>
          </a:prstGeom>
          <a:solidFill>
            <a:schemeClr val="tx2"/>
          </a:solidFill>
          <a:ln w="9525">
            <a:solidFill>
              <a:schemeClr val="accent1">
                <a:alpha val="40000"/>
              </a:schemeClr>
            </a:solidFill>
            <a:prstDash val="solid"/>
          </a:ln>
        </p:spPr>
      </p:sp>
      <p:pic>
        <p:nvPicPr>
          <p:cNvPr id="7" name="Streamlit screenshot 2" descr="Streamlit app prediction results: estimated trip duration and total amount">    </p:cNvPr>
          <p:cNvPicPr>
            <a:picLocks noChangeAspect="1"/>
          </p:cNvPicPr>
          <p:nvPr/>
        </p:nvPicPr>
        <p:blipFill>
          <a:blip r:embed="rId2"/>
          <a:stretch>
            <a:fillRect/>
          </a:stretch>
        </p:blipFill>
        <p:spPr>
          <a:xfrm>
            <a:off x="6199632" y="1508760"/>
            <a:ext cx="5440680" cy="2498388"/>
          </a:xfrm>
          <a:prstGeom prst="rect">
            <a:avLst/>
          </a:prstGeom>
        </p:spPr>
      </p:pic>
      <p:sp>
        <p:nvSpPr>
          <p:cNvPr id="8" name="Card 582"/>
          <p:cNvSpPr/>
          <p:nvPr/>
        </p:nvSpPr>
        <p:spPr>
          <a:xfrm>
            <a:off x="548640" y="4617720"/>
            <a:ext cx="3611880" cy="1645920"/>
          </a:xfrm>
          <a:prstGeom prst="roundRect">
            <a:avLst>
              <a:gd name="adj" fmla="val 6667"/>
            </a:avLst>
          </a:prstGeom>
          <a:solidFill>
            <a:schemeClr val="tx2"/>
          </a:solidFill>
          <a:ln w="9525">
            <a:solidFill>
              <a:schemeClr val="accent2">
                <a:alpha val="45000"/>
              </a:schemeClr>
            </a:solidFill>
            <a:prstDash val="solid"/>
          </a:ln>
        </p:spPr>
      </p:sp>
      <p:sp>
        <p:nvSpPr>
          <p:cNvPr id="9" name="Icon circle 583"/>
          <p:cNvSpPr/>
          <p:nvPr/>
        </p:nvSpPr>
        <p:spPr>
          <a:xfrm>
            <a:off x="777240" y="4800600"/>
            <a:ext cx="548640" cy="548640"/>
          </a:xfrm>
          <a:prstGeom prst="ellipse">
            <a:avLst/>
          </a:prstGeom>
          <a:solidFill>
            <a:schemeClr val="accent2">
              <a:alpha val="28000"/>
            </a:schemeClr>
          </a:solidFill>
          <a:ln w="9525">
            <a:solidFill>
              <a:schemeClr val="accent1">
                <a:alpha val="55000"/>
              </a:schemeClr>
            </a:solidFill>
            <a:prstDash val="solid"/>
          </a:ln>
        </p:spPr>
      </p:sp>
      <p:pic>
        <p:nvPicPr>
          <p:cNvPr id="10" name="Icon 584" descr="Inputs">    </p:cNvPr>
          <p:cNvPicPr>
            <a:picLocks noChangeAspect="1"/>
          </p:cNvPicPr>
          <p:nvPr/>
        </p:nvPicPr>
        <p:blipFill>
          <a:blip r:embed="rId3"/>
          <a:stretch>
            <a:fillRect/>
          </a:stretch>
        </p:blipFill>
        <p:spPr>
          <a:xfrm>
            <a:off x="914400" y="4937760"/>
            <a:ext cx="274320" cy="274320"/>
          </a:xfrm>
          <a:prstGeom prst="rect">
            <a:avLst/>
          </a:prstGeom>
        </p:spPr>
      </p:pic>
      <p:sp>
        <p:nvSpPr>
          <p:cNvPr id="11" name="Text 585"/>
          <p:cNvSpPr txBox="1"/>
          <p:nvPr/>
        </p:nvSpPr>
        <p:spPr>
          <a:xfrm>
            <a:off x="1508760" y="4892040"/>
            <a:ext cx="2468880" cy="365760"/>
          </a:xfrm>
          <a:prstGeom prst="rect">
            <a:avLst/>
          </a:prstGeom>
          <a:noFill/>
          <a:ln/>
        </p:spPr>
        <p:txBody>
          <a:bodyPr wrap="square" lIns="0" tIns="0" rIns="0" bIns="0" rtlCol="0" anchor="t"/>
          <a:lstStyle/>
          <a:p>
            <a:pPr indent="0" marL="0">
              <a:buNone/>
            </a:pPr>
            <a:r>
              <a:rPr lang="en-US" sz="1800" b="1" dirty="0">
                <a:solidFill>
                  <a:schemeClr val="bg1"/>
                </a:solidFill>
              </a:rPr>
              <a:t>Inputs</a:t>
            </a:r>
            <a:endParaRPr lang="en-US" sz="1800" dirty="0"/>
          </a:p>
        </p:txBody>
      </p:sp>
      <p:sp>
        <p:nvSpPr>
          <p:cNvPr id="12" name="Text 586"/>
          <p:cNvSpPr txBox="1"/>
          <p:nvPr/>
        </p:nvSpPr>
        <p:spPr>
          <a:xfrm>
            <a:off x="777240" y="5486400"/>
            <a:ext cx="3200400" cy="731520"/>
          </a:xfrm>
          <a:prstGeom prst="rect">
            <a:avLst/>
          </a:prstGeom>
          <a:noFill/>
          <a:ln/>
        </p:spPr>
        <p:txBody>
          <a:bodyPr wrap="square" lIns="0" tIns="0" rIns="0" bIns="0" rtlCol="0" anchor="t"/>
          <a:lstStyle/>
          <a:p>
            <a:pPr indent="0" marL="0">
              <a:buNone/>
            </a:pPr>
            <a:r>
              <a:rPr lang="en-US" sz="1400" dirty="0">
                <a:solidFill>
                  <a:schemeClr val="bg2"/>
                </a:solidFill>
              </a:rPr>
              <a:t>Pickup and drop-off zone, trip distance, passenger count, pickup date and time</a:t>
            </a:r>
            <a:endParaRPr lang="en-US" sz="1400" dirty="0"/>
          </a:p>
        </p:txBody>
      </p:sp>
      <p:sp>
        <p:nvSpPr>
          <p:cNvPr id="13" name="Card 587"/>
          <p:cNvSpPr/>
          <p:nvPr/>
        </p:nvSpPr>
        <p:spPr>
          <a:xfrm>
            <a:off x="4288536" y="4617720"/>
            <a:ext cx="3611880" cy="1645920"/>
          </a:xfrm>
          <a:prstGeom prst="roundRect">
            <a:avLst>
              <a:gd name="adj" fmla="val 6667"/>
            </a:avLst>
          </a:prstGeom>
          <a:solidFill>
            <a:schemeClr val="tx2"/>
          </a:solidFill>
          <a:ln w="9525">
            <a:solidFill>
              <a:schemeClr val="accent2">
                <a:alpha val="45000"/>
              </a:schemeClr>
            </a:solidFill>
            <a:prstDash val="solid"/>
          </a:ln>
        </p:spPr>
      </p:sp>
      <p:sp>
        <p:nvSpPr>
          <p:cNvPr id="14" name="Icon circle 588"/>
          <p:cNvSpPr/>
          <p:nvPr/>
        </p:nvSpPr>
        <p:spPr>
          <a:xfrm>
            <a:off x="4517136" y="4800600"/>
            <a:ext cx="548640" cy="548640"/>
          </a:xfrm>
          <a:prstGeom prst="ellipse">
            <a:avLst/>
          </a:prstGeom>
          <a:solidFill>
            <a:schemeClr val="accent2">
              <a:alpha val="28000"/>
            </a:schemeClr>
          </a:solidFill>
          <a:ln w="9525">
            <a:solidFill>
              <a:schemeClr val="accent1">
                <a:alpha val="55000"/>
              </a:schemeClr>
            </a:solidFill>
            <a:prstDash val="solid"/>
          </a:ln>
        </p:spPr>
      </p:sp>
      <p:pic>
        <p:nvPicPr>
          <p:cNvPr id="15" name="Icon 589" descr="Outputs">    </p:cNvPr>
          <p:cNvPicPr>
            <a:picLocks noChangeAspect="1"/>
          </p:cNvPicPr>
          <p:nvPr/>
        </p:nvPicPr>
        <p:blipFill>
          <a:blip r:embed="rId4"/>
          <a:stretch>
            <a:fillRect/>
          </a:stretch>
        </p:blipFill>
        <p:spPr>
          <a:xfrm>
            <a:off x="4654296" y="4937760"/>
            <a:ext cx="274320" cy="274320"/>
          </a:xfrm>
          <a:prstGeom prst="rect">
            <a:avLst/>
          </a:prstGeom>
        </p:spPr>
      </p:pic>
      <p:sp>
        <p:nvSpPr>
          <p:cNvPr id="16" name="Text 590"/>
          <p:cNvSpPr txBox="1"/>
          <p:nvPr/>
        </p:nvSpPr>
        <p:spPr>
          <a:xfrm>
            <a:off x="5248656" y="4892040"/>
            <a:ext cx="2468880" cy="365760"/>
          </a:xfrm>
          <a:prstGeom prst="rect">
            <a:avLst/>
          </a:prstGeom>
          <a:noFill/>
          <a:ln/>
        </p:spPr>
        <p:txBody>
          <a:bodyPr wrap="square" lIns="0" tIns="0" rIns="0" bIns="0" rtlCol="0" anchor="t"/>
          <a:lstStyle/>
          <a:p>
            <a:pPr indent="0" marL="0">
              <a:buNone/>
            </a:pPr>
            <a:r>
              <a:rPr lang="en-US" sz="1800" b="1" dirty="0">
                <a:solidFill>
                  <a:schemeClr val="bg1"/>
                </a:solidFill>
              </a:rPr>
              <a:t>Outputs</a:t>
            </a:r>
            <a:endParaRPr lang="en-US" sz="1800" dirty="0"/>
          </a:p>
        </p:txBody>
      </p:sp>
      <p:sp>
        <p:nvSpPr>
          <p:cNvPr id="17" name="Text 591"/>
          <p:cNvSpPr txBox="1"/>
          <p:nvPr/>
        </p:nvSpPr>
        <p:spPr>
          <a:xfrm>
            <a:off x="4517136" y="5486400"/>
            <a:ext cx="3200400" cy="731520"/>
          </a:xfrm>
          <a:prstGeom prst="rect">
            <a:avLst/>
          </a:prstGeom>
          <a:noFill/>
          <a:ln/>
        </p:spPr>
        <p:txBody>
          <a:bodyPr wrap="square" lIns="0" tIns="0" rIns="0" bIns="0" rtlCol="0" anchor="t"/>
          <a:lstStyle/>
          <a:p>
            <a:pPr indent="0" marL="0">
              <a:buNone/>
            </a:pPr>
            <a:r>
              <a:rPr lang="en-US" sz="1400" dirty="0">
                <a:solidFill>
                  <a:schemeClr val="bg2"/>
                </a:solidFill>
              </a:rPr>
              <a:t>Estimated trip duration (minutes) and estimated total amount (USD)</a:t>
            </a:r>
            <a:endParaRPr lang="en-US" sz="1400" dirty="0"/>
          </a:p>
        </p:txBody>
      </p:sp>
      <p:sp>
        <p:nvSpPr>
          <p:cNvPr id="18" name="Card 592"/>
          <p:cNvSpPr/>
          <p:nvPr/>
        </p:nvSpPr>
        <p:spPr>
          <a:xfrm>
            <a:off x="8028432" y="4617720"/>
            <a:ext cx="3611880" cy="1645920"/>
          </a:xfrm>
          <a:prstGeom prst="roundRect">
            <a:avLst>
              <a:gd name="adj" fmla="val 6667"/>
            </a:avLst>
          </a:prstGeom>
          <a:solidFill>
            <a:schemeClr val="tx2"/>
          </a:solidFill>
          <a:ln w="9525">
            <a:solidFill>
              <a:schemeClr val="accent2">
                <a:alpha val="45000"/>
              </a:schemeClr>
            </a:solidFill>
            <a:prstDash val="solid"/>
          </a:ln>
        </p:spPr>
      </p:sp>
      <p:sp>
        <p:nvSpPr>
          <p:cNvPr id="19" name="Icon circle 593"/>
          <p:cNvSpPr/>
          <p:nvPr/>
        </p:nvSpPr>
        <p:spPr>
          <a:xfrm>
            <a:off x="8257032" y="4800600"/>
            <a:ext cx="548640" cy="548640"/>
          </a:xfrm>
          <a:prstGeom prst="ellipse">
            <a:avLst/>
          </a:prstGeom>
          <a:solidFill>
            <a:schemeClr val="accent2">
              <a:alpha val="28000"/>
            </a:schemeClr>
          </a:solidFill>
          <a:ln w="9525">
            <a:solidFill>
              <a:schemeClr val="accent1">
                <a:alpha val="55000"/>
              </a:schemeClr>
            </a:solidFill>
            <a:prstDash val="solid"/>
          </a:ln>
        </p:spPr>
      </p:sp>
      <p:pic>
        <p:nvPicPr>
          <p:cNvPr id="20" name="Icon 594" descr="Model">    </p:cNvPr>
          <p:cNvPicPr>
            <a:picLocks noChangeAspect="1"/>
          </p:cNvPicPr>
          <p:nvPr/>
        </p:nvPicPr>
        <p:blipFill>
          <a:blip r:embed="rId5"/>
          <a:stretch>
            <a:fillRect/>
          </a:stretch>
        </p:blipFill>
        <p:spPr>
          <a:xfrm>
            <a:off x="8394192" y="4937760"/>
            <a:ext cx="274320" cy="274320"/>
          </a:xfrm>
          <a:prstGeom prst="rect">
            <a:avLst/>
          </a:prstGeom>
        </p:spPr>
      </p:pic>
      <p:sp>
        <p:nvSpPr>
          <p:cNvPr id="21" name="Text 595"/>
          <p:cNvSpPr txBox="1"/>
          <p:nvPr/>
        </p:nvSpPr>
        <p:spPr>
          <a:xfrm>
            <a:off x="8988552" y="4892040"/>
            <a:ext cx="2468880" cy="365760"/>
          </a:xfrm>
          <a:prstGeom prst="rect">
            <a:avLst/>
          </a:prstGeom>
          <a:noFill/>
          <a:ln/>
        </p:spPr>
        <p:txBody>
          <a:bodyPr wrap="square" lIns="0" tIns="0" rIns="0" bIns="0" rtlCol="0" anchor="t"/>
          <a:lstStyle/>
          <a:p>
            <a:pPr indent="0" marL="0">
              <a:buNone/>
            </a:pPr>
            <a:r>
              <a:rPr lang="en-US" sz="1800" b="1" dirty="0">
                <a:solidFill>
                  <a:schemeClr val="bg1"/>
                </a:solidFill>
              </a:rPr>
              <a:t>Model</a:t>
            </a:r>
            <a:endParaRPr lang="en-US" sz="1800" dirty="0"/>
          </a:p>
        </p:txBody>
      </p:sp>
      <p:sp>
        <p:nvSpPr>
          <p:cNvPr id="22" name="Text 596"/>
          <p:cNvSpPr txBox="1"/>
          <p:nvPr/>
        </p:nvSpPr>
        <p:spPr>
          <a:xfrm>
            <a:off x="8257032" y="5486400"/>
            <a:ext cx="3200400" cy="731520"/>
          </a:xfrm>
          <a:prstGeom prst="rect">
            <a:avLst/>
          </a:prstGeom>
          <a:noFill/>
          <a:ln/>
        </p:spPr>
        <p:txBody>
          <a:bodyPr wrap="square" lIns="0" tIns="0" rIns="0" bIns="0" rtlCol="0" anchor="t"/>
          <a:lstStyle/>
          <a:p>
            <a:pPr indent="0" marL="0">
              <a:buNone/>
            </a:pPr>
            <a:r>
              <a:rPr lang="en-US" sz="1400" dirty="0">
                <a:solidFill>
                  <a:schemeClr val="bg2"/>
                </a:solidFill>
              </a:rPr>
              <a:t>XGBoost with 2 prediction targets and 265 input locations</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97"/>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REPOSITORY</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Project Structure</a:t>
            </a:r>
            <a:endParaRPr lang="en-US" sz="3600" dirty="0"/>
          </a:p>
        </p:txBody>
      </p:sp>
      <p:sp>
        <p:nvSpPr>
          <p:cNvPr id="4" name="Card 598"/>
          <p:cNvSpPr/>
          <p:nvPr/>
        </p:nvSpPr>
        <p:spPr>
          <a:xfrm>
            <a:off x="548640" y="1508760"/>
            <a:ext cx="5760720" cy="4754880"/>
          </a:xfrm>
          <a:prstGeom prst="roundRect">
            <a:avLst>
              <a:gd name="adj" fmla="val 2308"/>
            </a:avLst>
          </a:prstGeom>
          <a:solidFill>
            <a:schemeClr val="tx1"/>
          </a:solidFill>
          <a:ln w="9525">
            <a:solidFill>
              <a:schemeClr val="accent2">
                <a:alpha val="60000"/>
              </a:schemeClr>
            </a:solidFill>
            <a:prstDash val="solid"/>
          </a:ln>
        </p:spPr>
      </p:sp>
      <p:sp>
        <p:nvSpPr>
          <p:cNvPr id="5" name="Text 599"/>
          <p:cNvSpPr txBox="1"/>
          <p:nvPr/>
        </p:nvSpPr>
        <p:spPr>
          <a:xfrm>
            <a:off x="822960" y="1645920"/>
            <a:ext cx="5212080" cy="4526280"/>
          </a:xfrm>
          <a:prstGeom prst="rect">
            <a:avLst/>
          </a:prstGeom>
          <a:noFill/>
          <a:ln/>
        </p:spPr>
        <p:txBody>
          <a:bodyPr wrap="square" lIns="0" tIns="0" rIns="0" bIns="0" rtlCol="0" anchor="t"/>
          <a:lstStyle/>
          <a:p>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nyc-traffic-bigdata/</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airflow/</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dags/</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   └──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nyc_traffic_pipeline.py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Dockerfile</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clickhouse/</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hadoop/</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hadoop-config/</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spark/</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b="1" dirty="0">
                <a:solidFill>
                  <a:schemeClr val="accent1"/>
                </a:solidFill>
                <a:latin typeface="Courier New" pitchFamily="34" charset="0"/>
                <a:ea typeface="Courier New" pitchFamily="34" charset="-122"/>
                <a:cs typeface="Courier New" pitchFamily="34" charset="-120"/>
              </a:rPr>
              <a:t>superset/</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docker-compose.yml</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app.py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etl_clean.py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etl_clean_staging.py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prepare_mahout_data.py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prepare_xgboost_data.py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sparkml_clustering.py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train_xgboost.py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train_trip_models.py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train_trip_models_no_distance.py</a:t>
            </a:r>
            <a:endParaRPr lang="en-US" sz="1400" dirty="0"/>
          </a:p>
          <a:p>
            <a:pPr indent="0" marL="0">
              <a:lnSpc>
                <a:spcPts val="1700"/>
              </a:lnSpc>
              <a:buNone/>
            </a:pPr>
            <a:r>
              <a:rPr lang="en-US" sz="1400" dirty="0">
                <a:solidFill>
                  <a:schemeClr val="bg2"/>
                </a:solidFill>
                <a:latin typeface="Courier New" pitchFamily="34" charset="0"/>
                <a:ea typeface="Courier New" pitchFamily="34" charset="-122"/>
                <a:cs typeface="Courier New" pitchFamily="34" charset="-120"/>
              </a:rPr>
              <a:t>└── </a:t>
            </a:r>
            <a:pPr indent="0" marL="0">
              <a:lnSpc>
                <a:spcPts val="1700"/>
              </a:lnSpc>
              <a:buNone/>
            </a:pPr>
            <a:r>
              <a:rPr lang="en-US" sz="1400" dirty="0">
                <a:solidFill>
                  <a:schemeClr val="bg1"/>
                </a:solidFill>
                <a:latin typeface="Courier New" pitchFamily="34" charset="0"/>
                <a:ea typeface="Courier New" pitchFamily="34" charset="-122"/>
                <a:cs typeface="Courier New" pitchFamily="34" charset="-120"/>
              </a:rPr>
              <a:t>taxi_zone_lookup.csv</a:t>
            </a:r>
            <a:endParaRPr lang="en-US" sz="1400" dirty="0"/>
          </a:p>
        </p:txBody>
      </p:sp>
      <p:sp>
        <p:nvSpPr>
          <p:cNvPr id="6" name="Card 600"/>
          <p:cNvSpPr/>
          <p:nvPr/>
        </p:nvSpPr>
        <p:spPr>
          <a:xfrm>
            <a:off x="6583680" y="1508760"/>
            <a:ext cx="5056632" cy="1078992"/>
          </a:xfrm>
          <a:prstGeom prst="roundRect">
            <a:avLst>
              <a:gd name="adj" fmla="val 10169"/>
            </a:avLst>
          </a:prstGeom>
          <a:solidFill>
            <a:schemeClr val="tx2"/>
          </a:solidFill>
          <a:ln w="9525">
            <a:solidFill>
              <a:schemeClr val="accent2">
                <a:alpha val="45000"/>
              </a:schemeClr>
            </a:solidFill>
            <a:prstDash val="solid"/>
          </a:ln>
        </p:spPr>
      </p:sp>
      <p:sp>
        <p:nvSpPr>
          <p:cNvPr id="7" name="Icon circle 601"/>
          <p:cNvSpPr/>
          <p:nvPr/>
        </p:nvSpPr>
        <p:spPr>
          <a:xfrm>
            <a:off x="6766560" y="1783080"/>
            <a:ext cx="530352" cy="530352"/>
          </a:xfrm>
          <a:prstGeom prst="ellipse">
            <a:avLst/>
          </a:prstGeom>
          <a:solidFill>
            <a:schemeClr val="accent2">
              <a:alpha val="28000"/>
            </a:schemeClr>
          </a:solidFill>
          <a:ln w="9525">
            <a:solidFill>
              <a:schemeClr val="accent1">
                <a:alpha val="55000"/>
              </a:schemeClr>
            </a:solidFill>
            <a:prstDash val="solid"/>
          </a:ln>
        </p:spPr>
      </p:sp>
      <p:pic>
        <p:nvPicPr>
          <p:cNvPr id="8" name="Icon 602" descr="Orchestration">    </p:cNvPr>
          <p:cNvPicPr>
            <a:picLocks noChangeAspect="1"/>
          </p:cNvPicPr>
          <p:nvPr/>
        </p:nvPicPr>
        <p:blipFill>
          <a:blip r:embed="rId1"/>
          <a:stretch>
            <a:fillRect/>
          </a:stretch>
        </p:blipFill>
        <p:spPr>
          <a:xfrm>
            <a:off x="6899148" y="1915668"/>
            <a:ext cx="265176" cy="265176"/>
          </a:xfrm>
          <a:prstGeom prst="rect">
            <a:avLst/>
          </a:prstGeom>
        </p:spPr>
      </p:pic>
      <p:sp>
        <p:nvSpPr>
          <p:cNvPr id="9" name="Text 603"/>
          <p:cNvSpPr txBox="1"/>
          <p:nvPr/>
        </p:nvSpPr>
        <p:spPr>
          <a:xfrm>
            <a:off x="7498080" y="1618488"/>
            <a:ext cx="4023360" cy="274320"/>
          </a:xfrm>
          <a:prstGeom prst="rect">
            <a:avLst/>
          </a:prstGeom>
          <a:noFill/>
          <a:ln/>
        </p:spPr>
        <p:txBody>
          <a:bodyPr wrap="square" lIns="0" tIns="0" rIns="0" bIns="0" rtlCol="0" anchor="t"/>
          <a:lstStyle/>
          <a:p>
            <a:pPr indent="0" marL="0">
              <a:buNone/>
            </a:pPr>
            <a:r>
              <a:rPr lang="en-US" sz="1600" b="1" dirty="0">
                <a:solidFill>
                  <a:schemeClr val="bg1"/>
                </a:solidFill>
              </a:rPr>
              <a:t>Orchestration</a:t>
            </a:r>
            <a:endParaRPr lang="en-US" sz="1600" dirty="0"/>
          </a:p>
        </p:txBody>
      </p:sp>
      <p:sp>
        <p:nvSpPr>
          <p:cNvPr id="10" name="Text 604"/>
          <p:cNvSpPr txBox="1"/>
          <p:nvPr/>
        </p:nvSpPr>
        <p:spPr>
          <a:xfrm>
            <a:off x="7498080" y="1920240"/>
            <a:ext cx="4023360" cy="594360"/>
          </a:xfrm>
          <a:prstGeom prst="rect">
            <a:avLst/>
          </a:prstGeom>
          <a:noFill/>
          <a:ln/>
        </p:spPr>
        <p:txBody>
          <a:bodyPr wrap="square" lIns="0" tIns="0" rIns="0" bIns="0" rtlCol="0" anchor="t"/>
          <a:lstStyle/>
          <a:p>
            <a:pPr indent="0" marL="0">
              <a:buNone/>
            </a:pPr>
            <a:r>
              <a:rPr lang="en-US" sz="1300" dirty="0">
                <a:solidFill>
                  <a:schemeClr val="bg2"/>
                </a:solidFill>
              </a:rPr>
              <a:t>airflow/ with the DAG and Dockerfile</a:t>
            </a:r>
            <a:endParaRPr lang="en-US" sz="1300" dirty="0"/>
          </a:p>
        </p:txBody>
      </p:sp>
      <p:sp>
        <p:nvSpPr>
          <p:cNvPr id="11" name="Card 605"/>
          <p:cNvSpPr/>
          <p:nvPr/>
        </p:nvSpPr>
        <p:spPr>
          <a:xfrm>
            <a:off x="6583680" y="2715768"/>
            <a:ext cx="5056632" cy="1078992"/>
          </a:xfrm>
          <a:prstGeom prst="roundRect">
            <a:avLst>
              <a:gd name="adj" fmla="val 10169"/>
            </a:avLst>
          </a:prstGeom>
          <a:solidFill>
            <a:schemeClr val="tx2"/>
          </a:solidFill>
          <a:ln w="9525">
            <a:solidFill>
              <a:schemeClr val="accent2">
                <a:alpha val="45000"/>
              </a:schemeClr>
            </a:solidFill>
            <a:prstDash val="solid"/>
          </a:ln>
        </p:spPr>
      </p:sp>
      <p:sp>
        <p:nvSpPr>
          <p:cNvPr id="12" name="Icon circle 606"/>
          <p:cNvSpPr/>
          <p:nvPr/>
        </p:nvSpPr>
        <p:spPr>
          <a:xfrm>
            <a:off x="6766560" y="2990088"/>
            <a:ext cx="530352" cy="530352"/>
          </a:xfrm>
          <a:prstGeom prst="ellipse">
            <a:avLst/>
          </a:prstGeom>
          <a:solidFill>
            <a:schemeClr val="accent2">
              <a:alpha val="28000"/>
            </a:schemeClr>
          </a:solidFill>
          <a:ln w="9525">
            <a:solidFill>
              <a:schemeClr val="accent1">
                <a:alpha val="55000"/>
              </a:schemeClr>
            </a:solidFill>
            <a:prstDash val="solid"/>
          </a:ln>
        </p:spPr>
      </p:sp>
      <p:pic>
        <p:nvPicPr>
          <p:cNvPr id="13" name="Icon 607" descr="Services">    </p:cNvPr>
          <p:cNvPicPr>
            <a:picLocks noChangeAspect="1"/>
          </p:cNvPicPr>
          <p:nvPr/>
        </p:nvPicPr>
        <p:blipFill>
          <a:blip r:embed="rId2"/>
          <a:stretch>
            <a:fillRect/>
          </a:stretch>
        </p:blipFill>
        <p:spPr>
          <a:xfrm>
            <a:off x="6899148" y="3122676"/>
            <a:ext cx="265176" cy="265176"/>
          </a:xfrm>
          <a:prstGeom prst="rect">
            <a:avLst/>
          </a:prstGeom>
        </p:spPr>
      </p:pic>
      <p:sp>
        <p:nvSpPr>
          <p:cNvPr id="14" name="Text 608"/>
          <p:cNvSpPr txBox="1"/>
          <p:nvPr/>
        </p:nvSpPr>
        <p:spPr>
          <a:xfrm>
            <a:off x="7498080" y="2825496"/>
            <a:ext cx="4023360" cy="274320"/>
          </a:xfrm>
          <a:prstGeom prst="rect">
            <a:avLst/>
          </a:prstGeom>
          <a:noFill/>
          <a:ln/>
        </p:spPr>
        <p:txBody>
          <a:bodyPr wrap="square" lIns="0" tIns="0" rIns="0" bIns="0" rtlCol="0" anchor="t"/>
          <a:lstStyle/>
          <a:p>
            <a:pPr indent="0" marL="0">
              <a:buNone/>
            </a:pPr>
            <a:r>
              <a:rPr lang="en-US" sz="1600" b="1" dirty="0">
                <a:solidFill>
                  <a:schemeClr val="bg1"/>
                </a:solidFill>
              </a:rPr>
              <a:t>Services</a:t>
            </a:r>
            <a:endParaRPr lang="en-US" sz="1600" dirty="0"/>
          </a:p>
        </p:txBody>
      </p:sp>
      <p:sp>
        <p:nvSpPr>
          <p:cNvPr id="15" name="Text 609"/>
          <p:cNvSpPr txBox="1"/>
          <p:nvPr/>
        </p:nvSpPr>
        <p:spPr>
          <a:xfrm>
            <a:off x="7498080" y="3127248"/>
            <a:ext cx="4023360" cy="594360"/>
          </a:xfrm>
          <a:prstGeom prst="rect">
            <a:avLst/>
          </a:prstGeom>
          <a:noFill/>
          <a:ln/>
        </p:spPr>
        <p:txBody>
          <a:bodyPr wrap="square" lIns="0" tIns="0" rIns="0" bIns="0" rtlCol="0" anchor="t"/>
          <a:lstStyle/>
          <a:p>
            <a:pPr indent="0" marL="0">
              <a:buNone/>
            </a:pPr>
            <a:r>
              <a:rPr lang="en-US" sz="1300" dirty="0">
                <a:solidFill>
                  <a:schemeClr val="bg2"/>
                </a:solidFill>
              </a:rPr>
              <a:t>clickhouse/, hadoop/, hadoop-config/, spark/, superset/ and docker-compose.yml</a:t>
            </a:r>
            <a:endParaRPr lang="en-US" sz="1300" dirty="0"/>
          </a:p>
        </p:txBody>
      </p:sp>
      <p:sp>
        <p:nvSpPr>
          <p:cNvPr id="16" name="Card 610"/>
          <p:cNvSpPr/>
          <p:nvPr/>
        </p:nvSpPr>
        <p:spPr>
          <a:xfrm>
            <a:off x="6583680" y="3922776"/>
            <a:ext cx="5056632" cy="1078992"/>
          </a:xfrm>
          <a:prstGeom prst="roundRect">
            <a:avLst>
              <a:gd name="adj" fmla="val 10169"/>
            </a:avLst>
          </a:prstGeom>
          <a:solidFill>
            <a:schemeClr val="tx2"/>
          </a:solidFill>
          <a:ln w="9525">
            <a:solidFill>
              <a:schemeClr val="accent2">
                <a:alpha val="45000"/>
              </a:schemeClr>
            </a:solidFill>
            <a:prstDash val="solid"/>
          </a:ln>
        </p:spPr>
      </p:sp>
      <p:sp>
        <p:nvSpPr>
          <p:cNvPr id="17" name="Icon circle 611"/>
          <p:cNvSpPr/>
          <p:nvPr/>
        </p:nvSpPr>
        <p:spPr>
          <a:xfrm>
            <a:off x="6766560" y="4197096"/>
            <a:ext cx="530352" cy="530352"/>
          </a:xfrm>
          <a:prstGeom prst="ellipse">
            <a:avLst/>
          </a:prstGeom>
          <a:solidFill>
            <a:schemeClr val="accent2">
              <a:alpha val="28000"/>
            </a:schemeClr>
          </a:solidFill>
          <a:ln w="9525">
            <a:solidFill>
              <a:schemeClr val="accent1">
                <a:alpha val="55000"/>
              </a:schemeClr>
            </a:solidFill>
            <a:prstDash val="solid"/>
          </a:ln>
        </p:spPr>
      </p:sp>
      <p:pic>
        <p:nvPicPr>
          <p:cNvPr id="18" name="Icon 612" descr="ETL &amp; data">    </p:cNvPr>
          <p:cNvPicPr>
            <a:picLocks noChangeAspect="1"/>
          </p:cNvPicPr>
          <p:nvPr/>
        </p:nvPicPr>
        <p:blipFill>
          <a:blip r:embed="rId3"/>
          <a:stretch>
            <a:fillRect/>
          </a:stretch>
        </p:blipFill>
        <p:spPr>
          <a:xfrm>
            <a:off x="6899148" y="4329684"/>
            <a:ext cx="265176" cy="265176"/>
          </a:xfrm>
          <a:prstGeom prst="rect">
            <a:avLst/>
          </a:prstGeom>
        </p:spPr>
      </p:pic>
      <p:sp>
        <p:nvSpPr>
          <p:cNvPr id="19" name="Text 613"/>
          <p:cNvSpPr txBox="1"/>
          <p:nvPr/>
        </p:nvSpPr>
        <p:spPr>
          <a:xfrm>
            <a:off x="7498080" y="4032504"/>
            <a:ext cx="4023360" cy="274320"/>
          </a:xfrm>
          <a:prstGeom prst="rect">
            <a:avLst/>
          </a:prstGeom>
          <a:noFill/>
          <a:ln/>
        </p:spPr>
        <p:txBody>
          <a:bodyPr wrap="square" lIns="0" tIns="0" rIns="0" bIns="0" rtlCol="0" anchor="t"/>
          <a:lstStyle/>
          <a:p>
            <a:pPr indent="0" marL="0">
              <a:buNone/>
            </a:pPr>
            <a:r>
              <a:rPr lang="en-US" sz="1600" b="1" dirty="0">
                <a:solidFill>
                  <a:schemeClr val="bg1"/>
                </a:solidFill>
              </a:rPr>
              <a:t>ETL &amp; data</a:t>
            </a:r>
            <a:endParaRPr lang="en-US" sz="1600" dirty="0"/>
          </a:p>
        </p:txBody>
      </p:sp>
      <p:sp>
        <p:nvSpPr>
          <p:cNvPr id="20" name="Text 614"/>
          <p:cNvSpPr txBox="1"/>
          <p:nvPr/>
        </p:nvSpPr>
        <p:spPr>
          <a:xfrm>
            <a:off x="7498080" y="4334256"/>
            <a:ext cx="4023360" cy="594360"/>
          </a:xfrm>
          <a:prstGeom prst="rect">
            <a:avLst/>
          </a:prstGeom>
          <a:noFill/>
          <a:ln/>
        </p:spPr>
        <p:txBody>
          <a:bodyPr wrap="square" lIns="0" tIns="0" rIns="0" bIns="0" rtlCol="0" anchor="t"/>
          <a:lstStyle/>
          <a:p>
            <a:pPr indent="0" marL="0">
              <a:buNone/>
            </a:pPr>
            <a:r>
              <a:rPr lang="en-US" sz="1300" dirty="0">
                <a:solidFill>
                  <a:schemeClr val="bg2"/>
                </a:solidFill>
              </a:rPr>
              <a:t>etl_clean.py, etl_clean_staging.py and taxi_zone_lookup.csv</a:t>
            </a:r>
            <a:endParaRPr lang="en-US" sz="1300" dirty="0"/>
          </a:p>
        </p:txBody>
      </p:sp>
      <p:sp>
        <p:nvSpPr>
          <p:cNvPr id="21" name="Card 615"/>
          <p:cNvSpPr/>
          <p:nvPr/>
        </p:nvSpPr>
        <p:spPr>
          <a:xfrm>
            <a:off x="6583680" y="5129784"/>
            <a:ext cx="5056632" cy="1078992"/>
          </a:xfrm>
          <a:prstGeom prst="roundRect">
            <a:avLst>
              <a:gd name="adj" fmla="val 10169"/>
            </a:avLst>
          </a:prstGeom>
          <a:solidFill>
            <a:schemeClr val="tx2"/>
          </a:solidFill>
          <a:ln w="9525">
            <a:solidFill>
              <a:schemeClr val="accent2">
                <a:alpha val="45000"/>
              </a:schemeClr>
            </a:solidFill>
            <a:prstDash val="solid"/>
          </a:ln>
        </p:spPr>
      </p:sp>
      <p:sp>
        <p:nvSpPr>
          <p:cNvPr id="22" name="Icon circle 616"/>
          <p:cNvSpPr/>
          <p:nvPr/>
        </p:nvSpPr>
        <p:spPr>
          <a:xfrm>
            <a:off x="6766560" y="5404104"/>
            <a:ext cx="530352" cy="530352"/>
          </a:xfrm>
          <a:prstGeom prst="ellipse">
            <a:avLst/>
          </a:prstGeom>
          <a:solidFill>
            <a:schemeClr val="accent2">
              <a:alpha val="28000"/>
            </a:schemeClr>
          </a:solidFill>
          <a:ln w="9525">
            <a:solidFill>
              <a:schemeClr val="accent1">
                <a:alpha val="55000"/>
              </a:schemeClr>
            </a:solidFill>
            <a:prstDash val="solid"/>
          </a:ln>
        </p:spPr>
      </p:sp>
      <p:pic>
        <p:nvPicPr>
          <p:cNvPr id="23" name="Icon 617" descr="App, ML &amp; analytics">    </p:cNvPr>
          <p:cNvPicPr>
            <a:picLocks noChangeAspect="1"/>
          </p:cNvPicPr>
          <p:nvPr/>
        </p:nvPicPr>
        <p:blipFill>
          <a:blip r:embed="rId4"/>
          <a:stretch>
            <a:fillRect/>
          </a:stretch>
        </p:blipFill>
        <p:spPr>
          <a:xfrm>
            <a:off x="6899148" y="5536692"/>
            <a:ext cx="265176" cy="265176"/>
          </a:xfrm>
          <a:prstGeom prst="rect">
            <a:avLst/>
          </a:prstGeom>
        </p:spPr>
      </p:pic>
      <p:sp>
        <p:nvSpPr>
          <p:cNvPr id="24" name="Text 618"/>
          <p:cNvSpPr txBox="1"/>
          <p:nvPr/>
        </p:nvSpPr>
        <p:spPr>
          <a:xfrm>
            <a:off x="7498080" y="5239512"/>
            <a:ext cx="4023360" cy="274320"/>
          </a:xfrm>
          <a:prstGeom prst="rect">
            <a:avLst/>
          </a:prstGeom>
          <a:noFill/>
          <a:ln/>
        </p:spPr>
        <p:txBody>
          <a:bodyPr wrap="square" lIns="0" tIns="0" rIns="0" bIns="0" rtlCol="0" anchor="t"/>
          <a:lstStyle/>
          <a:p>
            <a:pPr indent="0" marL="0">
              <a:buNone/>
            </a:pPr>
            <a:r>
              <a:rPr lang="en-US" sz="1600" b="1" dirty="0">
                <a:solidFill>
                  <a:schemeClr val="bg1"/>
                </a:solidFill>
              </a:rPr>
              <a:t>App, ML &amp; analytics</a:t>
            </a:r>
            <a:endParaRPr lang="en-US" sz="1600" dirty="0"/>
          </a:p>
        </p:txBody>
      </p:sp>
      <p:sp>
        <p:nvSpPr>
          <p:cNvPr id="25" name="Text 619"/>
          <p:cNvSpPr txBox="1"/>
          <p:nvPr/>
        </p:nvSpPr>
        <p:spPr>
          <a:xfrm>
            <a:off x="7498080" y="5541264"/>
            <a:ext cx="4023360" cy="594360"/>
          </a:xfrm>
          <a:prstGeom prst="rect">
            <a:avLst/>
          </a:prstGeom>
          <a:noFill/>
          <a:ln/>
        </p:spPr>
        <p:txBody>
          <a:bodyPr wrap="square" lIns="0" tIns="0" rIns="0" bIns="0" rtlCol="0" anchor="t"/>
          <a:lstStyle/>
          <a:p>
            <a:pPr indent="0" marL="0">
              <a:buNone/>
            </a:pPr>
            <a:r>
              <a:rPr lang="en-US" sz="1300" dirty="0">
                <a:solidFill>
                  <a:schemeClr val="bg2"/>
                </a:solidFill>
              </a:rPr>
              <a:t>app.py (Streamlit), prepare_*, sparkml_clustering.py and train_* scripts</a:t>
            </a:r>
            <a:endParaRPr lang="en-US" sz="13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620"/>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LESSONS LEARNED</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Challenges &amp; Solutions</a:t>
            </a:r>
            <a:endParaRPr lang="en-US" sz="3600" dirty="0"/>
          </a:p>
        </p:txBody>
      </p:sp>
      <p:sp>
        <p:nvSpPr>
          <p:cNvPr id="4" name="Card 621"/>
          <p:cNvSpPr/>
          <p:nvPr/>
        </p:nvSpPr>
        <p:spPr>
          <a:xfrm>
            <a:off x="548640" y="1481328"/>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5" name="Text 622"/>
          <p:cNvSpPr txBox="1"/>
          <p:nvPr/>
        </p:nvSpPr>
        <p:spPr>
          <a:xfrm>
            <a:off x="777240" y="1481328"/>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Running multiple Big Data services together</a:t>
            </a:r>
            <a:endParaRPr lang="en-US" sz="1400" dirty="0"/>
          </a:p>
        </p:txBody>
      </p:sp>
      <p:sp>
        <p:nvSpPr>
          <p:cNvPr id="6" name="Connector 623"/>
          <p:cNvSpPr/>
          <p:nvPr/>
        </p:nvSpPr>
        <p:spPr>
          <a:xfrm>
            <a:off x="5349240" y="1709928"/>
            <a:ext cx="411480" cy="0"/>
          </a:xfrm>
          <a:prstGeom prst="line">
            <a:avLst/>
          </a:prstGeom>
          <a:noFill/>
          <a:ln w="22225">
            <a:solidFill>
              <a:schemeClr val="accent1"/>
            </a:solidFill>
            <a:prstDash val="solid"/>
            <a:tailEnd type="triangle"/>
          </a:ln>
        </p:spPr>
      </p:sp>
      <p:sp>
        <p:nvSpPr>
          <p:cNvPr id="7" name="Text 624"/>
          <p:cNvSpPr txBox="1"/>
          <p:nvPr/>
        </p:nvSpPr>
        <p:spPr>
          <a:xfrm>
            <a:off x="5943600" y="1481328"/>
            <a:ext cx="5577840" cy="457200"/>
          </a:xfrm>
          <a:prstGeom prst="rect">
            <a:avLst/>
          </a:prstGeom>
          <a:noFill/>
          <a:ln/>
        </p:spPr>
        <p:txBody>
          <a:bodyPr wrap="square" lIns="0" tIns="0" rIns="0" bIns="0" rtlCol="0" anchor="ctr"/>
          <a:lstStyle/>
          <a:p>
            <a:pPr indent="0" marL="0">
              <a:buNone/>
            </a:pPr>
            <a:r>
              <a:rPr lang="en-US" sz="1400" dirty="0">
                <a:solidFill>
                  <a:schemeClr val="bg2"/>
                </a:solidFill>
              </a:rPr>
              <a:t>Docker runs the whole stack as isolated services</a:t>
            </a:r>
            <a:endParaRPr lang="en-US" sz="1400" dirty="0"/>
          </a:p>
        </p:txBody>
      </p:sp>
      <p:sp>
        <p:nvSpPr>
          <p:cNvPr id="8" name="Card 625"/>
          <p:cNvSpPr/>
          <p:nvPr/>
        </p:nvSpPr>
        <p:spPr>
          <a:xfrm>
            <a:off x="548640" y="2011680"/>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9" name="Text 626"/>
          <p:cNvSpPr txBox="1"/>
          <p:nvPr/>
        </p:nvSpPr>
        <p:spPr>
          <a:xfrm>
            <a:off x="777240" y="2011680"/>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Managing Docker containers</a:t>
            </a:r>
            <a:endParaRPr lang="en-US" sz="1400" dirty="0"/>
          </a:p>
        </p:txBody>
      </p:sp>
      <p:sp>
        <p:nvSpPr>
          <p:cNvPr id="10" name="Connector 627"/>
          <p:cNvSpPr/>
          <p:nvPr/>
        </p:nvSpPr>
        <p:spPr>
          <a:xfrm>
            <a:off x="5349240" y="2240280"/>
            <a:ext cx="411480" cy="0"/>
          </a:xfrm>
          <a:prstGeom prst="line">
            <a:avLst/>
          </a:prstGeom>
          <a:noFill/>
          <a:ln w="22225">
            <a:solidFill>
              <a:schemeClr val="accent1"/>
            </a:solidFill>
            <a:prstDash val="solid"/>
            <a:tailEnd type="triangle"/>
          </a:ln>
        </p:spPr>
      </p:sp>
      <p:sp>
        <p:nvSpPr>
          <p:cNvPr id="11" name="Text 628"/>
          <p:cNvSpPr txBox="1"/>
          <p:nvPr/>
        </p:nvSpPr>
        <p:spPr>
          <a:xfrm>
            <a:off x="5943600" y="2011680"/>
            <a:ext cx="5577840" cy="457200"/>
          </a:xfrm>
          <a:prstGeom prst="rect">
            <a:avLst/>
          </a:prstGeom>
          <a:noFill/>
          <a:ln/>
        </p:spPr>
        <p:txBody>
          <a:bodyPr wrap="square" lIns="0" tIns="0" rIns="0" bIns="0" rtlCol="0" anchor="ctr"/>
          <a:lstStyle/>
          <a:p>
            <a:pPr indent="0" marL="0">
              <a:buNone/>
            </a:pPr>
            <a:r>
              <a:rPr lang="en-US" sz="1400" dirty="0">
                <a:solidFill>
                  <a:schemeClr val="bg2"/>
                </a:solidFill>
              </a:rPr>
              <a:t>A single docker-compose.yml starts and stops every service</a:t>
            </a:r>
            <a:endParaRPr lang="en-US" sz="1400" dirty="0"/>
          </a:p>
        </p:txBody>
      </p:sp>
      <p:sp>
        <p:nvSpPr>
          <p:cNvPr id="12" name="Card 629"/>
          <p:cNvSpPr/>
          <p:nvPr/>
        </p:nvSpPr>
        <p:spPr>
          <a:xfrm>
            <a:off x="548640" y="2542032"/>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13" name="Text 630"/>
          <p:cNvSpPr txBox="1"/>
          <p:nvPr/>
        </p:nvSpPr>
        <p:spPr>
          <a:xfrm>
            <a:off x="777240" y="2542032"/>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Connecting Spark with HDFS</a:t>
            </a:r>
            <a:endParaRPr lang="en-US" sz="1400" dirty="0"/>
          </a:p>
        </p:txBody>
      </p:sp>
      <p:sp>
        <p:nvSpPr>
          <p:cNvPr id="14" name="Connector 631"/>
          <p:cNvSpPr/>
          <p:nvPr/>
        </p:nvSpPr>
        <p:spPr>
          <a:xfrm>
            <a:off x="5349240" y="2770632"/>
            <a:ext cx="411480" cy="0"/>
          </a:xfrm>
          <a:prstGeom prst="line">
            <a:avLst/>
          </a:prstGeom>
          <a:noFill/>
          <a:ln w="22225">
            <a:solidFill>
              <a:schemeClr val="accent1"/>
            </a:solidFill>
            <a:prstDash val="solid"/>
            <a:tailEnd type="triangle"/>
          </a:ln>
        </p:spPr>
      </p:sp>
      <p:sp>
        <p:nvSpPr>
          <p:cNvPr id="15" name="Text 632"/>
          <p:cNvSpPr txBox="1"/>
          <p:nvPr/>
        </p:nvSpPr>
        <p:spPr>
          <a:xfrm>
            <a:off x="5943600" y="2542032"/>
            <a:ext cx="5577840" cy="457200"/>
          </a:xfrm>
          <a:prstGeom prst="rect">
            <a:avLst/>
          </a:prstGeom>
          <a:noFill/>
          <a:ln/>
        </p:spPr>
        <p:txBody>
          <a:bodyPr wrap="square" lIns="0" tIns="0" rIns="0" bIns="0" rtlCol="0" anchor="ctr"/>
          <a:lstStyle/>
          <a:p>
            <a:pPr indent="0" marL="0">
              <a:buNone/>
            </a:pPr>
            <a:r>
              <a:rPr lang="en-US" sz="1400" dirty="0">
                <a:solidFill>
                  <a:schemeClr val="bg2"/>
                </a:solidFill>
              </a:rPr>
              <a:t>Spark reads and writes hdfs:// paths on the Docker network</a:t>
            </a:r>
            <a:endParaRPr lang="en-US" sz="1400" dirty="0"/>
          </a:p>
        </p:txBody>
      </p:sp>
      <p:sp>
        <p:nvSpPr>
          <p:cNvPr id="16" name="Card 633"/>
          <p:cNvSpPr/>
          <p:nvPr/>
        </p:nvSpPr>
        <p:spPr>
          <a:xfrm>
            <a:off x="548640" y="3072384"/>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17" name="Text 634"/>
          <p:cNvSpPr txBox="1"/>
          <p:nvPr/>
        </p:nvSpPr>
        <p:spPr>
          <a:xfrm>
            <a:off x="777240" y="3072384"/>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Orchestrating ETL with Airflow</a:t>
            </a:r>
            <a:endParaRPr lang="en-US" sz="1400" dirty="0"/>
          </a:p>
        </p:txBody>
      </p:sp>
      <p:sp>
        <p:nvSpPr>
          <p:cNvPr id="18" name="Connector 635"/>
          <p:cNvSpPr/>
          <p:nvPr/>
        </p:nvSpPr>
        <p:spPr>
          <a:xfrm>
            <a:off x="5349240" y="3300984"/>
            <a:ext cx="411480" cy="0"/>
          </a:xfrm>
          <a:prstGeom prst="line">
            <a:avLst/>
          </a:prstGeom>
          <a:noFill/>
          <a:ln w="22225">
            <a:solidFill>
              <a:schemeClr val="accent1"/>
            </a:solidFill>
            <a:prstDash val="solid"/>
            <a:tailEnd type="triangle"/>
          </a:ln>
        </p:spPr>
      </p:sp>
      <p:sp>
        <p:nvSpPr>
          <p:cNvPr id="19" name="Text 636"/>
          <p:cNvSpPr txBox="1"/>
          <p:nvPr/>
        </p:nvSpPr>
        <p:spPr>
          <a:xfrm>
            <a:off x="5943600" y="3072384"/>
            <a:ext cx="5577840" cy="457200"/>
          </a:xfrm>
          <a:prstGeom prst="rect">
            <a:avLst/>
          </a:prstGeom>
          <a:noFill/>
          <a:ln/>
        </p:spPr>
        <p:txBody>
          <a:bodyPr wrap="square" lIns="0" tIns="0" rIns="0" bIns="0" rtlCol="0" anchor="ctr"/>
          <a:lstStyle/>
          <a:p>
            <a:pPr indent="0" marL="0">
              <a:buNone/>
            </a:pPr>
            <a:r>
              <a:rPr lang="en-US" sz="1400" dirty="0">
                <a:solidFill>
                  <a:schemeClr val="bg2"/>
                </a:solidFill>
              </a:rPr>
              <a:t>A DAG with pre-checks, ETL run and output validation</a:t>
            </a:r>
            <a:endParaRPr lang="en-US" sz="1400" dirty="0"/>
          </a:p>
        </p:txBody>
      </p:sp>
      <p:sp>
        <p:nvSpPr>
          <p:cNvPr id="20" name="Card 637"/>
          <p:cNvSpPr/>
          <p:nvPr/>
        </p:nvSpPr>
        <p:spPr>
          <a:xfrm>
            <a:off x="548640" y="3602736"/>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21" name="Text 638"/>
          <p:cNvSpPr txBox="1"/>
          <p:nvPr/>
        </p:nvSpPr>
        <p:spPr>
          <a:xfrm>
            <a:off x="777240" y="3602736"/>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Handling large-scale Parquet data</a:t>
            </a:r>
            <a:endParaRPr lang="en-US" sz="1400" dirty="0"/>
          </a:p>
        </p:txBody>
      </p:sp>
      <p:sp>
        <p:nvSpPr>
          <p:cNvPr id="22" name="Connector 639"/>
          <p:cNvSpPr/>
          <p:nvPr/>
        </p:nvSpPr>
        <p:spPr>
          <a:xfrm>
            <a:off x="5349240" y="3831336"/>
            <a:ext cx="411480" cy="0"/>
          </a:xfrm>
          <a:prstGeom prst="line">
            <a:avLst/>
          </a:prstGeom>
          <a:noFill/>
          <a:ln w="22225">
            <a:solidFill>
              <a:schemeClr val="accent1"/>
            </a:solidFill>
            <a:prstDash val="solid"/>
            <a:tailEnd type="triangle"/>
          </a:ln>
        </p:spPr>
      </p:sp>
      <p:sp>
        <p:nvSpPr>
          <p:cNvPr id="23" name="Text 640"/>
          <p:cNvSpPr txBox="1"/>
          <p:nvPr/>
        </p:nvSpPr>
        <p:spPr>
          <a:xfrm>
            <a:off x="5943600" y="3602736"/>
            <a:ext cx="5577840" cy="457200"/>
          </a:xfrm>
          <a:prstGeom prst="rect">
            <a:avLst/>
          </a:prstGeom>
          <a:noFill/>
          <a:ln/>
        </p:spPr>
        <p:txBody>
          <a:bodyPr wrap="square" lIns="0" tIns="0" rIns="0" bIns="0" rtlCol="0" anchor="ctr"/>
          <a:lstStyle/>
          <a:p>
            <a:pPr indent="0" marL="0">
              <a:buNone/>
            </a:pPr>
            <a:r>
              <a:rPr lang="en-US" sz="1400" dirty="0">
                <a:solidFill>
                  <a:schemeClr val="bg2"/>
                </a:solidFill>
              </a:rPr>
              <a:t>Distributed Spark processing on columnar Parquet</a:t>
            </a:r>
            <a:endParaRPr lang="en-US" sz="1400" dirty="0"/>
          </a:p>
        </p:txBody>
      </p:sp>
      <p:sp>
        <p:nvSpPr>
          <p:cNvPr id="24" name="Card 641"/>
          <p:cNvSpPr/>
          <p:nvPr/>
        </p:nvSpPr>
        <p:spPr>
          <a:xfrm>
            <a:off x="548640" y="4133088"/>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25" name="Text 642"/>
          <p:cNvSpPr txBox="1"/>
          <p:nvPr/>
        </p:nvSpPr>
        <p:spPr>
          <a:xfrm>
            <a:off x="777240" y="4133088"/>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Preparing analytical aggregations</a:t>
            </a:r>
            <a:endParaRPr lang="en-US" sz="1400" dirty="0"/>
          </a:p>
        </p:txBody>
      </p:sp>
      <p:sp>
        <p:nvSpPr>
          <p:cNvPr id="26" name="Connector 643"/>
          <p:cNvSpPr/>
          <p:nvPr/>
        </p:nvSpPr>
        <p:spPr>
          <a:xfrm>
            <a:off x="5349240" y="4361688"/>
            <a:ext cx="411480" cy="0"/>
          </a:xfrm>
          <a:prstGeom prst="line">
            <a:avLst/>
          </a:prstGeom>
          <a:noFill/>
          <a:ln w="22225">
            <a:solidFill>
              <a:schemeClr val="accent1"/>
            </a:solidFill>
            <a:prstDash val="solid"/>
            <a:tailEnd type="triangle"/>
          </a:ln>
        </p:spPr>
      </p:sp>
      <p:sp>
        <p:nvSpPr>
          <p:cNvPr id="27" name="Text 644"/>
          <p:cNvSpPr txBox="1"/>
          <p:nvPr/>
        </p:nvSpPr>
        <p:spPr>
          <a:xfrm>
            <a:off x="5943600" y="4133088"/>
            <a:ext cx="5577840" cy="457200"/>
          </a:xfrm>
          <a:prstGeom prst="rect">
            <a:avLst/>
          </a:prstGeom>
          <a:noFill/>
          <a:ln/>
        </p:spPr>
        <p:txBody>
          <a:bodyPr wrap="square" lIns="0" tIns="0" rIns="0" bIns="0" rtlCol="0" anchor="ctr"/>
          <a:lstStyle/>
          <a:p>
            <a:pPr indent="0" marL="0">
              <a:buNone/>
            </a:pPr>
            <a:r>
              <a:rPr lang="en-US" sz="1400" dirty="0">
                <a:solidFill>
                  <a:schemeClr val="bg2"/>
                </a:solidFill>
              </a:rPr>
              <a:t>Spark builds hourly zone-level aggregations (zone_hour)</a:t>
            </a:r>
            <a:endParaRPr lang="en-US" sz="1400" dirty="0"/>
          </a:p>
        </p:txBody>
      </p:sp>
      <p:sp>
        <p:nvSpPr>
          <p:cNvPr id="28" name="Card 645"/>
          <p:cNvSpPr/>
          <p:nvPr/>
        </p:nvSpPr>
        <p:spPr>
          <a:xfrm>
            <a:off x="548640" y="4663440"/>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29" name="Text 646"/>
          <p:cNvSpPr txBox="1"/>
          <p:nvPr/>
        </p:nvSpPr>
        <p:spPr>
          <a:xfrm>
            <a:off x="777240" y="4663440"/>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Connecting ClickHouse with Superset</a:t>
            </a:r>
            <a:endParaRPr lang="en-US" sz="1400" dirty="0"/>
          </a:p>
        </p:txBody>
      </p:sp>
      <p:sp>
        <p:nvSpPr>
          <p:cNvPr id="30" name="Connector 647"/>
          <p:cNvSpPr/>
          <p:nvPr/>
        </p:nvSpPr>
        <p:spPr>
          <a:xfrm>
            <a:off x="5349240" y="4892040"/>
            <a:ext cx="411480" cy="0"/>
          </a:xfrm>
          <a:prstGeom prst="line">
            <a:avLst/>
          </a:prstGeom>
          <a:noFill/>
          <a:ln w="22225">
            <a:solidFill>
              <a:schemeClr val="accent1"/>
            </a:solidFill>
            <a:prstDash val="solid"/>
            <a:tailEnd type="triangle"/>
          </a:ln>
        </p:spPr>
      </p:sp>
      <p:sp>
        <p:nvSpPr>
          <p:cNvPr id="31" name="Text 648"/>
          <p:cNvSpPr txBox="1"/>
          <p:nvPr/>
        </p:nvSpPr>
        <p:spPr>
          <a:xfrm>
            <a:off x="5943600" y="4663440"/>
            <a:ext cx="5577840" cy="457200"/>
          </a:xfrm>
          <a:prstGeom prst="rect">
            <a:avLst/>
          </a:prstGeom>
          <a:noFill/>
          <a:ln/>
        </p:spPr>
        <p:txBody>
          <a:bodyPr wrap="square" lIns="0" tIns="0" rIns="0" bIns="0" rtlCol="0" anchor="ctr"/>
          <a:lstStyle/>
          <a:p>
            <a:pPr indent="0" marL="0">
              <a:buNone/>
            </a:pPr>
            <a:r>
              <a:rPr lang="en-US" sz="1400" dirty="0">
                <a:solidFill>
                  <a:schemeClr val="bg2"/>
                </a:solidFill>
              </a:rPr>
              <a:t>ClickHouse added as a Superset database; charts on zone_hour</a:t>
            </a:r>
            <a:endParaRPr lang="en-US" sz="1400" dirty="0"/>
          </a:p>
        </p:txBody>
      </p:sp>
      <p:sp>
        <p:nvSpPr>
          <p:cNvPr id="32" name="Card 649"/>
          <p:cNvSpPr/>
          <p:nvPr/>
        </p:nvSpPr>
        <p:spPr>
          <a:xfrm>
            <a:off x="548640" y="5193792"/>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33" name="Text 650"/>
          <p:cNvSpPr txBox="1"/>
          <p:nvPr/>
        </p:nvSpPr>
        <p:spPr>
          <a:xfrm>
            <a:off x="777240" y="5193792"/>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Mapping numeric taxi zone IDs to names</a:t>
            </a:r>
            <a:endParaRPr lang="en-US" sz="1400" dirty="0"/>
          </a:p>
        </p:txBody>
      </p:sp>
      <p:sp>
        <p:nvSpPr>
          <p:cNvPr id="34" name="Connector 651"/>
          <p:cNvSpPr/>
          <p:nvPr/>
        </p:nvSpPr>
        <p:spPr>
          <a:xfrm>
            <a:off x="5349240" y="5422392"/>
            <a:ext cx="411480" cy="0"/>
          </a:xfrm>
          <a:prstGeom prst="line">
            <a:avLst/>
          </a:prstGeom>
          <a:noFill/>
          <a:ln w="22225">
            <a:solidFill>
              <a:schemeClr val="accent1"/>
            </a:solidFill>
            <a:prstDash val="solid"/>
            <a:tailEnd type="triangle"/>
          </a:ln>
        </p:spPr>
      </p:sp>
      <p:sp>
        <p:nvSpPr>
          <p:cNvPr id="35" name="Text 652"/>
          <p:cNvSpPr txBox="1"/>
          <p:nvPr/>
        </p:nvSpPr>
        <p:spPr>
          <a:xfrm>
            <a:off x="5943600" y="5193792"/>
            <a:ext cx="5577840" cy="457200"/>
          </a:xfrm>
          <a:prstGeom prst="rect">
            <a:avLst/>
          </a:prstGeom>
          <a:noFill/>
          <a:ln/>
        </p:spPr>
        <p:txBody>
          <a:bodyPr wrap="square" lIns="0" tIns="0" rIns="0" bIns="0" rtlCol="0" anchor="ctr"/>
          <a:lstStyle/>
          <a:p>
            <a:pPr indent="0" marL="0">
              <a:buNone/>
            </a:pPr>
            <a:r>
              <a:rPr lang="en-US" sz="1400" dirty="0">
                <a:solidFill>
                  <a:schemeClr val="bg2"/>
                </a:solidFill>
              </a:rPr>
              <a:t>Lookup join with taxi_zone_lookup.csv for readable names</a:t>
            </a:r>
            <a:endParaRPr lang="en-US" sz="1400" dirty="0"/>
          </a:p>
        </p:txBody>
      </p:sp>
      <p:sp>
        <p:nvSpPr>
          <p:cNvPr id="36" name="Card 653"/>
          <p:cNvSpPr/>
          <p:nvPr/>
        </p:nvSpPr>
        <p:spPr>
          <a:xfrm>
            <a:off x="548640" y="5724144"/>
            <a:ext cx="11094415" cy="457200"/>
          </a:xfrm>
          <a:prstGeom prst="roundRect">
            <a:avLst>
              <a:gd name="adj" fmla="val 20000"/>
            </a:avLst>
          </a:prstGeom>
          <a:solidFill>
            <a:schemeClr val="tx2"/>
          </a:solidFill>
          <a:ln w="9525">
            <a:solidFill>
              <a:schemeClr val="accent2">
                <a:alpha val="45000"/>
              </a:schemeClr>
            </a:solidFill>
            <a:prstDash val="solid"/>
          </a:ln>
        </p:spPr>
      </p:sp>
      <p:sp>
        <p:nvSpPr>
          <p:cNvPr id="37" name="Text 654"/>
          <p:cNvSpPr txBox="1"/>
          <p:nvPr/>
        </p:nvSpPr>
        <p:spPr>
          <a:xfrm>
            <a:off x="777240" y="5724144"/>
            <a:ext cx="4480560" cy="457200"/>
          </a:xfrm>
          <a:prstGeom prst="rect">
            <a:avLst/>
          </a:prstGeom>
          <a:noFill/>
          <a:ln/>
        </p:spPr>
        <p:txBody>
          <a:bodyPr wrap="square" lIns="0" tIns="0" rIns="0" bIns="0" rtlCol="0" anchor="ctr"/>
          <a:lstStyle/>
          <a:p>
            <a:pPr indent="0" marL="0">
              <a:buNone/>
            </a:pPr>
            <a:r>
              <a:rPr lang="en-US" sz="1400" b="1" dirty="0">
                <a:solidFill>
                  <a:schemeClr val="bg1"/>
                </a:solidFill>
              </a:rPr>
              <a:t>Building interactive dashboard filters</a:t>
            </a:r>
            <a:endParaRPr lang="en-US" sz="1400" dirty="0"/>
          </a:p>
        </p:txBody>
      </p:sp>
      <p:sp>
        <p:nvSpPr>
          <p:cNvPr id="38" name="Connector 655"/>
          <p:cNvSpPr/>
          <p:nvPr/>
        </p:nvSpPr>
        <p:spPr>
          <a:xfrm>
            <a:off x="5349240" y="5952744"/>
            <a:ext cx="411480" cy="0"/>
          </a:xfrm>
          <a:prstGeom prst="line">
            <a:avLst/>
          </a:prstGeom>
          <a:noFill/>
          <a:ln w="22225">
            <a:solidFill>
              <a:schemeClr val="accent1"/>
            </a:solidFill>
            <a:prstDash val="solid"/>
            <a:tailEnd type="triangle"/>
          </a:ln>
        </p:spPr>
      </p:sp>
      <p:sp>
        <p:nvSpPr>
          <p:cNvPr id="39" name="Text 656"/>
          <p:cNvSpPr txBox="1"/>
          <p:nvPr/>
        </p:nvSpPr>
        <p:spPr>
          <a:xfrm>
            <a:off x="5943600" y="5724144"/>
            <a:ext cx="5577840" cy="457200"/>
          </a:xfrm>
          <a:prstGeom prst="rect">
            <a:avLst/>
          </a:prstGeom>
          <a:noFill/>
          <a:ln/>
        </p:spPr>
        <p:txBody>
          <a:bodyPr wrap="square" lIns="0" tIns="0" rIns="0" bIns="0" rtlCol="0" anchor="ctr"/>
          <a:lstStyle/>
          <a:p>
            <a:pPr indent="0" marL="0">
              <a:buNone/>
            </a:pPr>
            <a:r>
              <a:rPr lang="en-US" sz="1400" dirty="0">
                <a:solidFill>
                  <a:schemeClr val="bg2"/>
                </a:solidFill>
              </a:rPr>
              <a:t>Time range, pickup hour and pickup zone filters in Superset</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57"/>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OUTCOME</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Project Results</a:t>
            </a:r>
            <a:endParaRPr lang="en-US" sz="3600" dirty="0"/>
          </a:p>
        </p:txBody>
      </p:sp>
      <p:sp>
        <p:nvSpPr>
          <p:cNvPr id="4" name="Card 658"/>
          <p:cNvSpPr/>
          <p:nvPr/>
        </p:nvSpPr>
        <p:spPr>
          <a:xfrm>
            <a:off x="548640" y="1508760"/>
            <a:ext cx="3611880" cy="1188720"/>
          </a:xfrm>
          <a:prstGeom prst="roundRect">
            <a:avLst>
              <a:gd name="adj" fmla="val 9231"/>
            </a:avLst>
          </a:prstGeom>
          <a:solidFill>
            <a:schemeClr val="tx2"/>
          </a:solidFill>
          <a:ln w="9525">
            <a:solidFill>
              <a:schemeClr val="accent1">
                <a:alpha val="60000"/>
              </a:schemeClr>
            </a:solidFill>
            <a:prstDash val="solid"/>
          </a:ln>
        </p:spPr>
      </p:sp>
      <p:sp>
        <p:nvSpPr>
          <p:cNvPr id="5" name="Text 659"/>
          <p:cNvSpPr txBox="1"/>
          <p:nvPr/>
        </p:nvSpPr>
        <p:spPr>
          <a:xfrm>
            <a:off x="822960" y="1600200"/>
            <a:ext cx="3108960" cy="640080"/>
          </a:xfrm>
          <a:prstGeom prst="rect">
            <a:avLst/>
          </a:prstGeom>
          <a:noFill/>
          <a:ln/>
        </p:spPr>
        <p:txBody>
          <a:bodyPr wrap="square" lIns="0" tIns="0" rIns="0" bIns="0" rtlCol="0" anchor="ctr"/>
          <a:lstStyle/>
          <a:p>
            <a:pPr indent="0" marL="0">
              <a:buNone/>
            </a:pPr>
            <a:r>
              <a:rPr lang="en-US" sz="3600" b="1" dirty="0">
                <a:solidFill>
                  <a:schemeClr val="accent1"/>
                </a:solidFill>
              </a:rPr>
              <a:t>≈147M</a:t>
            </a:r>
            <a:endParaRPr lang="en-US" sz="3600" dirty="0"/>
          </a:p>
        </p:txBody>
      </p:sp>
      <p:sp>
        <p:nvSpPr>
          <p:cNvPr id="6" name="Text 660"/>
          <p:cNvSpPr txBox="1"/>
          <p:nvPr/>
        </p:nvSpPr>
        <p:spPr>
          <a:xfrm>
            <a:off x="822960" y="2240280"/>
            <a:ext cx="3108960" cy="320040"/>
          </a:xfrm>
          <a:prstGeom prst="rect">
            <a:avLst/>
          </a:prstGeom>
          <a:noFill/>
          <a:ln/>
        </p:spPr>
        <p:txBody>
          <a:bodyPr wrap="square" lIns="0" tIns="0" rIns="0" bIns="0" rtlCol="0" anchor="t"/>
          <a:lstStyle/>
          <a:p>
            <a:pPr indent="0" marL="0">
              <a:buNone/>
            </a:pPr>
            <a:r>
              <a:rPr lang="en-US" sz="1400" dirty="0">
                <a:solidFill>
                  <a:schemeClr val="bg2"/>
                </a:solidFill>
              </a:rPr>
              <a:t>trips in the processed dataset</a:t>
            </a:r>
            <a:endParaRPr lang="en-US" sz="1400" dirty="0"/>
          </a:p>
        </p:txBody>
      </p:sp>
      <p:sp>
        <p:nvSpPr>
          <p:cNvPr id="7" name="Card 661"/>
          <p:cNvSpPr/>
          <p:nvPr/>
        </p:nvSpPr>
        <p:spPr>
          <a:xfrm>
            <a:off x="4288536" y="1508760"/>
            <a:ext cx="3611880" cy="1188720"/>
          </a:xfrm>
          <a:prstGeom prst="roundRect">
            <a:avLst>
              <a:gd name="adj" fmla="val 9231"/>
            </a:avLst>
          </a:prstGeom>
          <a:solidFill>
            <a:schemeClr val="tx2"/>
          </a:solidFill>
          <a:ln w="9525">
            <a:solidFill>
              <a:schemeClr val="accent1">
                <a:alpha val="60000"/>
              </a:schemeClr>
            </a:solidFill>
            <a:prstDash val="solid"/>
          </a:ln>
        </p:spPr>
      </p:sp>
      <p:sp>
        <p:nvSpPr>
          <p:cNvPr id="8" name="Text 662"/>
          <p:cNvSpPr txBox="1"/>
          <p:nvPr/>
        </p:nvSpPr>
        <p:spPr>
          <a:xfrm>
            <a:off x="4562856" y="1600200"/>
            <a:ext cx="3108960" cy="640080"/>
          </a:xfrm>
          <a:prstGeom prst="rect">
            <a:avLst/>
          </a:prstGeom>
          <a:noFill/>
          <a:ln/>
        </p:spPr>
        <p:txBody>
          <a:bodyPr wrap="square" lIns="0" tIns="0" rIns="0" bIns="0" rtlCol="0" anchor="ctr"/>
          <a:lstStyle/>
          <a:p>
            <a:pPr indent="0" marL="0">
              <a:buNone/>
            </a:pPr>
            <a:r>
              <a:rPr lang="en-US" sz="3600" b="1" dirty="0">
                <a:solidFill>
                  <a:schemeClr val="accent1"/>
                </a:solidFill>
              </a:rPr>
              <a:t>≈4.01B</a:t>
            </a:r>
            <a:endParaRPr lang="en-US" sz="3600" dirty="0"/>
          </a:p>
        </p:txBody>
      </p:sp>
      <p:sp>
        <p:nvSpPr>
          <p:cNvPr id="9" name="Text 663"/>
          <p:cNvSpPr txBox="1"/>
          <p:nvPr/>
        </p:nvSpPr>
        <p:spPr>
          <a:xfrm>
            <a:off x="4562856" y="2240280"/>
            <a:ext cx="3108960" cy="320040"/>
          </a:xfrm>
          <a:prstGeom prst="rect">
            <a:avLst/>
          </a:prstGeom>
          <a:noFill/>
          <a:ln/>
        </p:spPr>
        <p:txBody>
          <a:bodyPr wrap="square" lIns="0" tIns="0" rIns="0" bIns="0" rtlCol="0" anchor="t"/>
          <a:lstStyle/>
          <a:p>
            <a:pPr indent="0" marL="0">
              <a:buNone/>
            </a:pPr>
            <a:r>
              <a:rPr lang="en-US" sz="1400" dirty="0">
                <a:solidFill>
                  <a:schemeClr val="bg2"/>
                </a:solidFill>
              </a:rPr>
              <a:t>total revenue in the dashboard</a:t>
            </a:r>
            <a:endParaRPr lang="en-US" sz="1400" dirty="0"/>
          </a:p>
        </p:txBody>
      </p:sp>
      <p:sp>
        <p:nvSpPr>
          <p:cNvPr id="10" name="Card 664"/>
          <p:cNvSpPr/>
          <p:nvPr/>
        </p:nvSpPr>
        <p:spPr>
          <a:xfrm>
            <a:off x="8028432" y="1508760"/>
            <a:ext cx="3611880" cy="1188720"/>
          </a:xfrm>
          <a:prstGeom prst="roundRect">
            <a:avLst>
              <a:gd name="adj" fmla="val 9231"/>
            </a:avLst>
          </a:prstGeom>
          <a:solidFill>
            <a:schemeClr val="tx2"/>
          </a:solidFill>
          <a:ln w="9525">
            <a:solidFill>
              <a:schemeClr val="accent1">
                <a:alpha val="60000"/>
              </a:schemeClr>
            </a:solidFill>
            <a:prstDash val="solid"/>
          </a:ln>
        </p:spPr>
      </p:sp>
      <p:sp>
        <p:nvSpPr>
          <p:cNvPr id="11" name="Text 665"/>
          <p:cNvSpPr txBox="1"/>
          <p:nvPr/>
        </p:nvSpPr>
        <p:spPr>
          <a:xfrm>
            <a:off x="8302752" y="1600200"/>
            <a:ext cx="3108960" cy="640080"/>
          </a:xfrm>
          <a:prstGeom prst="rect">
            <a:avLst/>
          </a:prstGeom>
          <a:noFill/>
          <a:ln/>
        </p:spPr>
        <p:txBody>
          <a:bodyPr wrap="square" lIns="0" tIns="0" rIns="0" bIns="0" rtlCol="0" anchor="ctr"/>
          <a:lstStyle/>
          <a:p>
            <a:pPr indent="0" marL="0">
              <a:buNone/>
            </a:pPr>
            <a:r>
              <a:rPr lang="en-US" sz="3600" b="1" dirty="0">
                <a:solidFill>
                  <a:schemeClr val="accent1"/>
                </a:solidFill>
              </a:rPr>
              <a:t>5 tasks</a:t>
            </a:r>
            <a:endParaRPr lang="en-US" sz="3600" dirty="0"/>
          </a:p>
        </p:txBody>
      </p:sp>
      <p:sp>
        <p:nvSpPr>
          <p:cNvPr id="12" name="Text 666"/>
          <p:cNvSpPr txBox="1"/>
          <p:nvPr/>
        </p:nvSpPr>
        <p:spPr>
          <a:xfrm>
            <a:off x="8302752" y="2240280"/>
            <a:ext cx="3108960" cy="320040"/>
          </a:xfrm>
          <a:prstGeom prst="rect">
            <a:avLst/>
          </a:prstGeom>
          <a:noFill/>
          <a:ln/>
        </p:spPr>
        <p:txBody>
          <a:bodyPr wrap="square" lIns="0" tIns="0" rIns="0" bIns="0" rtlCol="0" anchor="t"/>
          <a:lstStyle/>
          <a:p>
            <a:pPr indent="0" marL="0">
              <a:buNone/>
            </a:pPr>
            <a:r>
              <a:rPr lang="en-US" sz="1400" dirty="0">
                <a:solidFill>
                  <a:schemeClr val="bg2"/>
                </a:solidFill>
              </a:rPr>
              <a:t>automated in the Airflow DAG</a:t>
            </a:r>
            <a:endParaRPr lang="en-US" sz="1400" dirty="0"/>
          </a:p>
        </p:txBody>
      </p:sp>
      <p:sp>
        <p:nvSpPr>
          <p:cNvPr id="13" name="Card 667"/>
          <p:cNvSpPr/>
          <p:nvPr/>
        </p:nvSpPr>
        <p:spPr>
          <a:xfrm>
            <a:off x="548640" y="297180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14" name="Icon circle 668"/>
          <p:cNvSpPr/>
          <p:nvPr/>
        </p:nvSpPr>
        <p:spPr>
          <a:xfrm>
            <a:off x="731520" y="3191256"/>
            <a:ext cx="512064" cy="512064"/>
          </a:xfrm>
          <a:prstGeom prst="ellipse">
            <a:avLst/>
          </a:prstGeom>
          <a:solidFill>
            <a:schemeClr val="accent2">
              <a:alpha val="28000"/>
            </a:schemeClr>
          </a:solidFill>
          <a:ln w="9525">
            <a:solidFill>
              <a:schemeClr val="accent1">
                <a:alpha val="55000"/>
              </a:schemeClr>
            </a:solidFill>
            <a:prstDash val="solid"/>
          </a:ln>
        </p:spPr>
      </p:sp>
      <p:pic>
        <p:nvPicPr>
          <p:cNvPr id="15" name="Icon 669" descr="check">    </p:cNvPr>
          <p:cNvPicPr>
            <a:picLocks noChangeAspect="1"/>
          </p:cNvPicPr>
          <p:nvPr/>
        </p:nvPicPr>
        <p:blipFill>
          <a:blip r:embed="rId1"/>
          <a:stretch>
            <a:fillRect/>
          </a:stretch>
        </p:blipFill>
        <p:spPr>
          <a:xfrm>
            <a:off x="859536" y="3319272"/>
            <a:ext cx="256032" cy="256032"/>
          </a:xfrm>
          <a:prstGeom prst="rect">
            <a:avLst/>
          </a:prstGeom>
        </p:spPr>
      </p:pic>
      <p:sp>
        <p:nvSpPr>
          <p:cNvPr id="16" name="Text 670"/>
          <p:cNvSpPr txBox="1"/>
          <p:nvPr/>
        </p:nvSpPr>
        <p:spPr>
          <a:xfrm>
            <a:off x="1417320" y="3063240"/>
            <a:ext cx="2606040" cy="777240"/>
          </a:xfrm>
          <a:prstGeom prst="rect">
            <a:avLst/>
          </a:prstGeom>
          <a:noFill/>
          <a:ln/>
        </p:spPr>
        <p:txBody>
          <a:bodyPr wrap="square" lIns="0" tIns="0" rIns="0" bIns="0" rtlCol="0" anchor="ctr"/>
          <a:lstStyle/>
          <a:p>
            <a:pPr indent="0" marL="0">
              <a:buNone/>
            </a:pPr>
            <a:r>
              <a:rPr lang="en-US" sz="1500" dirty="0">
                <a:solidFill>
                  <a:schemeClr val="bg1"/>
                </a:solidFill>
              </a:rPr>
              <a:t>End-to-end Big Data pipeline</a:t>
            </a:r>
            <a:endParaRPr lang="en-US" sz="1500" dirty="0"/>
          </a:p>
        </p:txBody>
      </p:sp>
      <p:sp>
        <p:nvSpPr>
          <p:cNvPr id="17" name="Card 671"/>
          <p:cNvSpPr/>
          <p:nvPr/>
        </p:nvSpPr>
        <p:spPr>
          <a:xfrm>
            <a:off x="4288536" y="297180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18" name="Icon circle 672"/>
          <p:cNvSpPr/>
          <p:nvPr/>
        </p:nvSpPr>
        <p:spPr>
          <a:xfrm>
            <a:off x="4471416" y="3191256"/>
            <a:ext cx="512064" cy="512064"/>
          </a:xfrm>
          <a:prstGeom prst="ellipse">
            <a:avLst/>
          </a:prstGeom>
          <a:solidFill>
            <a:schemeClr val="accent2">
              <a:alpha val="28000"/>
            </a:schemeClr>
          </a:solidFill>
          <a:ln w="9525">
            <a:solidFill>
              <a:schemeClr val="accent1">
                <a:alpha val="55000"/>
              </a:schemeClr>
            </a:solidFill>
            <a:prstDash val="solid"/>
          </a:ln>
        </p:spPr>
      </p:sp>
      <p:pic>
        <p:nvPicPr>
          <p:cNvPr id="19" name="Icon 673" descr="check">    </p:cNvPr>
          <p:cNvPicPr>
            <a:picLocks noChangeAspect="1"/>
          </p:cNvPicPr>
          <p:nvPr/>
        </p:nvPicPr>
        <p:blipFill>
          <a:blip r:embed="rId2"/>
          <a:stretch>
            <a:fillRect/>
          </a:stretch>
        </p:blipFill>
        <p:spPr>
          <a:xfrm>
            <a:off x="4599432" y="3319272"/>
            <a:ext cx="256032" cy="256032"/>
          </a:xfrm>
          <a:prstGeom prst="rect">
            <a:avLst/>
          </a:prstGeom>
        </p:spPr>
      </p:pic>
      <p:sp>
        <p:nvSpPr>
          <p:cNvPr id="20" name="Text 674"/>
          <p:cNvSpPr txBox="1"/>
          <p:nvPr/>
        </p:nvSpPr>
        <p:spPr>
          <a:xfrm>
            <a:off x="5157216" y="3063240"/>
            <a:ext cx="2606040" cy="777240"/>
          </a:xfrm>
          <a:prstGeom prst="rect">
            <a:avLst/>
          </a:prstGeom>
          <a:noFill/>
          <a:ln/>
        </p:spPr>
        <p:txBody>
          <a:bodyPr wrap="square" lIns="0" tIns="0" rIns="0" bIns="0" rtlCol="0" anchor="ctr"/>
          <a:lstStyle/>
          <a:p>
            <a:pPr indent="0" marL="0">
              <a:buNone/>
            </a:pPr>
            <a:r>
              <a:rPr lang="en-US" sz="1500" dirty="0">
                <a:solidFill>
                  <a:schemeClr val="bg1"/>
                </a:solidFill>
              </a:rPr>
              <a:t>Distributed storage using HDFS</a:t>
            </a:r>
            <a:endParaRPr lang="en-US" sz="1500" dirty="0"/>
          </a:p>
        </p:txBody>
      </p:sp>
      <p:sp>
        <p:nvSpPr>
          <p:cNvPr id="21" name="Card 675"/>
          <p:cNvSpPr/>
          <p:nvPr/>
        </p:nvSpPr>
        <p:spPr>
          <a:xfrm>
            <a:off x="8028432" y="297180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22" name="Icon circle 676"/>
          <p:cNvSpPr/>
          <p:nvPr/>
        </p:nvSpPr>
        <p:spPr>
          <a:xfrm>
            <a:off x="8211312" y="3191256"/>
            <a:ext cx="512064" cy="512064"/>
          </a:xfrm>
          <a:prstGeom prst="ellipse">
            <a:avLst/>
          </a:prstGeom>
          <a:solidFill>
            <a:schemeClr val="accent2">
              <a:alpha val="28000"/>
            </a:schemeClr>
          </a:solidFill>
          <a:ln w="9525">
            <a:solidFill>
              <a:schemeClr val="accent1">
                <a:alpha val="55000"/>
              </a:schemeClr>
            </a:solidFill>
            <a:prstDash val="solid"/>
          </a:ln>
        </p:spPr>
      </p:sp>
      <p:pic>
        <p:nvPicPr>
          <p:cNvPr id="23" name="Icon 677" descr="check">    </p:cNvPr>
          <p:cNvPicPr>
            <a:picLocks noChangeAspect="1"/>
          </p:cNvPicPr>
          <p:nvPr/>
        </p:nvPicPr>
        <p:blipFill>
          <a:blip r:embed="rId3"/>
          <a:stretch>
            <a:fillRect/>
          </a:stretch>
        </p:blipFill>
        <p:spPr>
          <a:xfrm>
            <a:off x="8339328" y="3319272"/>
            <a:ext cx="256032" cy="256032"/>
          </a:xfrm>
          <a:prstGeom prst="rect">
            <a:avLst/>
          </a:prstGeom>
        </p:spPr>
      </p:pic>
      <p:sp>
        <p:nvSpPr>
          <p:cNvPr id="24" name="Text 678"/>
          <p:cNvSpPr txBox="1"/>
          <p:nvPr/>
        </p:nvSpPr>
        <p:spPr>
          <a:xfrm>
            <a:off x="8897112" y="3063240"/>
            <a:ext cx="2606040" cy="777240"/>
          </a:xfrm>
          <a:prstGeom prst="rect">
            <a:avLst/>
          </a:prstGeom>
          <a:noFill/>
          <a:ln/>
        </p:spPr>
        <p:txBody>
          <a:bodyPr wrap="square" lIns="0" tIns="0" rIns="0" bIns="0" rtlCol="0" anchor="ctr"/>
          <a:lstStyle/>
          <a:p>
            <a:pPr indent="0" marL="0">
              <a:buNone/>
            </a:pPr>
            <a:r>
              <a:rPr lang="en-US" sz="1500" dirty="0">
                <a:solidFill>
                  <a:schemeClr val="bg1"/>
                </a:solidFill>
              </a:rPr>
              <a:t>Distributed ETL using Spark</a:t>
            </a:r>
            <a:endParaRPr lang="en-US" sz="1500" dirty="0"/>
          </a:p>
        </p:txBody>
      </p:sp>
      <p:sp>
        <p:nvSpPr>
          <p:cNvPr id="25" name="Card 679"/>
          <p:cNvSpPr/>
          <p:nvPr/>
        </p:nvSpPr>
        <p:spPr>
          <a:xfrm>
            <a:off x="548640" y="406908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26" name="Icon circle 680"/>
          <p:cNvSpPr/>
          <p:nvPr/>
        </p:nvSpPr>
        <p:spPr>
          <a:xfrm>
            <a:off x="731520" y="4288536"/>
            <a:ext cx="512064" cy="512064"/>
          </a:xfrm>
          <a:prstGeom prst="ellipse">
            <a:avLst/>
          </a:prstGeom>
          <a:solidFill>
            <a:schemeClr val="accent2">
              <a:alpha val="28000"/>
            </a:schemeClr>
          </a:solidFill>
          <a:ln w="9525">
            <a:solidFill>
              <a:schemeClr val="accent1">
                <a:alpha val="55000"/>
              </a:schemeClr>
            </a:solidFill>
            <a:prstDash val="solid"/>
          </a:ln>
        </p:spPr>
      </p:sp>
      <p:pic>
        <p:nvPicPr>
          <p:cNvPr id="27" name="Icon 681" descr="check">    </p:cNvPr>
          <p:cNvPicPr>
            <a:picLocks noChangeAspect="1"/>
          </p:cNvPicPr>
          <p:nvPr/>
        </p:nvPicPr>
        <p:blipFill>
          <a:blip r:embed="rId4"/>
          <a:stretch>
            <a:fillRect/>
          </a:stretch>
        </p:blipFill>
        <p:spPr>
          <a:xfrm>
            <a:off x="859536" y="4416552"/>
            <a:ext cx="256032" cy="256032"/>
          </a:xfrm>
          <a:prstGeom prst="rect">
            <a:avLst/>
          </a:prstGeom>
        </p:spPr>
      </p:pic>
      <p:sp>
        <p:nvSpPr>
          <p:cNvPr id="28" name="Text 682"/>
          <p:cNvSpPr txBox="1"/>
          <p:nvPr/>
        </p:nvSpPr>
        <p:spPr>
          <a:xfrm>
            <a:off x="1417320" y="4160520"/>
            <a:ext cx="2606040" cy="777240"/>
          </a:xfrm>
          <a:prstGeom prst="rect">
            <a:avLst/>
          </a:prstGeom>
          <a:noFill/>
          <a:ln/>
        </p:spPr>
        <p:txBody>
          <a:bodyPr wrap="square" lIns="0" tIns="0" rIns="0" bIns="0" rtlCol="0" anchor="ctr"/>
          <a:lstStyle/>
          <a:p>
            <a:pPr indent="0" marL="0">
              <a:buNone/>
            </a:pPr>
            <a:r>
              <a:rPr lang="en-US" sz="1500" dirty="0">
                <a:solidFill>
                  <a:schemeClr val="bg1"/>
                </a:solidFill>
              </a:rPr>
              <a:t>Automated workflow using Airflow</a:t>
            </a:r>
            <a:endParaRPr lang="en-US" sz="1500" dirty="0"/>
          </a:p>
        </p:txBody>
      </p:sp>
      <p:sp>
        <p:nvSpPr>
          <p:cNvPr id="29" name="Card 683"/>
          <p:cNvSpPr/>
          <p:nvPr/>
        </p:nvSpPr>
        <p:spPr>
          <a:xfrm>
            <a:off x="4288536" y="406908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30" name="Icon circle 684"/>
          <p:cNvSpPr/>
          <p:nvPr/>
        </p:nvSpPr>
        <p:spPr>
          <a:xfrm>
            <a:off x="4471416" y="4288536"/>
            <a:ext cx="512064" cy="512064"/>
          </a:xfrm>
          <a:prstGeom prst="ellipse">
            <a:avLst/>
          </a:prstGeom>
          <a:solidFill>
            <a:schemeClr val="accent2">
              <a:alpha val="28000"/>
            </a:schemeClr>
          </a:solidFill>
          <a:ln w="9525">
            <a:solidFill>
              <a:schemeClr val="accent1">
                <a:alpha val="55000"/>
              </a:schemeClr>
            </a:solidFill>
            <a:prstDash val="solid"/>
          </a:ln>
        </p:spPr>
      </p:sp>
      <p:pic>
        <p:nvPicPr>
          <p:cNvPr id="31" name="Icon 685" descr="check">    </p:cNvPr>
          <p:cNvPicPr>
            <a:picLocks noChangeAspect="1"/>
          </p:cNvPicPr>
          <p:nvPr/>
        </p:nvPicPr>
        <p:blipFill>
          <a:blip r:embed="rId5"/>
          <a:stretch>
            <a:fillRect/>
          </a:stretch>
        </p:blipFill>
        <p:spPr>
          <a:xfrm>
            <a:off x="4599432" y="4416552"/>
            <a:ext cx="256032" cy="256032"/>
          </a:xfrm>
          <a:prstGeom prst="rect">
            <a:avLst/>
          </a:prstGeom>
        </p:spPr>
      </p:pic>
      <p:sp>
        <p:nvSpPr>
          <p:cNvPr id="32" name="Text 686"/>
          <p:cNvSpPr txBox="1"/>
          <p:nvPr/>
        </p:nvSpPr>
        <p:spPr>
          <a:xfrm>
            <a:off x="5157216" y="4160520"/>
            <a:ext cx="2606040" cy="777240"/>
          </a:xfrm>
          <a:prstGeom prst="rect">
            <a:avLst/>
          </a:prstGeom>
          <a:noFill/>
          <a:ln/>
        </p:spPr>
        <p:txBody>
          <a:bodyPr wrap="square" lIns="0" tIns="0" rIns="0" bIns="0" rtlCol="0" anchor="ctr"/>
          <a:lstStyle/>
          <a:p>
            <a:pPr indent="0" marL="0">
              <a:buNone/>
            </a:pPr>
            <a:r>
              <a:rPr lang="en-US" sz="1500" dirty="0">
                <a:solidFill>
                  <a:schemeClr val="bg1"/>
                </a:solidFill>
              </a:rPr>
              <a:t>Analytical storage using ClickHouse</a:t>
            </a:r>
            <a:endParaRPr lang="en-US" sz="1500" dirty="0"/>
          </a:p>
        </p:txBody>
      </p:sp>
      <p:sp>
        <p:nvSpPr>
          <p:cNvPr id="33" name="Card 687"/>
          <p:cNvSpPr/>
          <p:nvPr/>
        </p:nvSpPr>
        <p:spPr>
          <a:xfrm>
            <a:off x="8028432" y="406908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34" name="Icon circle 688"/>
          <p:cNvSpPr/>
          <p:nvPr/>
        </p:nvSpPr>
        <p:spPr>
          <a:xfrm>
            <a:off x="8211312" y="4288536"/>
            <a:ext cx="512064" cy="512064"/>
          </a:xfrm>
          <a:prstGeom prst="ellipse">
            <a:avLst/>
          </a:prstGeom>
          <a:solidFill>
            <a:schemeClr val="accent2">
              <a:alpha val="28000"/>
            </a:schemeClr>
          </a:solidFill>
          <a:ln w="9525">
            <a:solidFill>
              <a:schemeClr val="accent1">
                <a:alpha val="55000"/>
              </a:schemeClr>
            </a:solidFill>
            <a:prstDash val="solid"/>
          </a:ln>
        </p:spPr>
      </p:sp>
      <p:pic>
        <p:nvPicPr>
          <p:cNvPr id="35" name="Icon 689" descr="check">    </p:cNvPr>
          <p:cNvPicPr>
            <a:picLocks noChangeAspect="1"/>
          </p:cNvPicPr>
          <p:nvPr/>
        </p:nvPicPr>
        <p:blipFill>
          <a:blip r:embed="rId6"/>
          <a:stretch>
            <a:fillRect/>
          </a:stretch>
        </p:blipFill>
        <p:spPr>
          <a:xfrm>
            <a:off x="8339328" y="4416552"/>
            <a:ext cx="256032" cy="256032"/>
          </a:xfrm>
          <a:prstGeom prst="rect">
            <a:avLst/>
          </a:prstGeom>
        </p:spPr>
      </p:pic>
      <p:sp>
        <p:nvSpPr>
          <p:cNvPr id="36" name="Text 690"/>
          <p:cNvSpPr txBox="1"/>
          <p:nvPr/>
        </p:nvSpPr>
        <p:spPr>
          <a:xfrm>
            <a:off x="8897112" y="4160520"/>
            <a:ext cx="2606040" cy="777240"/>
          </a:xfrm>
          <a:prstGeom prst="rect">
            <a:avLst/>
          </a:prstGeom>
          <a:noFill/>
          <a:ln/>
        </p:spPr>
        <p:txBody>
          <a:bodyPr wrap="square" lIns="0" tIns="0" rIns="0" bIns="0" rtlCol="0" anchor="ctr"/>
          <a:lstStyle/>
          <a:p>
            <a:pPr indent="0" marL="0">
              <a:buNone/>
            </a:pPr>
            <a:r>
              <a:rPr lang="en-US" sz="1500" dirty="0">
                <a:solidFill>
                  <a:schemeClr val="bg1"/>
                </a:solidFill>
              </a:rPr>
              <a:t>Interactive visualization using Superset</a:t>
            </a:r>
            <a:endParaRPr lang="en-US" sz="1500" dirty="0"/>
          </a:p>
        </p:txBody>
      </p:sp>
      <p:sp>
        <p:nvSpPr>
          <p:cNvPr id="37" name="Card 691"/>
          <p:cNvSpPr/>
          <p:nvPr/>
        </p:nvSpPr>
        <p:spPr>
          <a:xfrm>
            <a:off x="548640" y="516636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38" name="Icon circle 692"/>
          <p:cNvSpPr/>
          <p:nvPr/>
        </p:nvSpPr>
        <p:spPr>
          <a:xfrm>
            <a:off x="731520" y="5385816"/>
            <a:ext cx="512064" cy="512064"/>
          </a:xfrm>
          <a:prstGeom prst="ellipse">
            <a:avLst/>
          </a:prstGeom>
          <a:solidFill>
            <a:schemeClr val="accent2">
              <a:alpha val="28000"/>
            </a:schemeClr>
          </a:solidFill>
          <a:ln w="9525">
            <a:solidFill>
              <a:schemeClr val="accent1">
                <a:alpha val="55000"/>
              </a:schemeClr>
            </a:solidFill>
            <a:prstDash val="solid"/>
          </a:ln>
        </p:spPr>
      </p:sp>
      <p:pic>
        <p:nvPicPr>
          <p:cNvPr id="39" name="Icon 693" descr="check">    </p:cNvPr>
          <p:cNvPicPr>
            <a:picLocks noChangeAspect="1"/>
          </p:cNvPicPr>
          <p:nvPr/>
        </p:nvPicPr>
        <p:blipFill>
          <a:blip r:embed="rId7"/>
          <a:stretch>
            <a:fillRect/>
          </a:stretch>
        </p:blipFill>
        <p:spPr>
          <a:xfrm>
            <a:off x="859536" y="5513832"/>
            <a:ext cx="256032" cy="256032"/>
          </a:xfrm>
          <a:prstGeom prst="rect">
            <a:avLst/>
          </a:prstGeom>
        </p:spPr>
      </p:pic>
      <p:sp>
        <p:nvSpPr>
          <p:cNvPr id="40" name="Text 694"/>
          <p:cNvSpPr txBox="1"/>
          <p:nvPr/>
        </p:nvSpPr>
        <p:spPr>
          <a:xfrm>
            <a:off x="1417320" y="5257800"/>
            <a:ext cx="2606040" cy="777240"/>
          </a:xfrm>
          <a:prstGeom prst="rect">
            <a:avLst/>
          </a:prstGeom>
          <a:noFill/>
          <a:ln/>
        </p:spPr>
        <p:txBody>
          <a:bodyPr wrap="square" lIns="0" tIns="0" rIns="0" bIns="0" rtlCol="0" anchor="ctr"/>
          <a:lstStyle/>
          <a:p>
            <a:pPr indent="0" marL="0">
              <a:buNone/>
            </a:pPr>
            <a:r>
              <a:rPr lang="en-US" sz="1500" dirty="0">
                <a:solidFill>
                  <a:schemeClr val="bg1"/>
                </a:solidFill>
              </a:rPr>
              <a:t>Taxi zone name mapping</a:t>
            </a:r>
            <a:endParaRPr lang="en-US" sz="1500" dirty="0"/>
          </a:p>
        </p:txBody>
      </p:sp>
      <p:sp>
        <p:nvSpPr>
          <p:cNvPr id="41" name="Card 695"/>
          <p:cNvSpPr/>
          <p:nvPr/>
        </p:nvSpPr>
        <p:spPr>
          <a:xfrm>
            <a:off x="4288536" y="516636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42" name="Icon circle 696"/>
          <p:cNvSpPr/>
          <p:nvPr/>
        </p:nvSpPr>
        <p:spPr>
          <a:xfrm>
            <a:off x="4471416" y="5385816"/>
            <a:ext cx="512064" cy="512064"/>
          </a:xfrm>
          <a:prstGeom prst="ellipse">
            <a:avLst/>
          </a:prstGeom>
          <a:solidFill>
            <a:schemeClr val="accent2">
              <a:alpha val="28000"/>
            </a:schemeClr>
          </a:solidFill>
          <a:ln w="9525">
            <a:solidFill>
              <a:schemeClr val="accent1">
                <a:alpha val="55000"/>
              </a:schemeClr>
            </a:solidFill>
            <a:prstDash val="solid"/>
          </a:ln>
        </p:spPr>
      </p:sp>
      <p:pic>
        <p:nvPicPr>
          <p:cNvPr id="43" name="Icon 697" descr="check">    </p:cNvPr>
          <p:cNvPicPr>
            <a:picLocks noChangeAspect="1"/>
          </p:cNvPicPr>
          <p:nvPr/>
        </p:nvPicPr>
        <p:blipFill>
          <a:blip r:embed="rId8"/>
          <a:stretch>
            <a:fillRect/>
          </a:stretch>
        </p:blipFill>
        <p:spPr>
          <a:xfrm>
            <a:off x="4599432" y="5513832"/>
            <a:ext cx="256032" cy="256032"/>
          </a:xfrm>
          <a:prstGeom prst="rect">
            <a:avLst/>
          </a:prstGeom>
        </p:spPr>
      </p:pic>
      <p:sp>
        <p:nvSpPr>
          <p:cNvPr id="44" name="Text 698"/>
          <p:cNvSpPr txBox="1"/>
          <p:nvPr/>
        </p:nvSpPr>
        <p:spPr>
          <a:xfrm>
            <a:off x="5157216" y="5257800"/>
            <a:ext cx="2606040" cy="777240"/>
          </a:xfrm>
          <a:prstGeom prst="rect">
            <a:avLst/>
          </a:prstGeom>
          <a:noFill/>
          <a:ln/>
        </p:spPr>
        <p:txBody>
          <a:bodyPr wrap="square" lIns="0" tIns="0" rIns="0" bIns="0" rtlCol="0" anchor="ctr"/>
          <a:lstStyle/>
          <a:p>
            <a:pPr indent="0" marL="0">
              <a:buNone/>
            </a:pPr>
            <a:r>
              <a:rPr lang="en-US" sz="1500" dirty="0">
                <a:solidFill>
                  <a:schemeClr val="bg1"/>
                </a:solidFill>
              </a:rPr>
              <a:t>Interactive dashboard with filters</a:t>
            </a:r>
            <a:endParaRPr lang="en-US" sz="1500" dirty="0"/>
          </a:p>
        </p:txBody>
      </p:sp>
      <p:sp>
        <p:nvSpPr>
          <p:cNvPr id="45" name="Card 699"/>
          <p:cNvSpPr/>
          <p:nvPr/>
        </p:nvSpPr>
        <p:spPr>
          <a:xfrm>
            <a:off x="8028432" y="5166360"/>
            <a:ext cx="3611880" cy="960120"/>
          </a:xfrm>
          <a:prstGeom prst="roundRect">
            <a:avLst>
              <a:gd name="adj" fmla="val 11429"/>
            </a:avLst>
          </a:prstGeom>
          <a:solidFill>
            <a:schemeClr val="tx2"/>
          </a:solidFill>
          <a:ln w="9525">
            <a:solidFill>
              <a:schemeClr val="accent2">
                <a:alpha val="45000"/>
              </a:schemeClr>
            </a:solidFill>
            <a:prstDash val="solid"/>
          </a:ln>
        </p:spPr>
      </p:sp>
      <p:sp>
        <p:nvSpPr>
          <p:cNvPr id="46" name="Icon circle 700"/>
          <p:cNvSpPr/>
          <p:nvPr/>
        </p:nvSpPr>
        <p:spPr>
          <a:xfrm>
            <a:off x="8211312" y="5385816"/>
            <a:ext cx="512064" cy="512064"/>
          </a:xfrm>
          <a:prstGeom prst="ellipse">
            <a:avLst/>
          </a:prstGeom>
          <a:solidFill>
            <a:schemeClr val="accent2">
              <a:alpha val="28000"/>
            </a:schemeClr>
          </a:solidFill>
          <a:ln w="9525">
            <a:solidFill>
              <a:schemeClr val="accent1">
                <a:alpha val="55000"/>
              </a:schemeClr>
            </a:solidFill>
            <a:prstDash val="solid"/>
          </a:ln>
        </p:spPr>
      </p:sp>
      <p:pic>
        <p:nvPicPr>
          <p:cNvPr id="47" name="Icon 701" descr="check">    </p:cNvPr>
          <p:cNvPicPr>
            <a:picLocks noChangeAspect="1"/>
          </p:cNvPicPr>
          <p:nvPr/>
        </p:nvPicPr>
        <p:blipFill>
          <a:blip r:embed="rId9"/>
          <a:stretch>
            <a:fillRect/>
          </a:stretch>
        </p:blipFill>
        <p:spPr>
          <a:xfrm>
            <a:off x="8339328" y="5513832"/>
            <a:ext cx="256032" cy="256032"/>
          </a:xfrm>
          <a:prstGeom prst="rect">
            <a:avLst/>
          </a:prstGeom>
        </p:spPr>
      </p:pic>
      <p:sp>
        <p:nvSpPr>
          <p:cNvPr id="48" name="Text 702"/>
          <p:cNvSpPr txBox="1"/>
          <p:nvPr/>
        </p:nvSpPr>
        <p:spPr>
          <a:xfrm>
            <a:off x="8897112" y="5257800"/>
            <a:ext cx="2606040" cy="777240"/>
          </a:xfrm>
          <a:prstGeom prst="rect">
            <a:avLst/>
          </a:prstGeom>
          <a:noFill/>
          <a:ln/>
        </p:spPr>
        <p:txBody>
          <a:bodyPr wrap="square" lIns="0" tIns="0" rIns="0" bIns="0" rtlCol="0" anchor="ctr"/>
          <a:lstStyle/>
          <a:p>
            <a:pPr indent="0" marL="0">
              <a:buNone/>
            </a:pPr>
            <a:r>
              <a:rPr lang="en-US" sz="1500" dirty="0">
                <a:solidFill>
                  <a:schemeClr val="bg1"/>
                </a:solidFill>
              </a:rPr>
              <a:t>ML analytics and Streamlit trip predictor</a:t>
            </a:r>
            <a:endParaRPr lang="en-US" sz="15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703"/>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ROADMAP</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Future Improvements</a:t>
            </a:r>
            <a:endParaRPr lang="en-US" sz="3600" dirty="0"/>
          </a:p>
        </p:txBody>
      </p:sp>
      <p:sp>
        <p:nvSpPr>
          <p:cNvPr id="4" name="Card 704"/>
          <p:cNvSpPr/>
          <p:nvPr/>
        </p:nvSpPr>
        <p:spPr>
          <a:xfrm>
            <a:off x="548640" y="1508760"/>
            <a:ext cx="2651760" cy="4754880"/>
          </a:xfrm>
          <a:prstGeom prst="roundRect">
            <a:avLst>
              <a:gd name="adj" fmla="val 4138"/>
            </a:avLst>
          </a:prstGeom>
          <a:solidFill>
            <a:schemeClr val="tx2"/>
          </a:solidFill>
          <a:ln w="9525">
            <a:solidFill>
              <a:schemeClr val="accent2">
                <a:alpha val="45000"/>
              </a:schemeClr>
            </a:solidFill>
            <a:prstDash val="solid"/>
          </a:ln>
        </p:spPr>
      </p:sp>
      <p:sp>
        <p:nvSpPr>
          <p:cNvPr id="5" name="Icon circle 705"/>
          <p:cNvSpPr/>
          <p:nvPr/>
        </p:nvSpPr>
        <p:spPr>
          <a:xfrm>
            <a:off x="822960" y="1783080"/>
            <a:ext cx="731520" cy="731520"/>
          </a:xfrm>
          <a:prstGeom prst="ellipse">
            <a:avLst/>
          </a:prstGeom>
          <a:solidFill>
            <a:schemeClr val="accent2">
              <a:alpha val="28000"/>
            </a:schemeClr>
          </a:solidFill>
          <a:ln w="9525">
            <a:solidFill>
              <a:schemeClr val="accent1">
                <a:alpha val="55000"/>
              </a:schemeClr>
            </a:solidFill>
            <a:prstDash val="solid"/>
          </a:ln>
        </p:spPr>
      </p:sp>
      <p:pic>
        <p:nvPicPr>
          <p:cNvPr id="6" name="Icon 706" descr="Real-time">    </p:cNvPr>
          <p:cNvPicPr>
            <a:picLocks noChangeAspect="1"/>
          </p:cNvPicPr>
          <p:nvPr/>
        </p:nvPicPr>
        <p:blipFill>
          <a:blip r:embed="rId1"/>
          <a:stretch>
            <a:fillRect/>
          </a:stretch>
        </p:blipFill>
        <p:spPr>
          <a:xfrm>
            <a:off x="1005840" y="1965960"/>
            <a:ext cx="365760" cy="365760"/>
          </a:xfrm>
          <a:prstGeom prst="rect">
            <a:avLst/>
          </a:prstGeom>
        </p:spPr>
      </p:pic>
      <p:sp>
        <p:nvSpPr>
          <p:cNvPr id="7" name="Text 707"/>
          <p:cNvSpPr txBox="1"/>
          <p:nvPr/>
        </p:nvSpPr>
        <p:spPr>
          <a:xfrm>
            <a:off x="822960" y="2743200"/>
            <a:ext cx="2194560" cy="640080"/>
          </a:xfrm>
          <a:prstGeom prst="rect">
            <a:avLst/>
          </a:prstGeom>
          <a:noFill/>
          <a:ln/>
        </p:spPr>
        <p:txBody>
          <a:bodyPr wrap="square" lIns="0" tIns="0" rIns="0" bIns="0" rtlCol="0" anchor="t"/>
          <a:lstStyle/>
          <a:p>
            <a:pPr indent="0" marL="0">
              <a:buNone/>
            </a:pPr>
            <a:r>
              <a:rPr lang="en-US" sz="2000" b="1" dirty="0">
                <a:solidFill>
                  <a:schemeClr val="bg1"/>
                </a:solidFill>
              </a:rPr>
              <a:t>Real-time</a:t>
            </a:r>
            <a:endParaRPr lang="en-US" sz="2000" dirty="0"/>
          </a:p>
        </p:txBody>
      </p:sp>
      <p:sp>
        <p:nvSpPr>
          <p:cNvPr id="8" name="Text 708"/>
          <p:cNvSpPr txBox="1"/>
          <p:nvPr/>
        </p:nvSpPr>
        <p:spPr>
          <a:xfrm>
            <a:off x="822960" y="3520440"/>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Real-time streaming using Kafka</a:t>
            </a:r>
            <a:endParaRPr lang="en-US" sz="1500" dirty="0"/>
          </a:p>
          <a:p>
            <a:pPr marL="342900" indent="-342900">
              <a:spcAft>
                <a:spcPts val="1000"/>
              </a:spcAft>
              <a:buSzPct val="100000"/>
              <a:buChar char="•"/>
            </a:pPr>
            <a:r>
              <a:rPr lang="en-US" sz="1500" dirty="0">
                <a:solidFill>
                  <a:schemeClr val="bg2"/>
                </a:solidFill>
              </a:rPr>
              <a:t>Real-time dashboards</a:t>
            </a:r>
            <a:endParaRPr lang="en-US" sz="1500" dirty="0"/>
          </a:p>
        </p:txBody>
      </p:sp>
      <p:sp>
        <p:nvSpPr>
          <p:cNvPr id="9" name="Card 709"/>
          <p:cNvSpPr/>
          <p:nvPr/>
        </p:nvSpPr>
        <p:spPr>
          <a:xfrm>
            <a:off x="3355848" y="1508760"/>
            <a:ext cx="2651760" cy="4754880"/>
          </a:xfrm>
          <a:prstGeom prst="roundRect">
            <a:avLst>
              <a:gd name="adj" fmla="val 4138"/>
            </a:avLst>
          </a:prstGeom>
          <a:solidFill>
            <a:schemeClr val="tx2"/>
          </a:solidFill>
          <a:ln w="9525">
            <a:solidFill>
              <a:schemeClr val="accent2">
                <a:alpha val="45000"/>
              </a:schemeClr>
            </a:solidFill>
            <a:prstDash val="solid"/>
          </a:ln>
        </p:spPr>
      </p:sp>
      <p:sp>
        <p:nvSpPr>
          <p:cNvPr id="10" name="Icon circle 710"/>
          <p:cNvSpPr/>
          <p:nvPr/>
        </p:nvSpPr>
        <p:spPr>
          <a:xfrm>
            <a:off x="3630168" y="1783080"/>
            <a:ext cx="731520" cy="731520"/>
          </a:xfrm>
          <a:prstGeom prst="ellipse">
            <a:avLst/>
          </a:prstGeom>
          <a:solidFill>
            <a:schemeClr val="accent2">
              <a:alpha val="28000"/>
            </a:schemeClr>
          </a:solidFill>
          <a:ln w="9525">
            <a:solidFill>
              <a:schemeClr val="accent1">
                <a:alpha val="55000"/>
              </a:schemeClr>
            </a:solidFill>
            <a:prstDash val="solid"/>
          </a:ln>
        </p:spPr>
      </p:sp>
      <p:pic>
        <p:nvPicPr>
          <p:cNvPr id="11" name="Icon 711" descr="Machine learning">    </p:cNvPr>
          <p:cNvPicPr>
            <a:picLocks noChangeAspect="1"/>
          </p:cNvPicPr>
          <p:nvPr/>
        </p:nvPicPr>
        <p:blipFill>
          <a:blip r:embed="rId2"/>
          <a:stretch>
            <a:fillRect/>
          </a:stretch>
        </p:blipFill>
        <p:spPr>
          <a:xfrm>
            <a:off x="3813048" y="1965960"/>
            <a:ext cx="365760" cy="365760"/>
          </a:xfrm>
          <a:prstGeom prst="rect">
            <a:avLst/>
          </a:prstGeom>
        </p:spPr>
      </p:pic>
      <p:sp>
        <p:nvSpPr>
          <p:cNvPr id="12" name="Text 712"/>
          <p:cNvSpPr txBox="1"/>
          <p:nvPr/>
        </p:nvSpPr>
        <p:spPr>
          <a:xfrm>
            <a:off x="3630168" y="2743200"/>
            <a:ext cx="2194560" cy="640080"/>
          </a:xfrm>
          <a:prstGeom prst="rect">
            <a:avLst/>
          </a:prstGeom>
          <a:noFill/>
          <a:ln/>
        </p:spPr>
        <p:txBody>
          <a:bodyPr wrap="square" lIns="0" tIns="0" rIns="0" bIns="0" rtlCol="0" anchor="t"/>
          <a:lstStyle/>
          <a:p>
            <a:pPr indent="0" marL="0">
              <a:buNone/>
            </a:pPr>
            <a:r>
              <a:rPr lang="en-US" sz="2000" b="1" dirty="0">
                <a:solidFill>
                  <a:schemeClr val="bg1"/>
                </a:solidFill>
              </a:rPr>
              <a:t>Machine learning</a:t>
            </a:r>
            <a:endParaRPr lang="en-US" sz="2000" dirty="0"/>
          </a:p>
        </p:txBody>
      </p:sp>
      <p:sp>
        <p:nvSpPr>
          <p:cNvPr id="13" name="Text 713"/>
          <p:cNvSpPr txBox="1"/>
          <p:nvPr/>
        </p:nvSpPr>
        <p:spPr>
          <a:xfrm>
            <a:off x="3630168" y="3520440"/>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More advanced machine learning models</a:t>
            </a:r>
            <a:endParaRPr lang="en-US" sz="1500" dirty="0"/>
          </a:p>
          <a:p>
            <a:pPr marL="342900" indent="-342900">
              <a:spcAft>
                <a:spcPts val="1000"/>
              </a:spcAft>
              <a:buSzPct val="100000"/>
              <a:buChar char="•"/>
            </a:pPr>
            <a:r>
              <a:rPr lang="en-US" sz="1500" dirty="0">
                <a:solidFill>
                  <a:schemeClr val="bg2"/>
                </a:solidFill>
              </a:rPr>
              <a:t>Automated model retraining</a:t>
            </a:r>
            <a:endParaRPr lang="en-US" sz="1500" dirty="0"/>
          </a:p>
        </p:txBody>
      </p:sp>
      <p:sp>
        <p:nvSpPr>
          <p:cNvPr id="14" name="Card 714"/>
          <p:cNvSpPr/>
          <p:nvPr/>
        </p:nvSpPr>
        <p:spPr>
          <a:xfrm>
            <a:off x="6163056" y="1508760"/>
            <a:ext cx="2651760" cy="4754880"/>
          </a:xfrm>
          <a:prstGeom prst="roundRect">
            <a:avLst>
              <a:gd name="adj" fmla="val 4138"/>
            </a:avLst>
          </a:prstGeom>
          <a:solidFill>
            <a:schemeClr val="tx2"/>
          </a:solidFill>
          <a:ln w="9525">
            <a:solidFill>
              <a:schemeClr val="accent2">
                <a:alpha val="45000"/>
              </a:schemeClr>
            </a:solidFill>
            <a:prstDash val="solid"/>
          </a:ln>
        </p:spPr>
      </p:sp>
      <p:sp>
        <p:nvSpPr>
          <p:cNvPr id="15" name="Icon circle 715"/>
          <p:cNvSpPr/>
          <p:nvPr/>
        </p:nvSpPr>
        <p:spPr>
          <a:xfrm>
            <a:off x="6437376" y="1783080"/>
            <a:ext cx="731520" cy="731520"/>
          </a:xfrm>
          <a:prstGeom prst="ellipse">
            <a:avLst/>
          </a:prstGeom>
          <a:solidFill>
            <a:schemeClr val="accent2">
              <a:alpha val="28000"/>
            </a:schemeClr>
          </a:solidFill>
          <a:ln w="9525">
            <a:solidFill>
              <a:schemeClr val="accent1">
                <a:alpha val="55000"/>
              </a:schemeClr>
            </a:solidFill>
            <a:prstDash val="solid"/>
          </a:ln>
        </p:spPr>
      </p:sp>
      <p:pic>
        <p:nvPicPr>
          <p:cNvPr id="16" name="Icon 716" descr="Data &amp; visualization">    </p:cNvPr>
          <p:cNvPicPr>
            <a:picLocks noChangeAspect="1"/>
          </p:cNvPicPr>
          <p:nvPr/>
        </p:nvPicPr>
        <p:blipFill>
          <a:blip r:embed="rId3"/>
          <a:stretch>
            <a:fillRect/>
          </a:stretch>
        </p:blipFill>
        <p:spPr>
          <a:xfrm>
            <a:off x="6620256" y="1965960"/>
            <a:ext cx="365760" cy="365760"/>
          </a:xfrm>
          <a:prstGeom prst="rect">
            <a:avLst/>
          </a:prstGeom>
        </p:spPr>
      </p:pic>
      <p:sp>
        <p:nvSpPr>
          <p:cNvPr id="17" name="Text 717"/>
          <p:cNvSpPr txBox="1"/>
          <p:nvPr/>
        </p:nvSpPr>
        <p:spPr>
          <a:xfrm>
            <a:off x="6437376" y="2743200"/>
            <a:ext cx="2194560" cy="640080"/>
          </a:xfrm>
          <a:prstGeom prst="rect">
            <a:avLst/>
          </a:prstGeom>
          <a:noFill/>
          <a:ln/>
        </p:spPr>
        <p:txBody>
          <a:bodyPr wrap="square" lIns="0" tIns="0" rIns="0" bIns="0" rtlCol="0" anchor="t"/>
          <a:lstStyle/>
          <a:p>
            <a:pPr indent="0" marL="0">
              <a:buNone/>
            </a:pPr>
            <a:r>
              <a:rPr lang="en-US" sz="2000" b="1" dirty="0">
                <a:solidFill>
                  <a:schemeClr val="bg1"/>
                </a:solidFill>
              </a:rPr>
              <a:t>Data &amp; visualization</a:t>
            </a:r>
            <a:endParaRPr lang="en-US" sz="2000" dirty="0"/>
          </a:p>
        </p:txBody>
      </p:sp>
      <p:sp>
        <p:nvSpPr>
          <p:cNvPr id="18" name="Text 718"/>
          <p:cNvSpPr txBox="1"/>
          <p:nvPr/>
        </p:nvSpPr>
        <p:spPr>
          <a:xfrm>
            <a:off x="6437376" y="3520440"/>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Geographic visualization using NYC maps</a:t>
            </a:r>
            <a:endParaRPr lang="en-US" sz="1500" dirty="0"/>
          </a:p>
          <a:p>
            <a:pPr marL="342900" indent="-342900">
              <a:spcAft>
                <a:spcPts val="1000"/>
              </a:spcAft>
              <a:buSzPct val="100000"/>
              <a:buChar char="•"/>
            </a:pPr>
            <a:r>
              <a:rPr lang="en-US" sz="1500" dirty="0">
                <a:solidFill>
                  <a:schemeClr val="bg2"/>
                </a:solidFill>
              </a:rPr>
              <a:t>Additional traffic and mobility datasets</a:t>
            </a:r>
            <a:endParaRPr lang="en-US" sz="1500" dirty="0"/>
          </a:p>
        </p:txBody>
      </p:sp>
      <p:sp>
        <p:nvSpPr>
          <p:cNvPr id="19" name="Card 719"/>
          <p:cNvSpPr/>
          <p:nvPr/>
        </p:nvSpPr>
        <p:spPr>
          <a:xfrm>
            <a:off x="8970264" y="1508760"/>
            <a:ext cx="2651760" cy="4754880"/>
          </a:xfrm>
          <a:prstGeom prst="roundRect">
            <a:avLst>
              <a:gd name="adj" fmla="val 4138"/>
            </a:avLst>
          </a:prstGeom>
          <a:solidFill>
            <a:schemeClr val="tx2"/>
          </a:solidFill>
          <a:ln w="9525">
            <a:solidFill>
              <a:schemeClr val="accent2">
                <a:alpha val="45000"/>
              </a:schemeClr>
            </a:solidFill>
            <a:prstDash val="solid"/>
          </a:ln>
        </p:spPr>
      </p:sp>
      <p:sp>
        <p:nvSpPr>
          <p:cNvPr id="20" name="Icon circle 720"/>
          <p:cNvSpPr/>
          <p:nvPr/>
        </p:nvSpPr>
        <p:spPr>
          <a:xfrm>
            <a:off x="9244584" y="1783080"/>
            <a:ext cx="731520" cy="731520"/>
          </a:xfrm>
          <a:prstGeom prst="ellipse">
            <a:avLst/>
          </a:prstGeom>
          <a:solidFill>
            <a:schemeClr val="accent2">
              <a:alpha val="28000"/>
            </a:schemeClr>
          </a:solidFill>
          <a:ln w="9525">
            <a:solidFill>
              <a:schemeClr val="accent1">
                <a:alpha val="55000"/>
              </a:schemeClr>
            </a:solidFill>
            <a:prstDash val="solid"/>
          </a:ln>
        </p:spPr>
      </p:sp>
      <p:pic>
        <p:nvPicPr>
          <p:cNvPr id="21" name="Icon 721" descr="Deployment">    </p:cNvPr>
          <p:cNvPicPr>
            <a:picLocks noChangeAspect="1"/>
          </p:cNvPicPr>
          <p:nvPr/>
        </p:nvPicPr>
        <p:blipFill>
          <a:blip r:embed="rId4"/>
          <a:stretch>
            <a:fillRect/>
          </a:stretch>
        </p:blipFill>
        <p:spPr>
          <a:xfrm>
            <a:off x="9427464" y="1965960"/>
            <a:ext cx="365760" cy="365760"/>
          </a:xfrm>
          <a:prstGeom prst="rect">
            <a:avLst/>
          </a:prstGeom>
        </p:spPr>
      </p:pic>
      <p:sp>
        <p:nvSpPr>
          <p:cNvPr id="22" name="Text 722"/>
          <p:cNvSpPr txBox="1"/>
          <p:nvPr/>
        </p:nvSpPr>
        <p:spPr>
          <a:xfrm>
            <a:off x="9244584" y="2743200"/>
            <a:ext cx="2194560" cy="640080"/>
          </a:xfrm>
          <a:prstGeom prst="rect">
            <a:avLst/>
          </a:prstGeom>
          <a:noFill/>
          <a:ln/>
        </p:spPr>
        <p:txBody>
          <a:bodyPr wrap="square" lIns="0" tIns="0" rIns="0" bIns="0" rtlCol="0" anchor="t"/>
          <a:lstStyle/>
          <a:p>
            <a:pPr indent="0" marL="0">
              <a:buNone/>
            </a:pPr>
            <a:r>
              <a:rPr lang="en-US" sz="2000" b="1" dirty="0">
                <a:solidFill>
                  <a:schemeClr val="bg1"/>
                </a:solidFill>
              </a:rPr>
              <a:t>Deployment</a:t>
            </a:r>
            <a:endParaRPr lang="en-US" sz="2000" dirty="0"/>
          </a:p>
        </p:txBody>
      </p:sp>
      <p:sp>
        <p:nvSpPr>
          <p:cNvPr id="23" name="Text 723"/>
          <p:cNvSpPr txBox="1"/>
          <p:nvPr/>
        </p:nvSpPr>
        <p:spPr>
          <a:xfrm>
            <a:off x="9244584" y="3520440"/>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2"/>
                </a:solidFill>
              </a:rPr>
              <a:t>Cloud deployment</a:t>
            </a:r>
            <a:endParaRPr lang="en-US" sz="15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724"/>
          <p:cNvSpPr txBox="1"/>
          <p:nvPr/>
        </p:nvSpPr>
        <p:spPr>
          <a:xfrm>
            <a:off x="548640" y="292608"/>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TEAM</a:t>
            </a:r>
            <a:endParaRPr lang="en-US" sz="1200" dirty="0"/>
          </a:p>
        </p:txBody>
      </p:sp>
      <p:sp>
        <p:nvSpPr>
          <p:cNvPr id="3" name="Text 1"/>
          <p:cNvSpPr/>
          <p:nvPr>
            <p:ph idx="101"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600" b="1" dirty="0">
                <a:solidFill>
                  <a:schemeClr val="bg1"/>
                </a:solidFill>
              </a:rPr>
              <a:t>Team &amp; Instructor</a:t>
            </a:r>
            <a:endParaRPr lang="en-US" sz="3600" dirty="0"/>
          </a:p>
        </p:txBody>
      </p:sp>
      <p:sp>
        <p:nvSpPr>
          <p:cNvPr id="4" name="Card 725"/>
          <p:cNvSpPr/>
          <p:nvPr/>
        </p:nvSpPr>
        <p:spPr>
          <a:xfrm>
            <a:off x="548640" y="1508760"/>
            <a:ext cx="2697480" cy="2514600"/>
          </a:xfrm>
          <a:prstGeom prst="roundRect">
            <a:avLst>
              <a:gd name="adj" fmla="val 4364"/>
            </a:avLst>
          </a:prstGeom>
          <a:solidFill>
            <a:schemeClr val="tx2"/>
          </a:solidFill>
          <a:ln w="9525">
            <a:solidFill>
              <a:schemeClr val="accent2">
                <a:alpha val="45000"/>
              </a:schemeClr>
            </a:solidFill>
            <a:prstDash val="solid"/>
          </a:ln>
        </p:spPr>
      </p:sp>
      <p:sp>
        <p:nvSpPr>
          <p:cNvPr id="5" name="Avatar 726"/>
          <p:cNvSpPr/>
          <p:nvPr/>
        </p:nvSpPr>
        <p:spPr>
          <a:xfrm>
            <a:off x="1344168" y="1783080"/>
            <a:ext cx="1097280" cy="1097280"/>
          </a:xfrm>
          <a:prstGeom prst="ellipse">
            <a:avLst/>
          </a:prstGeom>
          <a:solidFill>
            <a:schemeClr val="accent2">
              <a:alpha val="40000"/>
            </a:schemeClr>
          </a:solidFill>
          <a:ln w="15875">
            <a:solidFill>
              <a:schemeClr val="accent1">
                <a:alpha val="80000"/>
              </a:schemeClr>
            </a:solidFill>
            <a:prstDash val="solid"/>
          </a:ln>
        </p:spPr>
      </p:sp>
      <p:sp>
        <p:nvSpPr>
          <p:cNvPr id="6" name="Text 727"/>
          <p:cNvSpPr txBox="1"/>
          <p:nvPr/>
        </p:nvSpPr>
        <p:spPr>
          <a:xfrm>
            <a:off x="1344168" y="1783080"/>
            <a:ext cx="1097280" cy="1097280"/>
          </a:xfrm>
          <a:prstGeom prst="rect">
            <a:avLst/>
          </a:prstGeom>
          <a:noFill/>
          <a:ln/>
        </p:spPr>
        <p:txBody>
          <a:bodyPr wrap="square" lIns="0" tIns="0" rIns="0" bIns="0" rtlCol="0" anchor="ctr"/>
          <a:lstStyle/>
          <a:p>
            <a:pPr algn="ctr" indent="0" marL="0">
              <a:buNone/>
            </a:pPr>
            <a:r>
              <a:rPr lang="en-US" sz="2800" b="1" dirty="0">
                <a:solidFill>
                  <a:schemeClr val="bg1"/>
                </a:solidFill>
              </a:rPr>
              <a:t>FS</a:t>
            </a:r>
            <a:endParaRPr lang="en-US" sz="2800" dirty="0"/>
          </a:p>
        </p:txBody>
      </p:sp>
      <p:sp>
        <p:nvSpPr>
          <p:cNvPr id="7" name="Text 728"/>
          <p:cNvSpPr txBox="1"/>
          <p:nvPr/>
        </p:nvSpPr>
        <p:spPr>
          <a:xfrm>
            <a:off x="548640" y="3017520"/>
            <a:ext cx="2697480" cy="365760"/>
          </a:xfrm>
          <a:prstGeom prst="rect">
            <a:avLst/>
          </a:prstGeom>
          <a:noFill/>
          <a:ln/>
        </p:spPr>
        <p:txBody>
          <a:bodyPr wrap="square" lIns="0" tIns="0" rIns="0" bIns="0" rtlCol="0" anchor="t"/>
          <a:lstStyle/>
          <a:p>
            <a:pPr algn="ctr" indent="0" marL="0">
              <a:buNone/>
            </a:pPr>
            <a:r>
              <a:rPr lang="en-US" sz="2000" b="1" dirty="0">
                <a:solidFill>
                  <a:schemeClr val="bg1"/>
                </a:solidFill>
              </a:rPr>
              <a:t>Farouk Sameh</a:t>
            </a:r>
            <a:endParaRPr lang="en-US" sz="2000" dirty="0"/>
          </a:p>
        </p:txBody>
      </p:sp>
      <p:sp>
        <p:nvSpPr>
          <p:cNvPr id="8" name="Text 729"/>
          <p:cNvSpPr txBox="1"/>
          <p:nvPr/>
        </p:nvSpPr>
        <p:spPr>
          <a:xfrm>
            <a:off x="548640" y="3429000"/>
            <a:ext cx="2697480" cy="274320"/>
          </a:xfrm>
          <a:prstGeom prst="rect">
            <a:avLst/>
          </a:prstGeom>
          <a:noFill/>
          <a:ln/>
        </p:spPr>
        <p:txBody>
          <a:bodyPr wrap="square" lIns="0" tIns="0" rIns="0" bIns="0" rtlCol="0" anchor="t"/>
          <a:lstStyle/>
          <a:p>
            <a:pPr algn="ctr" indent="0" marL="0">
              <a:buNone/>
            </a:pPr>
            <a:r>
              <a:rPr lang="en-US" sz="1400" dirty="0">
                <a:solidFill>
                  <a:schemeClr val="accent1"/>
                </a:solidFill>
              </a:rPr>
              <a:t>Project team</a:t>
            </a:r>
            <a:endParaRPr lang="en-US" sz="1400" dirty="0"/>
          </a:p>
        </p:txBody>
      </p:sp>
      <p:sp>
        <p:nvSpPr>
          <p:cNvPr id="9" name="Card 730"/>
          <p:cNvSpPr/>
          <p:nvPr/>
        </p:nvSpPr>
        <p:spPr>
          <a:xfrm>
            <a:off x="3364992" y="1508760"/>
            <a:ext cx="2697480" cy="2514600"/>
          </a:xfrm>
          <a:prstGeom prst="roundRect">
            <a:avLst>
              <a:gd name="adj" fmla="val 4364"/>
            </a:avLst>
          </a:prstGeom>
          <a:solidFill>
            <a:schemeClr val="tx2"/>
          </a:solidFill>
          <a:ln w="9525">
            <a:solidFill>
              <a:schemeClr val="accent2">
                <a:alpha val="45000"/>
              </a:schemeClr>
            </a:solidFill>
            <a:prstDash val="solid"/>
          </a:ln>
        </p:spPr>
      </p:sp>
      <p:sp>
        <p:nvSpPr>
          <p:cNvPr id="10" name="Avatar 731"/>
          <p:cNvSpPr/>
          <p:nvPr/>
        </p:nvSpPr>
        <p:spPr>
          <a:xfrm>
            <a:off x="4160520" y="1783080"/>
            <a:ext cx="1097280" cy="1097280"/>
          </a:xfrm>
          <a:prstGeom prst="ellipse">
            <a:avLst/>
          </a:prstGeom>
          <a:solidFill>
            <a:schemeClr val="accent2">
              <a:alpha val="40000"/>
            </a:schemeClr>
          </a:solidFill>
          <a:ln w="15875">
            <a:solidFill>
              <a:schemeClr val="accent1">
                <a:alpha val="80000"/>
              </a:schemeClr>
            </a:solidFill>
            <a:prstDash val="solid"/>
          </a:ln>
        </p:spPr>
      </p:sp>
      <p:sp>
        <p:nvSpPr>
          <p:cNvPr id="11" name="Text 732"/>
          <p:cNvSpPr txBox="1"/>
          <p:nvPr/>
        </p:nvSpPr>
        <p:spPr>
          <a:xfrm>
            <a:off x="4160520" y="1783080"/>
            <a:ext cx="1097280" cy="1097280"/>
          </a:xfrm>
          <a:prstGeom prst="rect">
            <a:avLst/>
          </a:prstGeom>
          <a:noFill/>
          <a:ln/>
        </p:spPr>
        <p:txBody>
          <a:bodyPr wrap="square" lIns="0" tIns="0" rIns="0" bIns="0" rtlCol="0" anchor="ctr"/>
          <a:lstStyle/>
          <a:p>
            <a:pPr algn="ctr" indent="0" marL="0">
              <a:buNone/>
            </a:pPr>
            <a:r>
              <a:rPr lang="en-US" sz="2800" b="1" dirty="0">
                <a:solidFill>
                  <a:schemeClr val="bg1"/>
                </a:solidFill>
              </a:rPr>
              <a:t>ZS</a:t>
            </a:r>
            <a:endParaRPr lang="en-US" sz="2800" dirty="0"/>
          </a:p>
        </p:txBody>
      </p:sp>
      <p:sp>
        <p:nvSpPr>
          <p:cNvPr id="12" name="Text 733"/>
          <p:cNvSpPr txBox="1"/>
          <p:nvPr/>
        </p:nvSpPr>
        <p:spPr>
          <a:xfrm>
            <a:off x="3364992" y="3017520"/>
            <a:ext cx="2697480" cy="365760"/>
          </a:xfrm>
          <a:prstGeom prst="rect">
            <a:avLst/>
          </a:prstGeom>
          <a:noFill/>
          <a:ln/>
        </p:spPr>
        <p:txBody>
          <a:bodyPr wrap="square" lIns="0" tIns="0" rIns="0" bIns="0" rtlCol="0" anchor="t"/>
          <a:lstStyle/>
          <a:p>
            <a:pPr algn="ctr" indent="0" marL="0">
              <a:buNone/>
            </a:pPr>
            <a:r>
              <a:rPr lang="en-US" sz="2000" b="1" dirty="0">
                <a:solidFill>
                  <a:schemeClr val="bg1"/>
                </a:solidFill>
              </a:rPr>
              <a:t>Ziad Sherif</a:t>
            </a:r>
            <a:endParaRPr lang="en-US" sz="2000" dirty="0"/>
          </a:p>
        </p:txBody>
      </p:sp>
      <p:sp>
        <p:nvSpPr>
          <p:cNvPr id="13" name="Text 734"/>
          <p:cNvSpPr txBox="1"/>
          <p:nvPr/>
        </p:nvSpPr>
        <p:spPr>
          <a:xfrm>
            <a:off x="3364992" y="3429000"/>
            <a:ext cx="2697480" cy="274320"/>
          </a:xfrm>
          <a:prstGeom prst="rect">
            <a:avLst/>
          </a:prstGeom>
          <a:noFill/>
          <a:ln/>
        </p:spPr>
        <p:txBody>
          <a:bodyPr wrap="square" lIns="0" tIns="0" rIns="0" bIns="0" rtlCol="0" anchor="t"/>
          <a:lstStyle/>
          <a:p>
            <a:pPr algn="ctr" indent="0" marL="0">
              <a:buNone/>
            </a:pPr>
            <a:r>
              <a:rPr lang="en-US" sz="1400" dirty="0">
                <a:solidFill>
                  <a:schemeClr val="accent1"/>
                </a:solidFill>
              </a:rPr>
              <a:t>Project team</a:t>
            </a:r>
            <a:endParaRPr lang="en-US" sz="1400" dirty="0"/>
          </a:p>
        </p:txBody>
      </p:sp>
      <p:sp>
        <p:nvSpPr>
          <p:cNvPr id="14" name="Card 735"/>
          <p:cNvSpPr/>
          <p:nvPr/>
        </p:nvSpPr>
        <p:spPr>
          <a:xfrm>
            <a:off x="6181344" y="1508760"/>
            <a:ext cx="2697480" cy="2514600"/>
          </a:xfrm>
          <a:prstGeom prst="roundRect">
            <a:avLst>
              <a:gd name="adj" fmla="val 4364"/>
            </a:avLst>
          </a:prstGeom>
          <a:solidFill>
            <a:schemeClr val="tx2"/>
          </a:solidFill>
          <a:ln w="9525">
            <a:solidFill>
              <a:schemeClr val="accent2">
                <a:alpha val="45000"/>
              </a:schemeClr>
            </a:solidFill>
            <a:prstDash val="solid"/>
          </a:ln>
        </p:spPr>
      </p:sp>
      <p:sp>
        <p:nvSpPr>
          <p:cNvPr id="15" name="Avatar 736"/>
          <p:cNvSpPr/>
          <p:nvPr/>
        </p:nvSpPr>
        <p:spPr>
          <a:xfrm>
            <a:off x="6976872" y="1783080"/>
            <a:ext cx="1097280" cy="1097280"/>
          </a:xfrm>
          <a:prstGeom prst="ellipse">
            <a:avLst/>
          </a:prstGeom>
          <a:solidFill>
            <a:schemeClr val="accent2">
              <a:alpha val="40000"/>
            </a:schemeClr>
          </a:solidFill>
          <a:ln w="15875">
            <a:solidFill>
              <a:schemeClr val="accent1">
                <a:alpha val="80000"/>
              </a:schemeClr>
            </a:solidFill>
            <a:prstDash val="solid"/>
          </a:ln>
        </p:spPr>
      </p:sp>
      <p:sp>
        <p:nvSpPr>
          <p:cNvPr id="16" name="Text 737"/>
          <p:cNvSpPr txBox="1"/>
          <p:nvPr/>
        </p:nvSpPr>
        <p:spPr>
          <a:xfrm>
            <a:off x="6976872" y="1783080"/>
            <a:ext cx="1097280" cy="1097280"/>
          </a:xfrm>
          <a:prstGeom prst="rect">
            <a:avLst/>
          </a:prstGeom>
          <a:noFill/>
          <a:ln/>
        </p:spPr>
        <p:txBody>
          <a:bodyPr wrap="square" lIns="0" tIns="0" rIns="0" bIns="0" rtlCol="0" anchor="ctr"/>
          <a:lstStyle/>
          <a:p>
            <a:pPr algn="ctr" indent="0" marL="0">
              <a:buNone/>
            </a:pPr>
            <a:r>
              <a:rPr lang="en-US" sz="2800" b="1" dirty="0">
                <a:solidFill>
                  <a:schemeClr val="bg1"/>
                </a:solidFill>
              </a:rPr>
              <a:t>MA</a:t>
            </a:r>
            <a:endParaRPr lang="en-US" sz="2800" dirty="0"/>
          </a:p>
        </p:txBody>
      </p:sp>
      <p:sp>
        <p:nvSpPr>
          <p:cNvPr id="17" name="Text 738"/>
          <p:cNvSpPr txBox="1"/>
          <p:nvPr/>
        </p:nvSpPr>
        <p:spPr>
          <a:xfrm>
            <a:off x="6181344" y="3017520"/>
            <a:ext cx="2697480" cy="365760"/>
          </a:xfrm>
          <a:prstGeom prst="rect">
            <a:avLst/>
          </a:prstGeom>
          <a:noFill/>
          <a:ln/>
        </p:spPr>
        <p:txBody>
          <a:bodyPr wrap="square" lIns="0" tIns="0" rIns="0" bIns="0" rtlCol="0" anchor="t"/>
          <a:lstStyle/>
          <a:p>
            <a:pPr algn="ctr" indent="0" marL="0">
              <a:buNone/>
            </a:pPr>
            <a:r>
              <a:rPr lang="en-US" sz="2000" b="1" dirty="0">
                <a:solidFill>
                  <a:schemeClr val="bg1"/>
                </a:solidFill>
              </a:rPr>
              <a:t>Mostafa Ahmed</a:t>
            </a:r>
            <a:endParaRPr lang="en-US" sz="2000" dirty="0"/>
          </a:p>
        </p:txBody>
      </p:sp>
      <p:sp>
        <p:nvSpPr>
          <p:cNvPr id="18" name="Text 739"/>
          <p:cNvSpPr txBox="1"/>
          <p:nvPr/>
        </p:nvSpPr>
        <p:spPr>
          <a:xfrm>
            <a:off x="6181344" y="3429000"/>
            <a:ext cx="2697480" cy="274320"/>
          </a:xfrm>
          <a:prstGeom prst="rect">
            <a:avLst/>
          </a:prstGeom>
          <a:noFill/>
          <a:ln/>
        </p:spPr>
        <p:txBody>
          <a:bodyPr wrap="square" lIns="0" tIns="0" rIns="0" bIns="0" rtlCol="0" anchor="t"/>
          <a:lstStyle/>
          <a:p>
            <a:pPr algn="ctr" indent="0" marL="0">
              <a:buNone/>
            </a:pPr>
            <a:r>
              <a:rPr lang="en-US" sz="1400" dirty="0">
                <a:solidFill>
                  <a:schemeClr val="accent1"/>
                </a:solidFill>
              </a:rPr>
              <a:t>Project team</a:t>
            </a:r>
            <a:endParaRPr lang="en-US" sz="1400" dirty="0"/>
          </a:p>
        </p:txBody>
      </p:sp>
      <p:sp>
        <p:nvSpPr>
          <p:cNvPr id="19" name="Card 740"/>
          <p:cNvSpPr/>
          <p:nvPr/>
        </p:nvSpPr>
        <p:spPr>
          <a:xfrm>
            <a:off x="8997696" y="1508760"/>
            <a:ext cx="2697480" cy="2514600"/>
          </a:xfrm>
          <a:prstGeom prst="roundRect">
            <a:avLst>
              <a:gd name="adj" fmla="val 4364"/>
            </a:avLst>
          </a:prstGeom>
          <a:solidFill>
            <a:schemeClr val="tx2"/>
          </a:solidFill>
          <a:ln w="9525">
            <a:solidFill>
              <a:schemeClr val="accent2">
                <a:alpha val="45000"/>
              </a:schemeClr>
            </a:solidFill>
            <a:prstDash val="solid"/>
          </a:ln>
        </p:spPr>
      </p:sp>
      <p:sp>
        <p:nvSpPr>
          <p:cNvPr id="20" name="Avatar 741"/>
          <p:cNvSpPr/>
          <p:nvPr/>
        </p:nvSpPr>
        <p:spPr>
          <a:xfrm>
            <a:off x="9793224" y="1783080"/>
            <a:ext cx="1097280" cy="1097280"/>
          </a:xfrm>
          <a:prstGeom prst="ellipse">
            <a:avLst/>
          </a:prstGeom>
          <a:solidFill>
            <a:schemeClr val="accent2">
              <a:alpha val="40000"/>
            </a:schemeClr>
          </a:solidFill>
          <a:ln w="15875">
            <a:solidFill>
              <a:schemeClr val="accent1">
                <a:alpha val="80000"/>
              </a:schemeClr>
            </a:solidFill>
            <a:prstDash val="solid"/>
          </a:ln>
        </p:spPr>
      </p:sp>
      <p:sp>
        <p:nvSpPr>
          <p:cNvPr id="21" name="Text 742"/>
          <p:cNvSpPr txBox="1"/>
          <p:nvPr/>
        </p:nvSpPr>
        <p:spPr>
          <a:xfrm>
            <a:off x="9793224" y="1783080"/>
            <a:ext cx="1097280" cy="1097280"/>
          </a:xfrm>
          <a:prstGeom prst="rect">
            <a:avLst/>
          </a:prstGeom>
          <a:noFill/>
          <a:ln/>
        </p:spPr>
        <p:txBody>
          <a:bodyPr wrap="square" lIns="0" tIns="0" rIns="0" bIns="0" rtlCol="0" anchor="ctr"/>
          <a:lstStyle/>
          <a:p>
            <a:pPr algn="ctr" indent="0" marL="0">
              <a:buNone/>
            </a:pPr>
            <a:r>
              <a:rPr lang="en-US" sz="2800" b="1" dirty="0">
                <a:solidFill>
                  <a:schemeClr val="bg1"/>
                </a:solidFill>
              </a:rPr>
              <a:t>GT</a:t>
            </a:r>
            <a:endParaRPr lang="en-US" sz="2800" dirty="0"/>
          </a:p>
        </p:txBody>
      </p:sp>
      <p:sp>
        <p:nvSpPr>
          <p:cNvPr id="22" name="Text 743"/>
          <p:cNvSpPr txBox="1"/>
          <p:nvPr/>
        </p:nvSpPr>
        <p:spPr>
          <a:xfrm>
            <a:off x="8997696" y="3017520"/>
            <a:ext cx="2697480" cy="365760"/>
          </a:xfrm>
          <a:prstGeom prst="rect">
            <a:avLst/>
          </a:prstGeom>
          <a:noFill/>
          <a:ln/>
        </p:spPr>
        <p:txBody>
          <a:bodyPr wrap="square" lIns="0" tIns="0" rIns="0" bIns="0" rtlCol="0" anchor="t"/>
          <a:lstStyle/>
          <a:p>
            <a:pPr algn="ctr" indent="0" marL="0">
              <a:buNone/>
            </a:pPr>
            <a:r>
              <a:rPr lang="en-US" sz="2000" b="1" dirty="0">
                <a:solidFill>
                  <a:schemeClr val="bg1"/>
                </a:solidFill>
              </a:rPr>
              <a:t>Gaber Tahoon</a:t>
            </a:r>
            <a:endParaRPr lang="en-US" sz="2000" dirty="0"/>
          </a:p>
        </p:txBody>
      </p:sp>
      <p:sp>
        <p:nvSpPr>
          <p:cNvPr id="23" name="Text 744"/>
          <p:cNvSpPr txBox="1"/>
          <p:nvPr/>
        </p:nvSpPr>
        <p:spPr>
          <a:xfrm>
            <a:off x="8997696" y="3429000"/>
            <a:ext cx="2697480" cy="274320"/>
          </a:xfrm>
          <a:prstGeom prst="rect">
            <a:avLst/>
          </a:prstGeom>
          <a:noFill/>
          <a:ln/>
        </p:spPr>
        <p:txBody>
          <a:bodyPr wrap="square" lIns="0" tIns="0" rIns="0" bIns="0" rtlCol="0" anchor="t"/>
          <a:lstStyle/>
          <a:p>
            <a:pPr algn="ctr" indent="0" marL="0">
              <a:buNone/>
            </a:pPr>
            <a:r>
              <a:rPr lang="en-US" sz="1400" dirty="0">
                <a:solidFill>
                  <a:schemeClr val="accent1"/>
                </a:solidFill>
              </a:rPr>
              <a:t>Project team</a:t>
            </a:r>
            <a:endParaRPr lang="en-US" sz="1400" dirty="0"/>
          </a:p>
        </p:txBody>
      </p:sp>
      <p:sp>
        <p:nvSpPr>
          <p:cNvPr id="24" name="Card 745"/>
          <p:cNvSpPr/>
          <p:nvPr/>
        </p:nvSpPr>
        <p:spPr>
          <a:xfrm>
            <a:off x="548640" y="4343400"/>
            <a:ext cx="5440680" cy="1920240"/>
          </a:xfrm>
          <a:prstGeom prst="roundRect">
            <a:avLst>
              <a:gd name="adj" fmla="val 5714"/>
            </a:avLst>
          </a:prstGeom>
          <a:solidFill>
            <a:schemeClr val="tx2"/>
          </a:solidFill>
          <a:ln w="9525">
            <a:solidFill>
              <a:schemeClr val="accent1">
                <a:alpha val="70000"/>
              </a:schemeClr>
            </a:solidFill>
            <a:prstDash val="solid"/>
          </a:ln>
        </p:spPr>
      </p:sp>
      <p:sp>
        <p:nvSpPr>
          <p:cNvPr id="25" name="Icon circle 746"/>
          <p:cNvSpPr/>
          <p:nvPr/>
        </p:nvSpPr>
        <p:spPr>
          <a:xfrm>
            <a:off x="868680" y="4709160"/>
            <a:ext cx="822960" cy="822960"/>
          </a:xfrm>
          <a:prstGeom prst="ellipse">
            <a:avLst/>
          </a:prstGeom>
          <a:solidFill>
            <a:schemeClr val="accent2">
              <a:alpha val="28000"/>
            </a:schemeClr>
          </a:solidFill>
          <a:ln w="9525">
            <a:solidFill>
              <a:schemeClr val="accent1">
                <a:alpha val="55000"/>
              </a:schemeClr>
            </a:solidFill>
            <a:prstDash val="solid"/>
          </a:ln>
        </p:spPr>
      </p:sp>
      <p:pic>
        <p:nvPicPr>
          <p:cNvPr id="26" name="Icon 747" descr="Instructor">    </p:cNvPr>
          <p:cNvPicPr>
            <a:picLocks noChangeAspect="1"/>
          </p:cNvPicPr>
          <p:nvPr/>
        </p:nvPicPr>
        <p:blipFill>
          <a:blip r:embed="rId1"/>
          <a:stretch>
            <a:fillRect/>
          </a:stretch>
        </p:blipFill>
        <p:spPr>
          <a:xfrm>
            <a:off x="1074420" y="4914900"/>
            <a:ext cx="411480" cy="411480"/>
          </a:xfrm>
          <a:prstGeom prst="rect">
            <a:avLst/>
          </a:prstGeom>
        </p:spPr>
      </p:pic>
      <p:sp>
        <p:nvSpPr>
          <p:cNvPr id="27" name="Text 748"/>
          <p:cNvSpPr txBox="1"/>
          <p:nvPr/>
        </p:nvSpPr>
        <p:spPr>
          <a:xfrm>
            <a:off x="2011680" y="484632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INSTRUCTOR</a:t>
            </a:r>
            <a:endParaRPr lang="en-US" sz="1100" dirty="0"/>
          </a:p>
        </p:txBody>
      </p:sp>
      <p:sp>
        <p:nvSpPr>
          <p:cNvPr id="28" name="Text 749"/>
          <p:cNvSpPr txBox="1"/>
          <p:nvPr/>
        </p:nvSpPr>
        <p:spPr>
          <a:xfrm>
            <a:off x="2011680" y="5166360"/>
            <a:ext cx="3840480" cy="457200"/>
          </a:xfrm>
          <a:prstGeom prst="rect">
            <a:avLst/>
          </a:prstGeom>
          <a:noFill/>
          <a:ln/>
        </p:spPr>
        <p:txBody>
          <a:bodyPr wrap="square" lIns="0" tIns="0" rIns="0" bIns="0" rtlCol="0" anchor="t"/>
          <a:lstStyle/>
          <a:p>
            <a:pPr indent="0" marL="0">
              <a:buNone/>
            </a:pPr>
            <a:r>
              <a:rPr lang="en-US" sz="2400" b="1" dirty="0">
                <a:solidFill>
                  <a:schemeClr val="bg1"/>
                </a:solidFill>
              </a:rPr>
              <a:t>Ahmed Saeed</a:t>
            </a:r>
            <a:endParaRPr lang="en-US" sz="2400" dirty="0"/>
          </a:p>
        </p:txBody>
      </p:sp>
      <p:sp>
        <p:nvSpPr>
          <p:cNvPr id="29" name="Card 750"/>
          <p:cNvSpPr/>
          <p:nvPr/>
        </p:nvSpPr>
        <p:spPr>
          <a:xfrm>
            <a:off x="6199632" y="4343400"/>
            <a:ext cx="5440680" cy="1920240"/>
          </a:xfrm>
          <a:prstGeom prst="roundRect">
            <a:avLst>
              <a:gd name="adj" fmla="val 5714"/>
            </a:avLst>
          </a:prstGeom>
          <a:solidFill>
            <a:schemeClr val="tx2"/>
          </a:solidFill>
          <a:ln w="9525">
            <a:solidFill>
              <a:schemeClr val="accent2">
                <a:alpha val="45000"/>
              </a:schemeClr>
            </a:solidFill>
            <a:prstDash val="solid"/>
          </a:ln>
        </p:spPr>
      </p:sp>
      <p:sp>
        <p:nvSpPr>
          <p:cNvPr id="30" name="Icon circle 751"/>
          <p:cNvSpPr/>
          <p:nvPr/>
        </p:nvSpPr>
        <p:spPr>
          <a:xfrm>
            <a:off x="6519672" y="4709160"/>
            <a:ext cx="822960" cy="822960"/>
          </a:xfrm>
          <a:prstGeom prst="ellipse">
            <a:avLst/>
          </a:prstGeom>
          <a:solidFill>
            <a:schemeClr val="accent2">
              <a:alpha val="28000"/>
            </a:schemeClr>
          </a:solidFill>
          <a:ln w="9525">
            <a:solidFill>
              <a:schemeClr val="accent1">
                <a:alpha val="55000"/>
              </a:schemeClr>
            </a:solidFill>
            <a:prstDash val="solid"/>
          </a:ln>
        </p:spPr>
      </p:sp>
      <p:pic>
        <p:nvPicPr>
          <p:cNvPr id="31" name="Icon 752" descr="Training program">    </p:cNvPr>
          <p:cNvPicPr>
            <a:picLocks noChangeAspect="1"/>
          </p:cNvPicPr>
          <p:nvPr/>
        </p:nvPicPr>
        <p:blipFill>
          <a:blip r:embed="rId2"/>
          <a:stretch>
            <a:fillRect/>
          </a:stretch>
        </p:blipFill>
        <p:spPr>
          <a:xfrm>
            <a:off x="6725412" y="4914900"/>
            <a:ext cx="411480" cy="411480"/>
          </a:xfrm>
          <a:prstGeom prst="rect">
            <a:avLst/>
          </a:prstGeom>
        </p:spPr>
      </p:pic>
      <p:sp>
        <p:nvSpPr>
          <p:cNvPr id="32" name="Text 753"/>
          <p:cNvSpPr txBox="1"/>
          <p:nvPr/>
        </p:nvSpPr>
        <p:spPr>
          <a:xfrm>
            <a:off x="7662672" y="470916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TRAINING</a:t>
            </a:r>
            <a:endParaRPr lang="en-US" sz="1100" dirty="0"/>
          </a:p>
        </p:txBody>
      </p:sp>
      <p:sp>
        <p:nvSpPr>
          <p:cNvPr id="33" name="Text 754"/>
          <p:cNvSpPr txBox="1"/>
          <p:nvPr/>
        </p:nvSpPr>
        <p:spPr>
          <a:xfrm>
            <a:off x="7662672" y="5029200"/>
            <a:ext cx="3840480" cy="685800"/>
          </a:xfrm>
          <a:prstGeom prst="rect">
            <a:avLst/>
          </a:prstGeom>
          <a:noFill/>
          <a:ln/>
        </p:spPr>
        <p:txBody>
          <a:bodyPr wrap="square" lIns="0" tIns="0" rIns="0" bIns="0" rtlCol="0" anchor="t"/>
          <a:lstStyle/>
          <a:p>
            <a:pPr indent="0" marL="0">
              <a:buNone/>
            </a:pPr>
            <a:r>
              <a:rPr lang="en-US" sz="1800" b="1" dirty="0">
                <a:solidFill>
                  <a:schemeClr val="bg1"/>
                </a:solidFill>
              </a:rPr>
              <a:t>NTI – Huawei Egyptian Talents Academy</a:t>
            </a:r>
            <a:endParaRPr lang="en-US" sz="1800" dirty="0"/>
          </a:p>
        </p:txBody>
      </p:sp>
      <p:sp>
        <p:nvSpPr>
          <p:cNvPr id="34" name="Text 755"/>
          <p:cNvSpPr txBox="1"/>
          <p:nvPr/>
        </p:nvSpPr>
        <p:spPr>
          <a:xfrm>
            <a:off x="7662672" y="5760720"/>
            <a:ext cx="3840480" cy="274320"/>
          </a:xfrm>
          <a:prstGeom prst="rect">
            <a:avLst/>
          </a:prstGeom>
          <a:noFill/>
          <a:ln/>
        </p:spPr>
        <p:txBody>
          <a:bodyPr wrap="square" lIns="0" tIns="0" rIns="0" bIns="0" rtlCol="0" anchor="t"/>
          <a:lstStyle/>
          <a:p>
            <a:pPr indent="0" marL="0">
              <a:buNone/>
            </a:pPr>
            <a:r>
              <a:rPr lang="en-US" sz="1400" dirty="0">
                <a:solidFill>
                  <a:schemeClr val="accent1"/>
                </a:solidFill>
              </a:rPr>
              <a:t>Big Data Track</a:t>
            </a:r>
            <a:endParaRPr lang="en-US" sz="1400" dirty="0"/>
          </a:p>
        </p:txBody>
      </p:sp>
      <p:sp>
        <p:nvSpPr>
          <p:cNvPr id="25" name="Slide Number Placeholder 0"/>
          <p:cNvSpPr>
            <a:spLocks noGrp="1"/>
          </p:cNvSpPr>
          <p:nvPr>
            <p:ph type="sldNum" sz="quarter" idx="4294967295"/>
          </p:nvPr>
        </p:nvSpPr>
        <p:spPr>
          <a:xfrm>
            <a:off x="11155680" y="64648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756"/>
          <p:cNvSpPr txBox="1"/>
          <p:nvPr/>
        </p:nvSpPr>
        <p:spPr>
          <a:xfrm>
            <a:off x="548640" y="1097280"/>
            <a:ext cx="11091672" cy="1097280"/>
          </a:xfrm>
          <a:prstGeom prst="rect">
            <a:avLst/>
          </a:prstGeom>
          <a:noFill/>
          <a:ln/>
        </p:spPr>
        <p:txBody>
          <a:bodyPr wrap="square" lIns="0" tIns="0" rIns="0" bIns="0" rtlCol="0" anchor="ctr"/>
          <a:lstStyle/>
          <a:p>
            <a:pPr algn="ctr" indent="0" marL="0">
              <a:buNone/>
            </a:pPr>
            <a:r>
              <a:rPr lang="en-US" sz="6000" b="1" dirty="0">
                <a:solidFill>
                  <a:schemeClr val="bg1"/>
                </a:solidFill>
              </a:rPr>
              <a:t>Thank You</a:t>
            </a:r>
            <a:endParaRPr lang="en-US" sz="6000" dirty="0"/>
          </a:p>
        </p:txBody>
      </p:sp>
      <p:sp>
        <p:nvSpPr>
          <p:cNvPr id="3" name="Text 757"/>
          <p:cNvSpPr txBox="1"/>
          <p:nvPr/>
        </p:nvSpPr>
        <p:spPr>
          <a:xfrm>
            <a:off x="548640" y="2240280"/>
            <a:ext cx="11091672" cy="457200"/>
          </a:xfrm>
          <a:prstGeom prst="rect">
            <a:avLst/>
          </a:prstGeom>
          <a:noFill/>
          <a:ln/>
        </p:spPr>
        <p:txBody>
          <a:bodyPr wrap="square" lIns="0" tIns="0" rIns="0" bIns="0" rtlCol="0" anchor="t"/>
          <a:lstStyle/>
          <a:p>
            <a:pPr algn="ctr" indent="0" marL="0">
              <a:buNone/>
            </a:pPr>
            <a:r>
              <a:rPr lang="en-US" sz="2400" dirty="0">
                <a:solidFill>
                  <a:schemeClr val="accent1"/>
                </a:solidFill>
              </a:rPr>
              <a:t>NYC Traffic &amp; Mobility Analytics</a:t>
            </a:r>
            <a:endParaRPr lang="en-US" sz="2400" dirty="0"/>
          </a:p>
        </p:txBody>
      </p:sp>
      <p:sp>
        <p:nvSpPr>
          <p:cNvPr id="4" name="Text 758"/>
          <p:cNvSpPr txBox="1"/>
          <p:nvPr/>
        </p:nvSpPr>
        <p:spPr>
          <a:xfrm>
            <a:off x="548640" y="3200400"/>
            <a:ext cx="11091672" cy="365760"/>
          </a:xfrm>
          <a:prstGeom prst="rect">
            <a:avLst/>
          </a:prstGeom>
          <a:noFill/>
          <a:ln/>
        </p:spPr>
        <p:txBody>
          <a:bodyPr wrap="square" lIns="0" tIns="0" rIns="0" bIns="0" rtlCol="0" anchor="t"/>
          <a:lstStyle/>
          <a:p>
            <a:pPr algn="ctr" indent="0" marL="0">
              <a:buNone/>
            </a:pPr>
            <a:r>
              <a:rPr lang="en-US" sz="2000" b="1" dirty="0">
                <a:solidFill>
                  <a:schemeClr val="bg1"/>
                </a:solidFill>
              </a:rPr>
              <a:t>NTI – Huawei Egyptian Talents Academy</a:t>
            </a:r>
            <a:endParaRPr lang="en-US" sz="2000" dirty="0"/>
          </a:p>
        </p:txBody>
      </p:sp>
      <p:sp>
        <p:nvSpPr>
          <p:cNvPr id="5" name="Text 759"/>
          <p:cNvSpPr txBox="1"/>
          <p:nvPr/>
        </p:nvSpPr>
        <p:spPr>
          <a:xfrm>
            <a:off x="548640" y="3584448"/>
            <a:ext cx="11091672" cy="320040"/>
          </a:xfrm>
          <a:prstGeom prst="rect">
            <a:avLst/>
          </a:prstGeom>
          <a:noFill/>
          <a:ln/>
        </p:spPr>
        <p:txBody>
          <a:bodyPr wrap="square" lIns="0" tIns="0" rIns="0" bIns="0" rtlCol="0" anchor="t"/>
          <a:lstStyle/>
          <a:p>
            <a:pPr algn="ctr" indent="0" marL="0">
              <a:buNone/>
            </a:pPr>
            <a:r>
              <a:rPr lang="en-US" sz="1600" dirty="0">
                <a:solidFill>
                  <a:schemeClr val="bg2"/>
                </a:solidFill>
              </a:rPr>
              <a:t>Big Data Track</a:t>
            </a:r>
            <a:endParaRPr lang="en-US" sz="1600" dirty="0"/>
          </a:p>
        </p:txBody>
      </p:sp>
      <p:sp>
        <p:nvSpPr>
          <p:cNvPr id="6" name="Text 760"/>
          <p:cNvSpPr txBox="1"/>
          <p:nvPr/>
        </p:nvSpPr>
        <p:spPr>
          <a:xfrm>
            <a:off x="548640" y="4206240"/>
            <a:ext cx="11091672" cy="320040"/>
          </a:xfrm>
          <a:prstGeom prst="rect">
            <a:avLst/>
          </a:prstGeom>
          <a:noFill/>
          <a:ln/>
        </p:spPr>
        <p:txBody>
          <a:bodyPr wrap="square" lIns="0" tIns="0" rIns="0" bIns="0" rtlCol="0" anchor="t"/>
          <a:lstStyle/>
          <a:p>
            <a:pPr algn="ctr" indent="0" marL="0">
              <a:buNone/>
            </a:pPr>
            <a:r>
              <a:rPr lang="en-US" sz="1600" dirty="0">
                <a:solidFill>
                  <a:schemeClr val="bg1"/>
                </a:solidFill>
              </a:rPr>
              <a:t>Team: Farouk Sameh  |  Ziad Sherif  |  Mostafa Ahmed  |  Gaber Tahoon</a:t>
            </a:r>
            <a:endParaRPr lang="en-US" sz="1600" dirty="0"/>
          </a:p>
        </p:txBody>
      </p:sp>
      <p:sp>
        <p:nvSpPr>
          <p:cNvPr id="7" name="Text 761"/>
          <p:cNvSpPr txBox="1"/>
          <p:nvPr/>
        </p:nvSpPr>
        <p:spPr>
          <a:xfrm>
            <a:off x="548640" y="4572000"/>
            <a:ext cx="11091672" cy="320040"/>
          </a:xfrm>
          <a:prstGeom prst="rect">
            <a:avLst/>
          </a:prstGeom>
          <a:noFill/>
          <a:ln/>
        </p:spPr>
        <p:txBody>
          <a:bodyPr wrap="square" lIns="0" tIns="0" rIns="0" bIns="0" rtlCol="0" anchor="t"/>
          <a:lstStyle/>
          <a:p>
            <a:pPr algn="ctr" indent="0" marL="0">
              <a:buNone/>
            </a:pPr>
            <a:r>
              <a:rPr lang="en-US" sz="1600" dirty="0">
                <a:solidFill>
                  <a:schemeClr val="bg2"/>
                </a:solidFill>
              </a:rPr>
              <a:t>Instructor: Ahmed Saeed</a:t>
            </a:r>
            <a:endParaRPr lang="en-US" sz="1600" dirty="0"/>
          </a:p>
        </p:txBody>
      </p:sp>
      <p:sp>
        <p:nvSpPr>
          <p:cNvPr id="8" name="Icon circle 762"/>
          <p:cNvSpPr/>
          <p:nvPr/>
        </p:nvSpPr>
        <p:spPr>
          <a:xfrm>
            <a:off x="385876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9" name="Icon 763" descr="technology logo">    </p:cNvPr>
          <p:cNvPicPr>
            <a:picLocks noChangeAspect="1"/>
          </p:cNvPicPr>
          <p:nvPr/>
        </p:nvPicPr>
        <p:blipFill>
          <a:blip r:embed="rId1"/>
          <a:stretch>
            <a:fillRect/>
          </a:stretch>
        </p:blipFill>
        <p:spPr>
          <a:xfrm>
            <a:off x="4018788" y="5554980"/>
            <a:ext cx="320040" cy="320040"/>
          </a:xfrm>
          <a:prstGeom prst="rect">
            <a:avLst/>
          </a:prstGeom>
        </p:spPr>
      </p:pic>
      <p:sp>
        <p:nvSpPr>
          <p:cNvPr id="10" name="Icon circle 764"/>
          <p:cNvSpPr/>
          <p:nvPr/>
        </p:nvSpPr>
        <p:spPr>
          <a:xfrm>
            <a:off x="468172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11" name="Icon 765" descr="technology logo">    </p:cNvPr>
          <p:cNvPicPr>
            <a:picLocks noChangeAspect="1"/>
          </p:cNvPicPr>
          <p:nvPr/>
        </p:nvPicPr>
        <p:blipFill>
          <a:blip r:embed="rId2"/>
          <a:stretch>
            <a:fillRect/>
          </a:stretch>
        </p:blipFill>
        <p:spPr>
          <a:xfrm>
            <a:off x="4841748" y="5554980"/>
            <a:ext cx="320040" cy="320040"/>
          </a:xfrm>
          <a:prstGeom prst="rect">
            <a:avLst/>
          </a:prstGeom>
        </p:spPr>
      </p:pic>
      <p:sp>
        <p:nvSpPr>
          <p:cNvPr id="12" name="Icon circle 766"/>
          <p:cNvSpPr/>
          <p:nvPr/>
        </p:nvSpPr>
        <p:spPr>
          <a:xfrm>
            <a:off x="550468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13" name="Icon 767" descr="technology logo">    </p:cNvPr>
          <p:cNvPicPr>
            <a:picLocks noChangeAspect="1"/>
          </p:cNvPicPr>
          <p:nvPr/>
        </p:nvPicPr>
        <p:blipFill>
          <a:blip r:embed="rId3"/>
          <a:stretch>
            <a:fillRect/>
          </a:stretch>
        </p:blipFill>
        <p:spPr>
          <a:xfrm>
            <a:off x="5664708" y="5554980"/>
            <a:ext cx="320040" cy="320040"/>
          </a:xfrm>
          <a:prstGeom prst="rect">
            <a:avLst/>
          </a:prstGeom>
        </p:spPr>
      </p:pic>
      <p:sp>
        <p:nvSpPr>
          <p:cNvPr id="14" name="Icon circle 768"/>
          <p:cNvSpPr/>
          <p:nvPr/>
        </p:nvSpPr>
        <p:spPr>
          <a:xfrm>
            <a:off x="632764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15" name="Icon 769" descr="technology logo">    </p:cNvPr>
          <p:cNvPicPr>
            <a:picLocks noChangeAspect="1"/>
          </p:cNvPicPr>
          <p:nvPr/>
        </p:nvPicPr>
        <p:blipFill>
          <a:blip r:embed="rId4"/>
          <a:stretch>
            <a:fillRect/>
          </a:stretch>
        </p:blipFill>
        <p:spPr>
          <a:xfrm>
            <a:off x="6487668" y="5554980"/>
            <a:ext cx="320040" cy="320040"/>
          </a:xfrm>
          <a:prstGeom prst="rect">
            <a:avLst/>
          </a:prstGeom>
        </p:spPr>
      </p:pic>
      <p:sp>
        <p:nvSpPr>
          <p:cNvPr id="16" name="Icon circle 770"/>
          <p:cNvSpPr/>
          <p:nvPr/>
        </p:nvSpPr>
        <p:spPr>
          <a:xfrm>
            <a:off x="715060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17" name="Icon 771" descr="technology logo">    </p:cNvPr>
          <p:cNvPicPr>
            <a:picLocks noChangeAspect="1"/>
          </p:cNvPicPr>
          <p:nvPr/>
        </p:nvPicPr>
        <p:blipFill>
          <a:blip r:embed="rId5"/>
          <a:stretch>
            <a:fillRect/>
          </a:stretch>
        </p:blipFill>
        <p:spPr>
          <a:xfrm>
            <a:off x="7310628" y="5554980"/>
            <a:ext cx="320040" cy="320040"/>
          </a:xfrm>
          <a:prstGeom prst="rect">
            <a:avLst/>
          </a:prstGeom>
        </p:spPr>
      </p:pic>
      <p:sp>
        <p:nvSpPr>
          <p:cNvPr id="18" name="Icon circle 772"/>
          <p:cNvSpPr/>
          <p:nvPr/>
        </p:nvSpPr>
        <p:spPr>
          <a:xfrm>
            <a:off x="7973568" y="5394960"/>
            <a:ext cx="640080" cy="640080"/>
          </a:xfrm>
          <a:prstGeom prst="ellipse">
            <a:avLst/>
          </a:prstGeom>
          <a:solidFill>
            <a:schemeClr val="accent2">
              <a:alpha val="28000"/>
            </a:schemeClr>
          </a:solidFill>
          <a:ln w="9525">
            <a:solidFill>
              <a:schemeClr val="accent1">
                <a:alpha val="55000"/>
              </a:schemeClr>
            </a:solidFill>
            <a:prstDash val="solid"/>
          </a:ln>
        </p:spPr>
      </p:sp>
      <p:pic>
        <p:nvPicPr>
          <p:cNvPr id="19" name="Icon 773" descr="technology logo">    </p:cNvPr>
          <p:cNvPicPr>
            <a:picLocks noChangeAspect="1"/>
          </p:cNvPicPr>
          <p:nvPr/>
        </p:nvPicPr>
        <p:blipFill>
          <a:blip r:embed="rId6"/>
          <a:stretch>
            <a:fillRect/>
          </a:stretch>
        </p:blipFill>
        <p:spPr>
          <a:xfrm>
            <a:off x="8133588" y="5554980"/>
            <a:ext cx="320040" cy="320040"/>
          </a:xfrm>
          <a:prstGeom prst="rect">
            <a:avLst/>
          </a:prstGeom>
        </p:spPr>
      </p:pic>
    </p:spTree>
  </p:cSld>
  <p:clrMapOvr>
    <a:masterClrMapping/>
  </p:clrMapOvr>
</p:sld>
</file>

<file path=ppt/theme/theme1.xml><?xml version="1.0" encoding="utf-8"?>
<a:theme xmlns:a="http://schemas.openxmlformats.org/drawingml/2006/main" name="NYC Big Data Dark">
  <a:themeElements>
    <a:clrScheme name="NYC Big Data Dark">
      <a:dk1>
        <a:srgbClr val="0B1220"/>
      </a:dk1>
      <a:lt1>
        <a:srgbClr val="FFFFFF"/>
      </a:lt1>
      <a:dk2>
        <a:srgbClr val="14213A"/>
      </a:dk2>
      <a:lt2>
        <a:srgbClr val="94A3B8"/>
      </a:lt2>
      <a:accent1>
        <a:srgbClr val="22D3EE"/>
      </a:accent1>
      <a:accent2>
        <a:srgbClr val="3B82F6"/>
      </a:accent2>
      <a:accent3>
        <a:srgbClr val="6366F1"/>
      </a:accent3>
      <a:accent4>
        <a:srgbClr val="34D399"/>
      </a:accent4>
      <a:accent5>
        <a:srgbClr val="FBBF24"/>
      </a:accent5>
      <a:accent6>
        <a:srgbClr val="38BDF8"/>
      </a:accent6>
      <a:hlink>
        <a:srgbClr val="22D3EE"/>
      </a:hlink>
      <a:folHlink>
        <a:srgbClr val="94A3B8"/>
      </a:folHlink>
    </a:clrScheme>
    <a:fontScheme name="NYC Big Data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Traffic &amp; Mobility Analytics</dc:title>
  <dc:subject>PptxGenJS Presentation</dc:subject>
  <dc:creator>Farouk Sameh, Ziad Sherif, Mostafa Ahmed, Gaber Tahoon</dc:creator>
  <cp:lastModifiedBy>Farouk Sameh, Ziad Sherif, Mostafa Ahmed, Gaber Tahoon</cp:lastModifiedBy>
  <cp:revision>1</cp:revision>
  <dcterms:created xsi:type="dcterms:W3CDTF">2026-10-10T14:42:58Z</dcterms:created>
  <dcterms:modified xsi:type="dcterms:W3CDTF">2026-10-10T14:42:58Z</dcterms:modified>
</cp:coreProperties>
</file>